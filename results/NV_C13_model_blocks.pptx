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네 모델 한눈 비교 (블록 다이어그램)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t>▶ 회색=입력 · 파랑=표현 · 초록=연산 · 주황=출력 — 세로로 훑으면 설계 차이가 보인다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128016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3A2F"/>
                </a:solidFill>
              </a:defRPr>
            </a:pPr>
            <a:r>
              <a:t>2021 뱅크 (Jung et al.)</a:t>
            </a:r>
          </a:p>
          <a:p>
            <a:pPr>
              <a:defRPr sz="800">
                <a:solidFill>
                  <a:srgbClr val="595959"/>
                </a:solidFill>
              </a:defRPr>
            </a:pPr>
            <a:r>
              <a:t>윈도우별 독립 판정 · A 위치만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234440"/>
            <a:ext cx="1371600" cy="777240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CPMG 신호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1채널 (700,)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20" y="2029968"/>
            <a:ext cx="146304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750">
                <a:solidFill>
                  <a:srgbClr val="444444"/>
                </a:solidFill>
              </a:defRPr>
            </a:pPr>
            <a:r>
              <a:t>실험에서 측정한</a:t>
            </a:r>
          </a:p>
          <a:p>
            <a:r>
              <a:t>코히어런스 곡선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10128" y="1623060"/>
            <a:ext cx="219456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547872" y="1234440"/>
            <a:ext cx="1463040" cy="777240"/>
          </a:xfrm>
          <a:prstGeom prst="roundRect">
            <a:avLst/>
          </a:prstGeom>
          <a:solidFill>
            <a:srgbClr val="DBE9F8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주기 접기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이미지 13×53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2152" y="2029968"/>
            <a:ext cx="155448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750">
                <a:solidFill>
                  <a:srgbClr val="444444"/>
                </a:solidFill>
              </a:defRPr>
            </a:pPr>
            <a:r>
              <a:t>후보 주기로 잘라 쌓아</a:t>
            </a:r>
          </a:p>
          <a:p>
            <a:r>
              <a:t>세로선을 확인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1623060"/>
            <a:ext cx="219456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266944" y="1234440"/>
            <a:ext cx="1828800" cy="777240"/>
          </a:xfrm>
          <a:prstGeom prst="roundRect">
            <a:avLst/>
          </a:prstGeom>
          <a:solidFill>
            <a:srgbClr val="DFF2D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MLP ×61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윈도우별 독립 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1224" y="2029968"/>
            <a:ext cx="192024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750">
                <a:solidFill>
                  <a:srgbClr val="444444"/>
                </a:solidFill>
              </a:defRPr>
            </a:pPr>
            <a:r>
              <a:t>윈도우마다 전담</a:t>
            </a:r>
          </a:p>
          <a:p>
            <a:r>
              <a:t>분류기가 각자 판정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14032" y="1623060"/>
            <a:ext cx="219456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51776" y="1234440"/>
            <a:ext cx="1554480" cy="777240"/>
          </a:xfrm>
          <a:prstGeom prst="roundRect">
            <a:avLst/>
          </a:prstGeom>
          <a:solidFill>
            <a:srgbClr val="DFF2D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3-class 확률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(3,)/윈도우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6056" y="2029968"/>
            <a:ext cx="16459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750">
                <a:solidFill>
                  <a:srgbClr val="444444"/>
                </a:solidFill>
              </a:defRPr>
            </a:pPr>
            <a:r>
              <a:t>스핀 0/1/2개일</a:t>
            </a:r>
          </a:p>
          <a:p>
            <a:r>
              <a:t>확률을 출력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24544" y="1623060"/>
            <a:ext cx="219456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62288" y="1234440"/>
            <a:ext cx="1371600" cy="777240"/>
          </a:xfrm>
          <a:prstGeom prst="roundRect">
            <a:avLst/>
          </a:prstGeom>
          <a:solidFill>
            <a:srgbClr val="FDEBD0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피크 검출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A 위치만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7" y="2029968"/>
            <a:ext cx="146304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750">
                <a:solidFill>
                  <a:srgbClr val="444444"/>
                </a:solidFill>
              </a:defRPr>
            </a:pPr>
            <a:r>
              <a:t>확률 봉우리만</a:t>
            </a:r>
          </a:p>
          <a:p>
            <a:r>
              <a:t>후보로 추림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" y="2606039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761D"/>
                </a:solidFill>
              </a:defRPr>
            </a:pPr>
            <a:r>
              <a:t>SpinDETR</a:t>
            </a:r>
          </a:p>
          <a:p>
            <a:pPr>
              <a:defRPr sz="800">
                <a:solidFill>
                  <a:srgbClr val="595959"/>
                </a:solidFill>
              </a:defRPr>
            </a:pPr>
            <a:r>
              <a:t>end-to-end 집합 예측 · 물리 힌트 없음 (대조군)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2560320"/>
            <a:ext cx="1371600" cy="777240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신호 3채널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(3, 700)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3355848"/>
            <a:ext cx="146304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750">
                <a:solidFill>
                  <a:srgbClr val="444444"/>
                </a:solidFill>
              </a:defRPr>
            </a:pPr>
            <a:r>
              <a:t>N=8/16/20 세 측정을</a:t>
            </a:r>
          </a:p>
          <a:p>
            <a:r>
              <a:t>함께 입력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10128" y="2948939"/>
            <a:ext cx="219456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547872" y="2560320"/>
            <a:ext cx="1371600" cy="777240"/>
          </a:xfrm>
          <a:prstGeom prst="roundRect">
            <a:avLst/>
          </a:prstGeom>
          <a:solidFill>
            <a:srgbClr val="DFF2D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Conv 스템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(175, 128)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2152" y="3355848"/>
            <a:ext cx="146304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750">
                <a:solidFill>
                  <a:srgbClr val="444444"/>
                </a:solidFill>
              </a:defRPr>
            </a:pPr>
            <a:r>
              <a:t>신호를 짧은 요약</a:t>
            </a:r>
          </a:p>
          <a:p>
            <a:r>
              <a:t>조각들로 압축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937759" y="2948939"/>
            <a:ext cx="219457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175504" y="2560320"/>
            <a:ext cx="2103120" cy="777240"/>
          </a:xfrm>
          <a:prstGeom prst="roundRect">
            <a:avLst/>
          </a:prstGeom>
          <a:solidFill>
            <a:srgbClr val="DFF2D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Transformer 인코더 ×4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(175, 128)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9784" y="3355848"/>
            <a:ext cx="219456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750">
                <a:solidFill>
                  <a:srgbClr val="444444"/>
                </a:solidFill>
              </a:defRPr>
            </a:pPr>
            <a:r>
              <a:t>조각들 사이의</a:t>
            </a:r>
          </a:p>
          <a:p>
            <a:r>
              <a:t>패턴 관계를 파악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96912" y="2948939"/>
            <a:ext cx="219456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534656" y="2560320"/>
            <a:ext cx="2103120" cy="777240"/>
          </a:xfrm>
          <a:prstGeom prst="roundRect">
            <a:avLst/>
          </a:prstGeom>
          <a:solidFill>
            <a:srgbClr val="DFF2D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쿼리 10개 + 디코더 ×4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(10, 128)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55848"/>
            <a:ext cx="219456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750">
                <a:solidFill>
                  <a:srgbClr val="444444"/>
                </a:solidFill>
              </a:defRPr>
            </a:pPr>
            <a:r>
              <a:t>질문 카드 10장이</a:t>
            </a:r>
          </a:p>
          <a:p>
            <a:r>
              <a:t>각자 스핀을 탐색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56063" y="2948939"/>
            <a:ext cx="219456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893807" y="2560320"/>
            <a:ext cx="1463040" cy="777240"/>
          </a:xfrm>
          <a:prstGeom prst="roundRect">
            <a:avLst/>
          </a:prstGeom>
          <a:solidFill>
            <a:srgbClr val="FDEBD0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스핀 집합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10×(p, A, B)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087" y="3355848"/>
            <a:ext cx="155448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750">
                <a:solidFill>
                  <a:srgbClr val="444444"/>
                </a:solidFill>
              </a:defRPr>
            </a:pPr>
            <a:r>
              <a:t>카드별 (존재확률,</a:t>
            </a:r>
          </a:p>
          <a:p>
            <a:r>
              <a:t>A, B)를 출력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" y="393192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55CC"/>
                </a:solidFill>
              </a:defRPr>
            </a:pPr>
            <a:r>
              <a:t>PeriodFormer (제안)</a:t>
            </a:r>
          </a:p>
          <a:p>
            <a:pPr>
              <a:defRPr sz="800">
                <a:solidFill>
                  <a:srgbClr val="595959"/>
                </a:solidFill>
              </a:defRPr>
            </a:pPr>
            <a:r>
              <a:t>물리 사전지식 + 윈도우 간 어텐션 · 오탐 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40" y="3886200"/>
            <a:ext cx="1371600" cy="777240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신호 3채널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(3, 700)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20" y="4681727"/>
            <a:ext cx="146304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750">
                <a:solidFill>
                  <a:srgbClr val="444444"/>
                </a:solidFill>
              </a:defRPr>
            </a:pPr>
            <a:r>
              <a:t>N=8/16/20 세 측정을</a:t>
            </a:r>
          </a:p>
          <a:p>
            <a:r>
              <a:t>함께 입력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310128" y="4274820"/>
            <a:ext cx="219456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547872" y="3886200"/>
            <a:ext cx="1737360" cy="777240"/>
          </a:xfrm>
          <a:prstGeom prst="roundRect">
            <a:avLst/>
          </a:prstGeom>
          <a:solidFill>
            <a:srgbClr val="DBE9F8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61윈도우 접기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토큰 (61,3,13,53)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02152" y="4681727"/>
            <a:ext cx="18288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750">
                <a:solidFill>
                  <a:srgbClr val="444444"/>
                </a:solidFill>
              </a:defRPr>
            </a:pPr>
            <a:r>
              <a:t>모든 후보 주기로</a:t>
            </a:r>
          </a:p>
          <a:p>
            <a:r>
              <a:t>동시에 접음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303519" y="4274820"/>
            <a:ext cx="219457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541264" y="3886200"/>
            <a:ext cx="1737360" cy="777240"/>
          </a:xfrm>
          <a:prstGeom prst="roundRect">
            <a:avLst/>
          </a:prstGeom>
          <a:solidFill>
            <a:srgbClr val="DFF2D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공유 CNN 임베딩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(61, 128)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95544" y="4681727"/>
            <a:ext cx="18288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750">
                <a:solidFill>
                  <a:srgbClr val="444444"/>
                </a:solidFill>
              </a:defRPr>
            </a:pPr>
            <a:r>
              <a:t>각 윈도우 그림을</a:t>
            </a:r>
          </a:p>
          <a:p>
            <a:r>
              <a:t>요약 벡터로 변환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296911" y="4274820"/>
            <a:ext cx="219456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534655" y="3886200"/>
            <a:ext cx="2011680" cy="777240"/>
          </a:xfrm>
          <a:prstGeom prst="roundRect">
            <a:avLst/>
          </a:prstGeom>
          <a:solidFill>
            <a:srgbClr val="DFF2D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어텐션 ×4 (윈도우 간)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(61, 128)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88935" y="4681727"/>
            <a:ext cx="21031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750">
                <a:solidFill>
                  <a:srgbClr val="444444"/>
                </a:solidFill>
              </a:defRPr>
            </a:pPr>
            <a:r>
              <a:t>윈도우끼리 증거를</a:t>
            </a:r>
          </a:p>
          <a:p>
            <a:r>
              <a:t>대조(회의)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564623" y="4274820"/>
            <a:ext cx="219456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802367" y="3886200"/>
            <a:ext cx="1463040" cy="777240"/>
          </a:xfrm>
          <a:prstGeom prst="roundRect">
            <a:avLst/>
          </a:prstGeom>
          <a:solidFill>
            <a:srgbClr val="FDEBD0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P(spin) 곡선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(61,)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56647" y="4681727"/>
            <a:ext cx="155448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750">
                <a:solidFill>
                  <a:srgbClr val="444444"/>
                </a:solidFill>
              </a:defRPr>
            </a:pPr>
            <a:r>
              <a:t>A축 위 스핀</a:t>
            </a:r>
          </a:p>
          <a:p>
            <a:r>
              <a:t>존재 확률 지도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" y="525780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C0000"/>
                </a:solidFill>
              </a:defRPr>
            </a:pPr>
            <a:r>
              <a:t>PF→DE 하이브리드 (최종)</a:t>
            </a:r>
          </a:p>
          <a:p>
            <a:pPr>
              <a:defRPr sz="800">
                <a:solidFill>
                  <a:srgbClr val="595959"/>
                </a:solidFill>
              </a:defRPr>
            </a:pPr>
            <a:r>
              <a:t>신경망 검출 + 물리 피팅 열거 · 전 조건 1위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20240" y="5212080"/>
            <a:ext cx="1463040" cy="777240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P(spin) 곡선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PF 출력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74520" y="6007607"/>
            <a:ext cx="155448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750">
                <a:solidFill>
                  <a:srgbClr val="444444"/>
                </a:solidFill>
              </a:defRPr>
            </a:pPr>
            <a:r>
              <a:t>PF가 만든</a:t>
            </a:r>
          </a:p>
          <a:p>
            <a:r>
              <a:t>신뢰 지도를 입력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401568" y="5600700"/>
            <a:ext cx="219456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3639312" y="5212080"/>
            <a:ext cx="1737360" cy="777240"/>
          </a:xfrm>
          <a:prstGeom prst="roundRect">
            <a:avLst/>
          </a:prstGeom>
          <a:solidFill>
            <a:srgbClr val="DBE9F8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문턱 → 후보 영역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구간 목록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93592" y="6007607"/>
            <a:ext cx="18288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750">
                <a:solidFill>
                  <a:srgbClr val="444444"/>
                </a:solidFill>
              </a:defRPr>
            </a:pPr>
            <a:r>
              <a:t>확률 높은 구간만</a:t>
            </a:r>
          </a:p>
          <a:p>
            <a:r>
              <a:t>선별해 탐색 제한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394960" y="5600700"/>
            <a:ext cx="219456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5632704" y="5212080"/>
            <a:ext cx="2011680" cy="777240"/>
          </a:xfrm>
          <a:prstGeom prst="roundRect">
            <a:avLst/>
          </a:prstGeom>
          <a:solidFill>
            <a:srgbClr val="DFF2D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영역 제약 DE 피팅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스핀 +1씩, ∏Mᵢ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86984" y="6007607"/>
            <a:ext cx="21031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750">
                <a:solidFill>
                  <a:srgbClr val="444444"/>
                </a:solidFill>
              </a:defRPr>
            </a:pPr>
            <a:r>
              <a:t>물리 공식을 데이터에</a:t>
            </a:r>
          </a:p>
          <a:p>
            <a:r>
              <a:t>맞추며 스핀 추가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662672" y="5600700"/>
            <a:ext cx="219456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7900416" y="5212080"/>
            <a:ext cx="1463040" cy="777240"/>
          </a:xfrm>
          <a:prstGeom prst="roundRect">
            <a:avLst/>
          </a:prstGeom>
          <a:solidFill>
            <a:srgbClr val="DFF2D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BIC 선택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개수 k* 자동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54696" y="6007607"/>
            <a:ext cx="155448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750">
                <a:solidFill>
                  <a:srgbClr val="444444"/>
                </a:solidFill>
              </a:defRPr>
            </a:pPr>
            <a:r>
              <a:t>추가를 멈출 시점을</a:t>
            </a:r>
          </a:p>
          <a:p>
            <a:r>
              <a:t>통계 기준이 결정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381744" y="5600700"/>
            <a:ext cx="219456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9619488" y="5212080"/>
            <a:ext cx="1554480" cy="777240"/>
          </a:xfrm>
          <a:prstGeom prst="roundRect">
            <a:avLst/>
          </a:prstGeom>
          <a:solidFill>
            <a:srgbClr val="FDEBD0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스핀 목록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{(A∥,A⊥)}×k*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73767" y="6007607"/>
            <a:ext cx="164592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750">
                <a:solidFill>
                  <a:srgbClr val="444444"/>
                </a:solidFill>
              </a:defRPr>
            </a:pPr>
            <a:r>
              <a:t>최종 결합강도 목록</a:t>
            </a:r>
          </a:p>
          <a:p>
            <a:r>
              <a:t>NV1 14개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44652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하이브리드의 입력 = PeriodFormer의 출력 (3행→4행 연결) · 괄호 안 붉은 글씨 = 데이터 크기(텐서 shape)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2021 뱅크 (Jung et al.)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t>▶ 윈도우별 독립 판정 · A 위치만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920240"/>
            <a:ext cx="1754986" cy="1463040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CPMG 신호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1채널 (700,)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401568"/>
            <a:ext cx="1846426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100">
                <a:solidFill>
                  <a:srgbClr val="444444"/>
                </a:solidFill>
              </a:defRPr>
            </a:pPr>
            <a:r>
              <a:t>실험에서 측정한</a:t>
            </a:r>
          </a:p>
          <a:p>
            <a:r>
              <a:t>코히어런스 곡선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39034" y="2651760"/>
            <a:ext cx="347472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504794" y="1920240"/>
            <a:ext cx="1871986" cy="1463040"/>
          </a:xfrm>
          <a:prstGeom prst="roundRect">
            <a:avLst/>
          </a:prstGeom>
          <a:solidFill>
            <a:srgbClr val="DBE9F8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주기 접기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이미지 13×53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9074" y="3401568"/>
            <a:ext cx="1963426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100">
                <a:solidFill>
                  <a:srgbClr val="444444"/>
                </a:solidFill>
              </a:defRPr>
            </a:pPr>
            <a:r>
              <a:t>후보 주기로 잘라 쌓아</a:t>
            </a:r>
          </a:p>
          <a:p>
            <a:r>
              <a:t>세로선을 확인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95069" y="2651760"/>
            <a:ext cx="347472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760829" y="1920240"/>
            <a:ext cx="2339982" cy="1463040"/>
          </a:xfrm>
          <a:prstGeom prst="roundRect">
            <a:avLst/>
          </a:prstGeom>
          <a:solidFill>
            <a:srgbClr val="DFF2D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MLP ×61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윈도우별 독립 모델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5109" y="3401568"/>
            <a:ext cx="2431422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100">
                <a:solidFill>
                  <a:srgbClr val="444444"/>
                </a:solidFill>
              </a:defRPr>
            </a:pPr>
            <a:r>
              <a:t>윈도우마다 전담</a:t>
            </a:r>
          </a:p>
          <a:p>
            <a:r>
              <a:t>분류기가 각자 판정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19099" y="2651760"/>
            <a:ext cx="347472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84859" y="1920240"/>
            <a:ext cx="1988985" cy="1463040"/>
          </a:xfrm>
          <a:prstGeom prst="roundRect">
            <a:avLst/>
          </a:prstGeom>
          <a:solidFill>
            <a:srgbClr val="DFF2D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3-class 확률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(3,)/윈도우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9139" y="3401568"/>
            <a:ext cx="2080425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100">
                <a:solidFill>
                  <a:srgbClr val="444444"/>
                </a:solidFill>
              </a:defRPr>
            </a:pPr>
            <a:r>
              <a:t>스핀 0/1/2개일</a:t>
            </a:r>
          </a:p>
          <a:p>
            <a:r>
              <a:t>확률을 출력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92133" y="2651760"/>
            <a:ext cx="347472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857893" y="1920240"/>
            <a:ext cx="1754986" cy="1463040"/>
          </a:xfrm>
          <a:prstGeom prst="roundRect">
            <a:avLst/>
          </a:prstGeom>
          <a:solidFill>
            <a:srgbClr val="FDEBD0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피크 검출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A 위치만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2173" y="3401568"/>
            <a:ext cx="1846426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100">
                <a:solidFill>
                  <a:srgbClr val="444444"/>
                </a:solidFill>
              </a:defRPr>
            </a:pPr>
            <a:r>
              <a:t>확률 봉우리만</a:t>
            </a:r>
          </a:p>
          <a:p>
            <a:r>
              <a:t>후보로 추림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60"/>
            <a:ext cx="11338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작동: 후보 주기마다 신호를 접어 이미지로 만들고, 그 윈도우 전담 MLP가 스핀 유무를 판정 — 61개 모델이 각자 판단</a:t>
            </a:r>
          </a:p>
          <a:p>
            <a:pPr>
              <a:defRPr sz="1400"/>
            </a:pPr>
            <a:r>
              <a:t>• 특장점: 단순하고 빠름 · 2021 논문이 저온 데이터에서 31개 스핀을 찾은 검증된 틀</a:t>
            </a:r>
          </a:p>
          <a:p>
            <a:pPr>
              <a:defRPr sz="1400"/>
            </a:pPr>
            <a:r>
              <a:t>• 한계: 윈도우끼리 정보 공유가 없어 상온 노이즈에 오탐 · B(결합강도)는 별도 회귀 필요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SpinDETR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t>▶ end-to-end 집합 예측 · 물리 힌트 없음 (대조군)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920240"/>
            <a:ext cx="1583303" cy="1463040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신호 3채널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(3, 700)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401568"/>
            <a:ext cx="1674743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100">
                <a:solidFill>
                  <a:srgbClr val="444444"/>
                </a:solidFill>
              </a:defRPr>
            </a:pPr>
            <a:r>
              <a:t>N=8/16/20 세 측정을</a:t>
            </a:r>
          </a:p>
          <a:p>
            <a:r>
              <a:t>함께 입력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67351" y="2651760"/>
            <a:ext cx="347472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33111" y="1920240"/>
            <a:ext cx="1583303" cy="1463040"/>
          </a:xfrm>
          <a:prstGeom prst="roundRect">
            <a:avLst/>
          </a:prstGeom>
          <a:solidFill>
            <a:srgbClr val="DFF2D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Conv 스템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(175, 128)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7391" y="3401568"/>
            <a:ext cx="1674743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100">
                <a:solidFill>
                  <a:srgbClr val="444444"/>
                </a:solidFill>
              </a:defRPr>
            </a:pPr>
            <a:r>
              <a:t>신호를 짧은 요약</a:t>
            </a:r>
          </a:p>
          <a:p>
            <a:r>
              <a:t>조각들로 압축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34702" y="2651760"/>
            <a:ext cx="347472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00462" y="1920240"/>
            <a:ext cx="2427732" cy="1463040"/>
          </a:xfrm>
          <a:prstGeom prst="roundRect">
            <a:avLst/>
          </a:prstGeom>
          <a:solidFill>
            <a:srgbClr val="DFF2D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Transformer 인코더 ×4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(175, 128)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4742" y="3401568"/>
            <a:ext cx="2519172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100">
                <a:solidFill>
                  <a:srgbClr val="444444"/>
                </a:solidFill>
              </a:defRPr>
            </a:pPr>
            <a:r>
              <a:t>조각들 사이의</a:t>
            </a:r>
          </a:p>
          <a:p>
            <a:r>
              <a:t>패턴 관계를 파악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46482" y="2651760"/>
            <a:ext cx="347472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12242" y="1920240"/>
            <a:ext cx="2427732" cy="1463040"/>
          </a:xfrm>
          <a:prstGeom prst="roundRect">
            <a:avLst/>
          </a:prstGeom>
          <a:solidFill>
            <a:srgbClr val="DFF2D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쿼리 10개 + 디코더 ×4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(10, 128)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6522" y="3401568"/>
            <a:ext cx="2519172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100">
                <a:solidFill>
                  <a:srgbClr val="444444"/>
                </a:solidFill>
              </a:defRPr>
            </a:pPr>
            <a:r>
              <a:t>질문 카드 10장이</a:t>
            </a:r>
          </a:p>
          <a:p>
            <a:r>
              <a:t>각자 스핀을 탐색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58262" y="2651760"/>
            <a:ext cx="347472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924022" y="1920240"/>
            <a:ext cx="1688857" cy="1463040"/>
          </a:xfrm>
          <a:prstGeom prst="roundRect">
            <a:avLst/>
          </a:prstGeom>
          <a:solidFill>
            <a:srgbClr val="FDEBD0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스핀 집합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10×(p, A, 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8302" y="3401568"/>
            <a:ext cx="1780297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100">
                <a:solidFill>
                  <a:srgbClr val="444444"/>
                </a:solidFill>
              </a:defRPr>
            </a:pPr>
            <a:r>
              <a:t>카드별 (존재확률,</a:t>
            </a:r>
          </a:p>
          <a:p>
            <a:r>
              <a:t>A, B)를 출력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60"/>
            <a:ext cx="11338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작동: 질문 카드(쿼리) 10장이 신호 전체에 어텐션해 각자 (존재확률, A, B)를 출력 — Hungarian 매칭으로 학습</a:t>
            </a:r>
          </a:p>
          <a:p>
            <a:pPr>
              <a:defRPr sz="1400"/>
            </a:pPr>
            <a:r>
              <a:t>• 특장점: (A,B) 동시 출력 · 1 forward pass · 고노이즈에서 완만한 성능 저하</a:t>
            </a:r>
          </a:p>
          <a:p>
            <a:pPr>
              <a:defRPr sz="1400"/>
            </a:pPr>
            <a:r>
              <a:t>• 역할: 물리 사전지식 없이 얼마나 되는지 보는 대조군 → PF보다 낮아 사전지식의 가치를 정량화 (−34 kHz 후보의 최강 지지자)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PeriodFormer (제안)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t>▶ 물리 사전지식 + 윈도우 간 어텐션 · 오탐 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920240"/>
            <a:ext cx="1600702" cy="1463040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신호 3채널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(3, 700)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401568"/>
            <a:ext cx="1692142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100">
                <a:solidFill>
                  <a:srgbClr val="444444"/>
                </a:solidFill>
              </a:defRPr>
            </a:pPr>
            <a:r>
              <a:t>N=8/16/20 세 측정을</a:t>
            </a:r>
          </a:p>
          <a:p>
            <a:r>
              <a:t>함께 입력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84750" y="2651760"/>
            <a:ext cx="347472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50510" y="1920240"/>
            <a:ext cx="2027556" cy="1463040"/>
          </a:xfrm>
          <a:prstGeom prst="roundRect">
            <a:avLst/>
          </a:prstGeom>
          <a:solidFill>
            <a:srgbClr val="DBE9F8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61윈도우 접기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토큰 (61,3,13,53)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790" y="3401568"/>
            <a:ext cx="2118996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100">
                <a:solidFill>
                  <a:srgbClr val="444444"/>
                </a:solidFill>
              </a:defRPr>
            </a:pPr>
            <a:r>
              <a:t>모든 후보 주기로</a:t>
            </a:r>
          </a:p>
          <a:p>
            <a:r>
              <a:t>동시에 접음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96354" y="2651760"/>
            <a:ext cx="347472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762114" y="1920240"/>
            <a:ext cx="2027556" cy="1463040"/>
          </a:xfrm>
          <a:prstGeom prst="roundRect">
            <a:avLst/>
          </a:prstGeom>
          <a:solidFill>
            <a:srgbClr val="DFF2D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공유 CNN 임베딩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(61, 128)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6394" y="3401568"/>
            <a:ext cx="2118996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100">
                <a:solidFill>
                  <a:srgbClr val="444444"/>
                </a:solidFill>
              </a:defRPr>
            </a:pPr>
            <a:r>
              <a:t>각 윈도우 그림을</a:t>
            </a:r>
          </a:p>
          <a:p>
            <a:r>
              <a:t>요약 벡터로 변환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07959" y="2651760"/>
            <a:ext cx="347472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73719" y="1920240"/>
            <a:ext cx="2347696" cy="1463040"/>
          </a:xfrm>
          <a:prstGeom prst="roundRect">
            <a:avLst/>
          </a:prstGeom>
          <a:solidFill>
            <a:srgbClr val="DFF2D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어텐션 ×4 (윈도우 간)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(61, 128)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27999" y="3401568"/>
            <a:ext cx="2439136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100">
                <a:solidFill>
                  <a:srgbClr val="444444"/>
                </a:solidFill>
              </a:defRPr>
            </a:pPr>
            <a:r>
              <a:t>윈도우끼리 증거를</a:t>
            </a:r>
          </a:p>
          <a:p>
            <a:r>
              <a:t>대조(회의)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39704" y="2651760"/>
            <a:ext cx="347472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905464" y="1920240"/>
            <a:ext cx="1707415" cy="1463040"/>
          </a:xfrm>
          <a:prstGeom prst="roundRect">
            <a:avLst/>
          </a:prstGeom>
          <a:solidFill>
            <a:srgbClr val="FDEBD0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P(spin) 곡선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(61,)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59744" y="3401568"/>
            <a:ext cx="1798855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100">
                <a:solidFill>
                  <a:srgbClr val="444444"/>
                </a:solidFill>
              </a:defRPr>
            </a:pPr>
            <a:r>
              <a:t>A축 위 스핀</a:t>
            </a:r>
          </a:p>
          <a:p>
            <a:r>
              <a:t>존재 확률 지도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60"/>
            <a:ext cx="11338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작동: 모든 후보 주기로 접은 61개 토큰을 하나의 Transformer가 서로 대조(회의) — 진짜 스핀만 이웃 윈도우에 일관된 흔적</a:t>
            </a:r>
          </a:p>
          <a:p>
            <a:pPr>
              <a:defRPr sz="1400"/>
            </a:pPr>
            <a:r>
              <a:t>• 특장점: 전 벤치마크 오탐 0 · 모델 불일치(자기장 오차 등)에도 precision 1.0 유지</a:t>
            </a:r>
          </a:p>
          <a:p>
            <a:pPr>
              <a:defRPr sz="1400"/>
            </a:pPr>
            <a:r>
              <a:t>• 왜 이렇게: 2021의 실패 원인이 '고립 판정'임을 진단하고, 윈도우들을 토큰으로 만들어 정보를 합치는 지점을 신경망 안으로 옮김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PF→DE 하이브리드 (최종)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t>▶ 신경망 검출 + 물리 피팅 열거 · 전 조건 1위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920240"/>
            <a:ext cx="1726387" cy="1463040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P(spin) 곡선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PF 출력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401568"/>
            <a:ext cx="1817827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100">
                <a:solidFill>
                  <a:srgbClr val="444444"/>
                </a:solidFill>
              </a:defRPr>
            </a:pPr>
            <a:r>
              <a:t>PF가 만든</a:t>
            </a:r>
          </a:p>
          <a:p>
            <a:r>
              <a:t>신뢰 지도를 입력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10435" y="2651760"/>
            <a:ext cx="347472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76195" y="1920240"/>
            <a:ext cx="2050084" cy="1463040"/>
          </a:xfrm>
          <a:prstGeom prst="roundRect">
            <a:avLst/>
          </a:prstGeom>
          <a:solidFill>
            <a:srgbClr val="DBE9F8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문턱 → 후보 영역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구간 목록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0475" y="3401568"/>
            <a:ext cx="2141524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100">
                <a:solidFill>
                  <a:srgbClr val="444444"/>
                </a:solidFill>
              </a:defRPr>
            </a:pPr>
            <a:r>
              <a:t>확률 높은 구간만</a:t>
            </a:r>
          </a:p>
          <a:p>
            <a:r>
              <a:t>선별해 탐색 제한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44567" y="2651760"/>
            <a:ext cx="347473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910327" y="1920240"/>
            <a:ext cx="2373782" cy="1463040"/>
          </a:xfrm>
          <a:prstGeom prst="roundRect">
            <a:avLst/>
          </a:prstGeom>
          <a:solidFill>
            <a:srgbClr val="DFF2D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영역 제약 DE 피팅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스핀 +1씩, ∏Mᵢ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4607" y="3401568"/>
            <a:ext cx="2465222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100">
                <a:solidFill>
                  <a:srgbClr val="444444"/>
                </a:solidFill>
              </a:defRPr>
            </a:pPr>
            <a:r>
              <a:t>물리 공식을 데이터에</a:t>
            </a:r>
          </a:p>
          <a:p>
            <a:r>
              <a:t>맞추며 스핀 추가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02398" y="2651760"/>
            <a:ext cx="347472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668158" y="1920240"/>
            <a:ext cx="1726387" cy="1463040"/>
          </a:xfrm>
          <a:prstGeom prst="roundRect">
            <a:avLst/>
          </a:prstGeom>
          <a:solidFill>
            <a:srgbClr val="DFF2D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BIC 선택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개수 k* 자동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2438" y="3401568"/>
            <a:ext cx="1817827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100">
                <a:solidFill>
                  <a:srgbClr val="444444"/>
                </a:solidFill>
              </a:defRPr>
            </a:pPr>
            <a:r>
              <a:t>추가를 멈출 시점을</a:t>
            </a:r>
          </a:p>
          <a:p>
            <a:r>
              <a:t>통계 기준이 결정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12833" y="2651760"/>
            <a:ext cx="347472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78593" y="1920240"/>
            <a:ext cx="1834286" cy="1463040"/>
          </a:xfrm>
          <a:prstGeom prst="roundRect">
            <a:avLst/>
          </a:prstGeom>
          <a:solidFill>
            <a:srgbClr val="FDEBD0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스핀 목록</a:t>
            </a:r>
          </a:p>
          <a:p>
            <a:pPr algn="ctr">
              <a:defRPr sz="900">
                <a:solidFill>
                  <a:srgbClr val="7A0000"/>
                </a:solidFill>
              </a:defRPr>
            </a:pPr>
            <a:r>
              <a:t>{(A∥,A⊥)}×k*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2873" y="3401568"/>
            <a:ext cx="1925726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100">
                <a:solidFill>
                  <a:srgbClr val="444444"/>
                </a:solidFill>
              </a:defRPr>
            </a:pPr>
            <a:r>
              <a:t>최종 결합강도 목록</a:t>
            </a:r>
          </a:p>
          <a:p>
            <a:r>
              <a:t>NV1 14개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60"/>
            <a:ext cx="11338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작동: PF가 좁힌 영역 안에서만 물리 공식(∏Mᵢ)을 데이터에 피팅하며 스핀을 하나씩 추가 — BIC가 멈출 지점을 결정</a:t>
            </a:r>
          </a:p>
          <a:p>
            <a:pPr>
              <a:defRPr sz="1400"/>
            </a:pPr>
            <a:r>
              <a:t>• 특장점: 한 영역의 다중 스핀까지 열거 · 실측 50-스핀 검증 3개 조건 모두 1위 (F1 0.78/0.51/0.55)</a:t>
            </a:r>
          </a:p>
          <a:p>
            <a:pPr>
              <a:defRPr sz="1400"/>
            </a:pPr>
            <a:r>
              <a:t>• 왜 이렇게: PF의 약점이 '클러스터 안 개수 세기'임을 진단 → 세는 일은 물리 피팅+통계 기준에 맡기는 분업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