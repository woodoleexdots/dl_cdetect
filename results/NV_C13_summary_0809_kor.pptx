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5"/>
    <p:sldId id="267" r:id="rId16"/>
    <p:sldId id="268" r:id="rId17"/>
    <p:sldId id="259" r:id="rId5"/>
    <p:sldId id="260" r:id="rId6"/>
    <p:sldId id="261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17"/>
    <p:restoredTop sz="94645"/>
  </p:normalViewPr>
  <p:slideViewPr>
    <p:cSldViewPr snapToGrid="0" snapToObjects="1">
      <p:cViewPr varScale="1">
        <p:scale>
          <a:sx n="143" d="100"/>
          <a:sy n="143" d="100"/>
        </p:scale>
        <p:origin x="59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7.xml"/><Relationship Id="rId6" Type="http://schemas.openxmlformats.org/officeDocument/2006/relationships/slide" Target="slides/slide8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n.wikipedia.org/wiki/Reversible-jump_Markov_chain_Monte_Carlo" TargetMode="External"/><Relationship Id="rId3" Type="http://schemas.openxmlformats.org/officeDocument/2006/relationships/hyperlink" Target="https://en.wikipedia.org/wiki/Bayesian_information_criterion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038/s41467-024-46075-4" TargetMode="External"/><Relationship Id="rId4" Type="http://schemas.openxmlformats.org/officeDocument/2006/relationships/hyperlink" Target="https://doi.org/10.4121/aba1cc84-0aea-4cdc-93ca-68b0db38bd81.v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09728"/>
            <a:ext cx="462819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¹³C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핵스핀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—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세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방법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비교표</a:t>
            </a:r>
            <a:endParaRPr lang="en-US" altLang="ko-KR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>
                <a:solidFill>
                  <a:srgbClr val="B45000"/>
                </a:solidFill>
              </a:defRPr>
            </a:pP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B4500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2021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B4500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B4500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paper – </a:t>
            </a:r>
            <a:r>
              <a:rPr kumimoji="0" lang="ko-KR" alt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B4500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정경훈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B4500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박사 방법의 한계</a:t>
            </a:r>
            <a:r>
              <a:rPr lang="ko-KR" altLang="en-US" sz="1400" b="1" dirty="0">
                <a:solidFill>
                  <a:srgbClr val="B45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및 비교표</a:t>
            </a:r>
            <a:endParaRPr kumimoji="0" lang="ko-KR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B45000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443430"/>
              </p:ext>
            </p:extLst>
          </p:nvPr>
        </p:nvGraphicFramePr>
        <p:xfrm>
          <a:off x="480508" y="1291216"/>
          <a:ext cx="1156716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19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411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수동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분석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2021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방법</a:t>
                      </a:r>
                      <a:r>
                        <a:rPr lang="ko-KR" alt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lang="en-US" altLang="ko-KR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정경훈</a:t>
                      </a:r>
                      <a:r>
                        <a:rPr lang="ko-KR" alt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박사 방법</a:t>
                      </a:r>
                      <a:r>
                        <a:rPr lang="en-US" altLang="ko-KR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WD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방법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932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rPr sz="105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NV1</a:t>
                      </a:r>
                      <a:endParaRPr lang="en-US" sz="105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algn="ctr">
                        <a:defRPr sz="1000" b="1"/>
                      </a:pPr>
                      <a:r>
                        <a:rPr lang="en-US" sz="1050" b="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Dataset</a:t>
                      </a:r>
                      <a:endParaRPr sz="1050" b="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4개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(−88, 47)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(−5, 35)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(+8, 31)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(−38, 37)*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출력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= A∥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확률곡선의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고확률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위치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5건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('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스핀이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A∥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근처에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있다'까지만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—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A⊥·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개수·정확값은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출력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안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됨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①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구간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A∈[−6, +12] (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WD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5개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자리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②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구간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A∈[+40, +46]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(WD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+39·+48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부근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③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피크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−20 =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WD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(−18.8)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자리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④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피크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+22 =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WD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(+24.3)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자리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⑤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피크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−34 = </a:t>
                      </a:r>
                      <a:r>
                        <a:rPr lang="ko-KR" alt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없음</a:t>
                      </a: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</a:t>
                      </a:r>
                      <a:r>
                        <a:rPr lang="ko-KR" alt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WD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목록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외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후보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−32와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일치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14개 — (A∥, A⊥) </a:t>
                      </a:r>
                    </a:p>
                    <a:p>
                      <a:pPr algn="l">
                        <a:defRPr sz="950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(−87.9,18) (−18.8,16) (−11.5,14) (−5.1,22)</a:t>
                      </a:r>
                    </a:p>
                    <a:p>
                      <a:pPr algn="l">
                        <a:defRPr sz="950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(+0.6,17) (+4.0,26) (+8.4,28) (+14.2,22)</a:t>
                      </a:r>
                    </a:p>
                    <a:p>
                      <a:pPr algn="l">
                        <a:defRPr sz="950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(+24.3,20) (+39.0,28) (+48.0,25) (+65.6,28)</a:t>
                      </a:r>
                    </a:p>
                    <a:p>
                      <a:pPr algn="l">
                        <a:defRPr sz="950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(+91.9,33) (+114.4,24)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203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rPr sz="105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NV2</a:t>
                      </a:r>
                    </a:p>
                    <a:p>
                      <a:pPr algn="ctr">
                        <a:defRPr sz="1000"/>
                      </a:pPr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Dataset</a:t>
                      </a:r>
                      <a:endParaRPr sz="105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3개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(−340, 290)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(+150, 110)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(−42, 150)*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— </a:t>
                      </a:r>
                      <a:r>
                        <a:rPr lang="ko-KR" alt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평가 불가 </a:t>
                      </a: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:</a:t>
                      </a:r>
                      <a:r>
                        <a:rPr lang="ko-KR" alt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단일 채널</a:t>
                      </a: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강결합은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적용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범위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밖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10개 </a:t>
                      </a:r>
                      <a:r>
                        <a:rPr lang="en" altLang="ko-KR"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— (A∥, A⊥) </a:t>
                      </a:r>
                      <a:endParaRPr sz="11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algn="l">
                        <a:defRPr sz="950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(−151.2,95) (−58.9,182) (−45.9,50)</a:t>
                      </a:r>
                    </a:p>
                    <a:p>
                      <a:pPr algn="l">
                        <a:defRPr sz="950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(−38.9,67) (−12.6,42) (−2.7,37)</a:t>
                      </a:r>
                    </a:p>
                    <a:p>
                      <a:pPr algn="l">
                        <a:defRPr sz="950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(+51.7,91) (+55.9,55) (+346.9,261)</a:t>
                      </a:r>
                    </a:p>
                    <a:p>
                      <a:pPr algn="l">
                        <a:defRPr sz="950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(+430.7,58)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</a:t>
                      </a:r>
                      <a:endParaRPr sz="11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203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rPr sz="105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비고</a:t>
                      </a:r>
                      <a:endParaRPr sz="105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눈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판독의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대략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위치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앵커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—</a:t>
                      </a:r>
                    </a:p>
                    <a:p>
                      <a:pPr algn="l"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7개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전부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WD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목록에서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재발견</a:t>
                      </a: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.</a:t>
                      </a:r>
                      <a:r>
                        <a:rPr lang="ko-KR" alt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endParaRPr lang="en-US" altLang="ko-KR"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algn="l">
                        <a:defRPr sz="1000"/>
                      </a:pP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A⊥는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과대추정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경향</a:t>
                      </a:r>
                      <a:r>
                        <a:rPr lang="ko-KR" alt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보임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위치는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맞추나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목록은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미완성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algn="l">
                        <a:defRPr sz="1000"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-</a:t>
                      </a:r>
                      <a:r>
                        <a:rPr lang="ko-KR" alt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구간·피크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수준까지만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출력</a:t>
                      </a:r>
                      <a:endParaRPr lang="en-US"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algn="l">
                        <a:defRPr sz="1000"/>
                      </a:pP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개수·정확한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lang="en" altLang="ko-KR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A∥, A⊥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를</a:t>
                      </a:r>
                      <a:r>
                        <a:rPr lang="ko-KR" alt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정하는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후반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회귀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단계는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범위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밖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/>
                      </a:pPr>
                      <a:r>
                        <a:rPr sz="11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개수</a:t>
                      </a: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(BIC, RJMCMC </a:t>
                      </a:r>
                      <a:r>
                        <a:rPr sz="11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사후분포와</a:t>
                      </a: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1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정합</a:t>
                      </a: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</a:p>
                    <a:p>
                      <a:pPr algn="l">
                        <a:defRPr sz="950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en" altLang="ko-KR"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A⊥</a:t>
                      </a: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값·95% </a:t>
                      </a:r>
                      <a:r>
                        <a:rPr sz="11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CI까지</a:t>
                      </a: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1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완성</a:t>
                      </a:r>
                      <a:endParaRPr sz="11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algn="l">
                        <a:defRPr sz="950"/>
                      </a:pP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3개 </a:t>
                      </a:r>
                      <a:r>
                        <a:rPr sz="11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측정</a:t>
                      </a: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1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동시</a:t>
                      </a: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1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재현</a:t>
                      </a:r>
                      <a:r>
                        <a:rPr sz="11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RMSE 0.088–0.176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25266" y="6218238"/>
            <a:ext cx="5952270" cy="53860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수동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분석의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A∥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부호는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m_s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브랜치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차이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· </a:t>
            </a: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강결합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축퇴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가능성으로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보류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defRPr sz="1000"/>
            </a:pP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† BIC(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베이지안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정보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=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스핀을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추가해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좋아지는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피팅이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복잡도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벌점을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넘을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때만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개수를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늘리는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통계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기준</a:t>
            </a:r>
            <a:endParaRPr lang="en-US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defRPr sz="900"/>
            </a:pP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95% CI(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신뢰구간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=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잔차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부트스트랩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60회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재피팅에서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값이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흔들리는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폭으로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잰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'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참값이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95%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확률로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들어있는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구간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'(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오차막대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09728"/>
            <a:ext cx="6670416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2021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방법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vs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우리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방법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같은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실측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환경에서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비교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(NV1)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— </a:t>
            </a: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WD 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방법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저온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×2.2,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상온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×1.5,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오차주입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×1.7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우위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8124900"/>
              </p:ext>
            </p:extLst>
          </p:nvPr>
        </p:nvGraphicFramePr>
        <p:xfrm>
          <a:off x="358140" y="1866451"/>
          <a:ext cx="11475720" cy="2807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83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4816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endParaRPr sz="16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rPr sz="160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2021 방법 (core-pipeline 재현)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rPr lang="en-US" altLang="ko-KR" sz="16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WD</a:t>
                      </a:r>
                      <a:r>
                        <a:rPr sz="16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6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방법</a:t>
                      </a:r>
                      <a:r>
                        <a:rPr sz="16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(PF→RJMCMC </a:t>
                      </a:r>
                      <a:r>
                        <a:rPr sz="16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하이브리드</a:t>
                      </a:r>
                      <a:r>
                        <a:rPr sz="16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v2)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887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구조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윈도우별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독립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MLP 61개</a:t>
                      </a:r>
                      <a:r>
                        <a:rPr 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+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별도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디노이저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신경망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탐지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윈도우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간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어텐션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r>
                        <a:rPr lang="ko-KR" alt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+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영역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제약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물리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피팅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+ BIC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887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40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출력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고확률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영역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(</a:t>
                      </a:r>
                      <a:r>
                        <a:rPr lang="en" altLang="ko-KR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A∥,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위치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후보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r>
                        <a:rPr lang="en" altLang="ko-KR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A⊥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개수는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별도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단계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필요</a:t>
                      </a:r>
                      <a:endParaRPr lang="en-US"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최종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스핀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목록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{(A∥, A⊥)} × k*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개수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자동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· 95% CI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제공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7467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실측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50-스핀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검증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(F1)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저온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0.38 ·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상온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0.37 ·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오차주입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0.35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저온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0.84 ·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상온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0.57 ·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오차주입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0.61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7467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오탐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(precision)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0.55–1.00 (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상온에서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붕괴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0.87–1.00 (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오차주입에도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0.87)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4871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실데이터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NV1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고확률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영역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2곳 +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피크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3개(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개별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스핀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분해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불가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14개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스핀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확정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(CI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포함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)3개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측정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동시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재현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RMSE 0.09–0.18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7467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전제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조건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저온·고SNR·N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=32/256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장시간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측정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상온·700점·N≤20에서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작동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73952"/>
            <a:ext cx="5030544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/>
            </a:pP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• 2021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수치는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core-pipeline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재현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두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방법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모두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같은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forward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model·같은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채점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규칙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59" y="109728"/>
            <a:ext cx="993916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모델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비교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블록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다이어그램</a:t>
            </a:r>
            <a:endParaRPr lang="en-US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>
                <a:solidFill>
                  <a:srgbClr val="B45000"/>
                </a:solidFill>
              </a:defRPr>
            </a:pPr>
            <a:r>
              <a:rPr lang="ko-KR" altLang="en-US" sz="1400" b="1" dirty="0">
                <a:solidFill>
                  <a:srgbClr val="B45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윈도우 </a:t>
            </a:r>
            <a:r>
              <a:rPr lang="en-US" altLang="ko-KR" sz="1400" b="1" dirty="0">
                <a:solidFill>
                  <a:srgbClr val="B45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folding </a:t>
            </a:r>
            <a:r>
              <a:rPr lang="ko-KR" altLang="en-US" sz="1400" b="1" dirty="0">
                <a:solidFill>
                  <a:srgbClr val="B45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방식만 공통점</a:t>
            </a:r>
            <a:r>
              <a:rPr lang="en-US" altLang="ko-KR" sz="1400" b="1" dirty="0">
                <a:solidFill>
                  <a:srgbClr val="B45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1400" b="1" dirty="0">
                <a:solidFill>
                  <a:srgbClr val="B45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스핀 </a:t>
            </a:r>
            <a:r>
              <a:rPr lang="ko-KR" altLang="en-US" sz="1400" b="1" dirty="0" err="1">
                <a:solidFill>
                  <a:srgbClr val="B45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갯수가</a:t>
            </a:r>
            <a:r>
              <a:rPr lang="ko-KR" altLang="en-US" sz="1400" b="1" dirty="0">
                <a:solidFill>
                  <a:srgbClr val="B45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400" b="1" dirty="0" err="1">
                <a:solidFill>
                  <a:srgbClr val="B45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몇개인지까지</a:t>
            </a:r>
            <a:r>
              <a:rPr lang="ko-KR" altLang="en-US" sz="1400" b="1" dirty="0">
                <a:solidFill>
                  <a:srgbClr val="B45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400" b="1" dirty="0" err="1">
                <a:solidFill>
                  <a:srgbClr val="B45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판단할수</a:t>
            </a:r>
            <a:r>
              <a:rPr lang="ko-KR" altLang="en-US" sz="1400" b="1" dirty="0">
                <a:solidFill>
                  <a:srgbClr val="B45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있는 모델 구상</a:t>
            </a:r>
            <a:endParaRPr kumimoji="0" lang="ko-KR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B45000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5090" y="1030045"/>
            <a:ext cx="1600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3A2F"/>
                </a:solidFill>
              </a:defRPr>
            </a:pP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2021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방법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846730" y="938605"/>
            <a:ext cx="1325880" cy="868680"/>
          </a:xfrm>
          <a:prstGeom prst="roundRect">
            <a:avLst/>
          </a:prstGeom>
          <a:solidFill>
            <a:srgbClr val="E8E8E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CPMG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신호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1채널 (700,)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1010" y="1825573"/>
            <a:ext cx="14173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저온·장시간 측정 전제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90898" y="1372945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446930" y="938605"/>
            <a:ext cx="1417320" cy="868680"/>
          </a:xfrm>
          <a:prstGeom prst="roundRect">
            <a:avLst/>
          </a:prstGeom>
          <a:solidFill>
            <a:srgbClr val="DBE9F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주기 접기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이미지 13×53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8642" y="1825573"/>
            <a:ext cx="15087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후보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주기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1개씩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82537" y="1372945"/>
            <a:ext cx="237745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38570" y="938605"/>
            <a:ext cx="169164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MLP ×61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윈도우별 독립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2850" y="1825573"/>
            <a:ext cx="1783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서로 대화 없음 → 오탐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48497" y="1372945"/>
            <a:ext cx="237745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104530" y="938605"/>
            <a:ext cx="150876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3-class 확률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(3,)/윈도우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8810" y="1825573"/>
            <a:ext cx="1600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스핀 0/1/2개 확률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31578" y="1372945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887610" y="938605"/>
            <a:ext cx="137160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 검출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 영역만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41889" y="1825573"/>
            <a:ext cx="14630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개수·B값 미해결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242" y="2835984"/>
            <a:ext cx="1600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C0000"/>
                </a:solidFill>
              </a:defRPr>
            </a:pPr>
            <a:r>
              <a:rPr 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WD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방법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919882" y="2744544"/>
            <a:ext cx="1188720" cy="868680"/>
          </a:xfrm>
          <a:prstGeom prst="roundRect">
            <a:avLst/>
          </a:prstGeom>
          <a:solidFill>
            <a:srgbClr val="E8E8E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신호 3채널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(3, 700)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162" y="3631512"/>
            <a:ext cx="12801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N=8/16/20 함께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26890" y="3178884"/>
            <a:ext cx="237743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382922" y="2744544"/>
            <a:ext cx="1463040" cy="868680"/>
          </a:xfrm>
          <a:prstGeom prst="roundRect">
            <a:avLst/>
          </a:prstGeom>
          <a:solidFill>
            <a:srgbClr val="DBE9F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61윈도우 접기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토큰(61,3,13,53)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202" y="3631512"/>
            <a:ext cx="15544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모든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주기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동시에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4864250" y="3178884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120282" y="2744544"/>
            <a:ext cx="137160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어텐션 ×4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윈도우 간 회의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562" y="3631512"/>
            <a:ext cx="14630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진짜 스핀만 통과 · 오탐 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10170" y="3178884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766202" y="2744544"/>
            <a:ext cx="137160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P(spin) →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영역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후보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구간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720482" y="3631512"/>
            <a:ext cx="14630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어디를 팔지 확정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56090" y="3178884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12122" y="2744544"/>
            <a:ext cx="160020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영역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제약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sz="1100" dirty="0">
                <a:solidFill>
                  <a:schemeClr val="tx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RJMCMC + BIC</a:t>
            </a:r>
            <a:r>
              <a:rPr lang="ko-KR" altLang="en-US" sz="1100" dirty="0">
                <a:solidFill>
                  <a:schemeClr val="tx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endParaRPr sz="1100" dirty="0">
              <a:solidFill>
                <a:schemeClr val="tx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물리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공식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피팅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366401" y="3631512"/>
            <a:ext cx="1691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몇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개인지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통계로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결정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33" name="Connector 32"/>
          <p:cNvCxnSpPr/>
          <p:nvPr/>
        </p:nvCxnSpPr>
        <p:spPr>
          <a:xfrm>
            <a:off x="10030610" y="3178884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286641" y="2744544"/>
            <a:ext cx="141732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스핀 목록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{(A∥,A⊥)}×k*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0921" y="3631512"/>
            <a:ext cx="15087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rPr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NV1 14개 · CI 포함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74162" y="2177542"/>
            <a:ext cx="9507731" cy="269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155CC"/>
                </a:solidFill>
              </a:defRPr>
            </a:pP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↕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같은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'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주기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접기'에서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출발하지만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— 2021은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여기서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끝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고립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판정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),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우리는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접은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61개를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토큰으로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묶어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"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회의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＂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시킴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영역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집중하여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피팅으로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열거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54152" y="3957801"/>
            <a:ext cx="1143000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/>
            </a:pPr>
            <a:r>
              <a:rPr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• </a:t>
            </a:r>
            <a:r>
              <a:rPr sz="11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차이</a:t>
            </a:r>
            <a:r>
              <a:rPr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— 2021: A </a:t>
            </a:r>
            <a:r>
              <a:rPr sz="11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위치</a:t>
            </a:r>
            <a:r>
              <a:rPr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11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후보</a:t>
            </a:r>
            <a:r>
              <a:rPr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sz="11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영역</a:t>
            </a:r>
            <a:r>
              <a:rPr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sz="11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까지</a:t>
            </a:r>
            <a:r>
              <a:rPr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· </a:t>
            </a:r>
            <a:r>
              <a:rPr sz="11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우리</a:t>
            </a:r>
            <a:r>
              <a:rPr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sz="11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r>
              <a:rPr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(k*)·</a:t>
            </a:r>
            <a:r>
              <a:rPr sz="11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결합강도</a:t>
            </a:r>
            <a:r>
              <a:rPr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(A⊥)·</a:t>
            </a:r>
            <a:r>
              <a:rPr sz="11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오차막대</a:t>
            </a:r>
            <a:r>
              <a:rPr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(CI)</a:t>
            </a:r>
            <a:r>
              <a:rPr sz="11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까지</a:t>
            </a:r>
            <a:r>
              <a:rPr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11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완결</a:t>
            </a:r>
            <a:r>
              <a:rPr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 • </a:t>
            </a:r>
            <a:r>
              <a:rPr sz="11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검증</a:t>
            </a:r>
            <a:r>
              <a:rPr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11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격</a:t>
            </a:r>
            <a:r>
              <a:rPr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11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차이</a:t>
            </a:r>
            <a:r>
              <a:rPr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— </a:t>
            </a:r>
            <a:r>
              <a:rPr sz="11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실측</a:t>
            </a:r>
            <a:r>
              <a:rPr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50-스핀 </a:t>
            </a:r>
            <a:r>
              <a:rPr sz="11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채점</a:t>
            </a:r>
            <a:r>
              <a:rPr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F1 0.35~0.38 vs 0.57~0.84</a:t>
            </a:r>
            <a:endParaRPr lang="en-US" sz="11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defRPr sz="1150"/>
            </a:pPr>
            <a:r>
              <a:rPr lang="en-US"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*Reversible-Jump Markov Chain Monte Carlo</a:t>
            </a:r>
            <a:r>
              <a:rPr lang="ko-KR" altLang="en-US"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</a:t>
            </a:r>
            <a:r>
              <a:rPr lang="ko-KR" altLang="en-US"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hlinkClick r:id="rId2"/>
              </a:rPr>
              <a:t>https://en.wikipedia.org/wiki/Reversible-jump_Markov_chain_Monte_Carlo</a:t>
            </a:r>
            <a:endParaRPr lang="en-US" sz="11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</a:t>
            </a:r>
            <a:r>
              <a:rPr lang="ko-KR" altLang="ko-KR" sz="11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Bayesian</a:t>
            </a:r>
            <a:r>
              <a:rPr lang="ko-KR" altLang="ko-KR"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11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information</a:t>
            </a:r>
            <a:r>
              <a:rPr lang="ko-KR" altLang="ko-KR"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11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criterion</a:t>
            </a:r>
            <a:r>
              <a:rPr lang="en-US" altLang="ko-KR"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: </a:t>
            </a:r>
            <a:r>
              <a:rPr lang="en"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hlinkClick r:id="rId3"/>
              </a:rPr>
              <a:t>https://en.wikipedia.org/wiki/Bayesian_information_criterion</a:t>
            </a:r>
            <a:r>
              <a:rPr lang="en" sz="11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sz="11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38" name="Table 36">
            <a:extLst>
              <a:ext uri="{FF2B5EF4-FFF2-40B4-BE49-F238E27FC236}">
                <a16:creationId xmlns:a16="http://schemas.microsoft.com/office/drawing/2014/main" id="{2D5BC8C3-ECD2-CDBC-02DA-259CCD6062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8689993"/>
              </p:ext>
            </p:extLst>
          </p:nvPr>
        </p:nvGraphicFramePr>
        <p:xfrm>
          <a:off x="431292" y="4676385"/>
          <a:ext cx="11475720" cy="158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lang="ko-KR" altLang="en-US" sz="18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특</a:t>
                      </a:r>
                      <a:r>
                        <a:rPr sz="18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징</a:t>
                      </a:r>
                      <a:endParaRPr sz="18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sz="18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2021 </a:t>
                      </a:r>
                      <a:r>
                        <a:rPr sz="18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방법</a:t>
                      </a:r>
                      <a:endParaRPr sz="18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lang="en-US" altLang="ko-KR" sz="18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WD</a:t>
                      </a:r>
                      <a:r>
                        <a:rPr lang="ko-KR" altLang="en-US" sz="18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방법</a:t>
                      </a:r>
                      <a:endParaRPr sz="18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윈도우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판정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61개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윈도우가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개별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고립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판정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—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서로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lang="ko-KR" alt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참조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없음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→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오탐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rPr sz="140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어텐션으로 윈도우 간 상호 보강(회의) → 가짜 신호 걸러냄 · 오탐 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스핀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탐색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rPr sz="140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영역 없는 피크 찾기 — A∥ 위치 단서만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영역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제약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열거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—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후보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구간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안에서만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물리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피팅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+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BIC로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개수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결정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출력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rPr sz="140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A∥ 위치 후보(구간·피크)까지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개수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k* · A∥ ·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결합강도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A⊥ · 95%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CI까지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완결된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스핀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목록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검증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(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실측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50-스핀 F1)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0.35 ~ 0.38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0.57 ~ 0.84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21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WD 방법 상세 ①  — 탐지 단계 (신경망): 블록 1~4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13232"/>
            <a:ext cx="11521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B45000"/>
                </a:solidFill>
              </a:defRPr>
            </a:pPr>
            <a:r>
              <a:t>▶ 핵심 아이디어: '주기 가설 61개를 동시에 세우고, 가설끼리 회의시켜 진짜만 남긴다'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188720"/>
            <a:ext cx="2816352" cy="5029200"/>
          </a:xfrm>
          <a:prstGeom prst="roundRect">
            <a:avLst/>
          </a:prstGeom>
          <a:solidFill>
            <a:srgbClr val="DBE9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defRPr sz="1200" b="1">
                <a:solidFill>
                  <a:srgbClr val="1A1A1A"/>
                </a:solidFill>
              </a:defRPr>
            </a:pPr>
            <a:r>
              <a:t>① 입력: 3채널 CPMG 신호  (3×700)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N=8/16/20 세 측정의 M(τ)를 함께 입력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엔벨로프(Eq.5 신장지수)로 나눠 감쇠 제거 후 M 스케일로 정규화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왜 3채널: 진짜 스핀은 N이 바뀌면 딥 위치·깊이가 물리 법칙대로 변함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→ 우연한 노이즈 딥과 구별하는 결정적 단서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27248" y="3611879"/>
            <a:ext cx="128015" cy="18288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46120" y="1188720"/>
            <a:ext cx="2816352" cy="5029200"/>
          </a:xfrm>
          <a:prstGeom prst="roundRect">
            <a:avLst/>
          </a:prstGeom>
          <a:solidFill>
            <a:srgbClr val="DBE9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defRPr sz="1200" b="1">
                <a:solidFill>
                  <a:srgbClr val="1A1A1A"/>
                </a:solidFill>
              </a:defRPr>
            </a:pPr>
            <a:r>
              <a:t>② 61-윈도우 접기 → 토큰  (61,3,13,53)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후보 A∥ 61개(−60~+60 kHz, 2 kHz 간격)마다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그 A의 목표 주기 T_P(A)로 신호를 잘라 쌓아 13×53 이미지 생성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맞는 주기로 접으면 딥이 세로줄로 정렬, 틀리면 흩어짐 (2021과 동일 표현)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→ '이 A에 스핀이 있나?'라는 가설 61개를 병렬로 세움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53328" y="3611879"/>
            <a:ext cx="128015" cy="18288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2816352" cy="5029200"/>
          </a:xfrm>
          <a:prstGeom prst="roundRect">
            <a:avLst/>
          </a:prstGeom>
          <a:solidFill>
            <a:srgbClr val="D9EAD3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defRPr sz="1200" b="1">
                <a:solidFill>
                  <a:srgbClr val="1A1A1A"/>
                </a:solidFill>
              </a:defRPr>
            </a:pPr>
            <a:r>
              <a:t>③ 공유 CNN 임베딩 + 어텐션 ×4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공유 CNN: 각 토큰(3×13×53)을 벡터 하나로 압축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— 61개 윈도우가 같은 CNN을 쓰므로 '정렬됨' 판단 기준이 통일됨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어텐션 4층: 윈도우끼리 서로 참조(회의)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— 이웃들이 같이 흥분하면(연속 고확률 구간·하모닉) 문맥으로 진위 판별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→ 2021 독립 MLP의 오탐 원인(서로 대화 없음)을 구조적으로 제거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979408" y="3611879"/>
            <a:ext cx="128015" cy="18288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098280" y="1188720"/>
            <a:ext cx="2816352" cy="5029200"/>
          </a:xfrm>
          <a:prstGeom prst="roundRect">
            <a:avLst/>
          </a:prstGeom>
          <a:solidFill>
            <a:srgbClr val="F9E3B3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defRPr sz="1200" b="1">
                <a:solidFill>
                  <a:srgbClr val="1A1A1A"/>
                </a:solidFill>
              </a:defRPr>
            </a:pPr>
            <a:r>
              <a:t>④ 출력: P(spin) 곡선 → 후보 영역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윈도우별 스핀 존재 확률 61개 → p&gt;0.35 연속 구간을 margin과 함께 묶음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출력 = 후보 영역 목록 [lo, hi] (예: NV1에서 [−6,+12], [+40,+46] 등)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이 단계의 역할은 '어디를 팔지'까지만 —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개수·정확한 (A∥,A⊥)는 다음 단계(물리 피팅)가 결정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419088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404040"/>
                </a:solidFill>
              </a:defRPr>
            </a:pPr>
            <a:r>
              <a:t>②는 2021과 같은 표현(주기 접기)을 쓰지만, ③에서 61개를 한 모델이 함께 보는 것이 결정적 차이 — 상온 노이즈에서 오탐 0의 근원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21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WD 방법 상세 ② — 확정 단계 (물리 피팅): 블록 5~6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13232"/>
            <a:ext cx="11521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B45000"/>
                </a:solidFill>
              </a:defRPr>
            </a:pPr>
            <a:r>
              <a:t>▶ 핵심 아이디어: '신경망이 지목한 영역 안에서만, 물리 공식과 통계 기준으로 개수까지 확정한다'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188720"/>
            <a:ext cx="2816352" cy="5029200"/>
          </a:xfrm>
          <a:prstGeom prst="roundRect">
            <a:avLst/>
          </a:prstGeom>
          <a:solidFill>
            <a:srgbClr val="EADC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defRPr sz="1200" b="1">
                <a:solidFill>
                  <a:srgbClr val="1A1A1A"/>
                </a:solidFill>
              </a:defRPr>
            </a:pPr>
            <a:r>
              <a:t>⑤-1  영역 제약 RJMCMC — 이동 3종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birth: PF 영역 안에서만 새 스핀 (A,B) 무작위 제안 (20%)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death: 기존 스핀 하나 제거 시도 (20%)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perturb: 개수 유지, A±2 kHz·B±5 kHz 미세 이동 (60%)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영역 밖 제안은 기각 → 탐색 부피 수십 배 축소 = 속도·정확도 동시 확보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27248" y="3611879"/>
            <a:ext cx="128015" cy="18288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46120" y="1188720"/>
            <a:ext cx="2816352" cy="5029200"/>
          </a:xfrm>
          <a:prstGeom prst="roundRect">
            <a:avLst/>
          </a:prstGeom>
          <a:solidFill>
            <a:srgbClr val="EADC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defRPr sz="1200" b="1">
                <a:solidFill>
                  <a:srgbClr val="1A1A1A"/>
                </a:solidFill>
              </a:defRPr>
            </a:pPr>
            <a:r>
              <a:t>⑤-2  채택 규칙 — '월세' 판정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목적함수: −2lnπ = SSE/σ² + 2k·ln(n)   (n = 3채널×700점)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채택 확률 = min(1, exp(−Δ/2T)) — 좋아지면 무조건, 나빠지면 확률적으로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새 스핀은 월세 2ln(n)≈15.3을 잔차 감소로 내야만 생존 (과적합 차단)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어닐링 T: 20→1 (초반 넓게 탐사 → 후반 엄격 정착)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3채널 동시 잔차 → 한 채널만 맞는 가짜 해는 자동 탈락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53328" y="3611879"/>
            <a:ext cx="128015" cy="18288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2816352" cy="5029200"/>
          </a:xfrm>
          <a:prstGeom prst="roundRect">
            <a:avLst/>
          </a:prstGeom>
          <a:solidFill>
            <a:srgbClr val="F2D5CC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defRPr sz="1200" b="1">
                <a:solidFill>
                  <a:srgbClr val="1A1A1A"/>
                </a:solidFill>
              </a:defRPr>
            </a:pPr>
            <a:r>
              <a:t>⑤-3  개수 결정 — 이중 확인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BIC 추적: k=1,2,…에서 최소점 k*=14 (NV1)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RJMCMC 사후분포 P(k|데이터): 최빈값 15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서로 독립인 두 절차가 같은 답(14±1) → '개수'의 통계적 근거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출력: MAP 스핀 목록 {(A∥,A⊥)}×k*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979408" y="3611879"/>
            <a:ext cx="128015" cy="18288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098280" y="1188720"/>
            <a:ext cx="2816352" cy="5029200"/>
          </a:xfrm>
          <a:prstGeom prst="roundRect">
            <a:avLst/>
          </a:prstGeom>
          <a:solidFill>
            <a:srgbClr val="D9EAD3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defRPr sz="1200" b="1">
                <a:solidFill>
                  <a:srgbClr val="1A1A1A"/>
                </a:solidFill>
              </a:defRPr>
            </a:pPr>
            <a:r>
              <a:t>⑥  최종 목록 + 95% CI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잔차 부트스트랩 60회 재피팅 → 각 (A∥,A⊥)의 오차막대(95% CI)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CI가 서로 겹치지 않음 = 통계적으로 구별되는 실체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검증: 앵커 7/7 회수 · NV1 세 측정 동시 재현 RMSE 0.088–0.176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NV1 14개 · NV2 9개+1 보류 확정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419088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404040"/>
                </a:solidFill>
              </a:defRPr>
            </a:pPr>
            <a:r>
              <a:t>⑤가 하는 일을 한 줄로: '신경망의 직감(영역)'을 '물리학의 심판(forward model 잔차 + 통계 벌점)'으로 확정하는 단계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21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관련 연구 — Poteshman et al. (Taminiau 그룹 공저, Quantum 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13232"/>
            <a:ext cx="11521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B45000"/>
                </a:solidFill>
              </a:defRPr>
            </a:pPr>
            <a:r>
              <a:t>▶ 최신 독립 연구도 같은 결론(trans-dimensional 베이지안이 정답) — 차이는 '탐색을 무엇으로 좁히나': DFT 격자 vs 학습된 어텐션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88720"/>
          <a:ext cx="114757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5120640"/>
                <a:gridCol w="5120640"/>
              </a:tblGrid>
              <a:tr h="82296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Poteshman 2026 (hybrid MCMC)</a:t>
                      </a:r>
                    </a:p>
                    <a:p>
                      <a:pPr>
                        <a:defRPr sz="1100" b="1"/>
                      </a:pPr>
                      <a:r>
                        <a:t>arXiv 2506.18802 · Quantum 게재</a:t>
                      </a:r>
                    </a:p>
                  </a:txBody>
                  <a:tcPr>
                    <a:solidFill>
                      <a:srgbClr val="F2D5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WD 방법 (PF→RJMCMC 하이브리드 v2)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탐색 제안</a:t>
                      </a:r>
                    </a:p>
                    <a:p>
                      <a:pPr>
                        <a:defRPr sz="950" b="1"/>
                      </a:pPr>
                      <a:r>
                        <a:t>(사전정보)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DFT 격자점 이산화 — 다이아몬드 격자 3,518 사이트의</a:t>
                      </a:r>
                    </a:p>
                    <a:p>
                      <a:pPr>
                        <a:defRPr sz="950" b="0"/>
                      </a:pPr>
                      <a:r>
                        <a:t>계산된 하이퍼파인 값 위에서만 탐색 (|A|&gt;5 kHz)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학습된 어텐션 탐지기(PF)의 후보 영역 —</a:t>
                      </a:r>
                    </a:p>
                    <a:p>
                      <a:pPr>
                        <a:defRPr sz="950" b="0"/>
                      </a:pPr>
                      <a:r>
                        <a:t>DFT·격자 정보 불필요, 데이터에서 직접 제안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엔진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RJMCMC + 병렬 템퍼링(10 replica) + RWMH 순환</a:t>
                      </a:r>
                    </a:p>
                    <a:p>
                      <a:pPr>
                        <a:defRPr sz="950" b="0"/>
                      </a:pPr>
                      <a:r>
                        <a:t>(50/100/25 스텝 사이클, 5 앙상블×25,000 스텝)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영역 제약 RJMCMC(birth/death/perturb) + 어닐링</a:t>
                      </a:r>
                    </a:p>
                    <a:p>
                      <a:pPr>
                        <a:defRPr sz="950" b="0"/>
                      </a:pPr>
                      <a:r>
                        <a:t>+ BIC 독립 교차확인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감쇠·데이터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감쇠 λ를 우도에 포함해 동시 추정</a:t>
                      </a:r>
                    </a:p>
                    <a:p>
                      <a:pPr>
                        <a:defRPr sz="950" b="0"/>
                      </a:pPr>
                      <a:r>
                        <a:t>저온 3.7 K · N=32 단일채널 · τ 6–8 µs 250점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신장지수 엔벨로프 사전 정규화 (Eq.5)</a:t>
                      </a:r>
                    </a:p>
                    <a:p>
                      <a:pPr>
                        <a:defRPr sz="950" b="0"/>
                      </a:pPr>
                      <a:r>
                        <a:t>상온 · N=8/16/20 3채널 동시 · 700점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결과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모달 k=46 (참조 50) · 48개 중 45개 posterior 포함</a:t>
                      </a:r>
                    </a:p>
                    <a:p>
                      <a:pPr>
                        <a:defRPr sz="950" b="0"/>
                      </a:pPr>
                      <a:r>
                        <a:t>강결합 1개(C36) 미검출 — DFT 오차 의존</a:t>
                      </a:r>
                    </a:p>
                    <a:p>
                      <a:pPr>
                        <a:defRPr sz="950" b="0"/>
                      </a:pPr>
                      <a:r>
                        <a:t>약결합 &lt;25 kHz는 미해결로 명시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트윈 F1 저온 0.84 / 상온 0.57 / 오차주입 0.61</a:t>
                      </a:r>
                    </a:p>
                    <a:p>
                      <a:pPr>
                        <a:defRPr sz="950" b="0"/>
                      </a:pPr>
                      <a:r>
                        <a:t>NV1 14개 확정(95% CI) · 앵커 7/7 회수</a:t>
                      </a:r>
                    </a:p>
                    <a:p>
                      <a:pPr>
                        <a:defRPr sz="950" b="0"/>
                      </a:pPr>
                      <a:r>
                        <a:t>약결합 kHz 대역이 설계 목표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계산 비용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~75만 forward 평가 · CPU 5코어 ~8시간 · 무학습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0"/>
                      </a:pPr>
                      <a:r>
                        <a:t>PF 학습 1회(GPU 수십 분, 조건별 재사용)</a:t>
                      </a:r>
                    </a:p>
                    <a:p>
                      <a:pPr>
                        <a:defRPr sz="950" b="0"/>
                      </a:pPr>
                      <a:r>
                        <a:t>+ RJMCMC 수 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272784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404040"/>
                </a:solidFill>
              </a:defRPr>
            </a:pPr>
            <a:r>
              <a:t>자매 논문 arXiv 2506.19259 (Poteshman et al.): 반도체 스핀결함 대량(high-throughput) 특성화 프레임워크 — 우리 자동 파이프라인이 겨냥하는 활용 무대. 두 논문 모두 인용 예정: 방향의 타당성을 독립 확인해 주는 동시대 연구이며, 상온·다채널·학습 제안·완성된 목록(CI)은 우리 쪽 고유 기여.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09728"/>
            <a:ext cx="8101898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공개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50-스핀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데이터셋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개요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(van de Stolpe et al. 2024)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다이아몬드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단일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NV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센터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¹³C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핵스핀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50개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네트워크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—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스핀별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파라미터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공개된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실측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데이터셋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3" name="Picture 2" descr="delft50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29852"/>
            <a:ext cx="10789920" cy="29115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219862-531A-D2FA-BF3C-B466FC9D9C85}"/>
              </a:ext>
            </a:extLst>
          </p:cNvPr>
          <p:cNvSpPr txBox="1"/>
          <p:nvPr/>
        </p:nvSpPr>
        <p:spPr>
          <a:xfrm>
            <a:off x="502564" y="5908137"/>
            <a:ext cx="107147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lang="en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"Mapping a 50-spin-qubit network through correlated sensing" — Nature</a:t>
            </a:r>
            <a:r>
              <a:rPr lang="ko-KR" altLang="en-US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Communications 15, 2006 (2024) · Delft(</a:t>
            </a:r>
            <a:r>
              <a:rPr lang="en" altLang="ko-KR"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Taminiau</a:t>
            </a:r>
            <a:r>
              <a:rPr lang="en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group)</a:t>
            </a:r>
          </a:p>
          <a:p>
            <a:pPr>
              <a:defRPr sz="1200"/>
            </a:pPr>
            <a:r>
              <a:rPr lang="ko-KR" altLang="en-US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논문</a:t>
            </a:r>
            <a:r>
              <a:rPr lang="en-US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en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hlinkClick r:id="rId3"/>
              </a:rPr>
              <a:t>doi.org/10.1038/s41467-024-46075-4</a:t>
            </a:r>
            <a:r>
              <a:rPr lang="en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   </a:t>
            </a:r>
            <a:r>
              <a:rPr lang="ko-KR" altLang="en-US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 </a:t>
            </a:r>
            <a:r>
              <a:rPr lang="en-US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(4</a:t>
            </a:r>
            <a:r>
              <a:rPr lang="en" altLang="ko-KR"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TU.ResearchData</a:t>
            </a:r>
            <a:r>
              <a:rPr lang="en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): </a:t>
            </a:r>
            <a:r>
              <a:rPr lang="en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hlinkClick r:id="rId4"/>
              </a:rPr>
              <a:t>doi.org/10.4121/aba1cc84-0aea-4cdc-93ca-68b0db38bd81.v1</a:t>
            </a:r>
          </a:p>
        </p:txBody>
      </p:sp>
      <p:graphicFrame>
        <p:nvGraphicFramePr>
          <p:cNvPr id="8" name="Table 3">
            <a:extLst>
              <a:ext uri="{FF2B5EF4-FFF2-40B4-BE49-F238E27FC236}">
                <a16:creationId xmlns:a16="http://schemas.microsoft.com/office/drawing/2014/main" id="{A448553D-2A88-7CA2-BF20-2F1B818A12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64155"/>
              </p:ext>
            </p:extLst>
          </p:nvPr>
        </p:nvGraphicFramePr>
        <p:xfrm>
          <a:off x="365760" y="4041418"/>
          <a:ext cx="11475720" cy="18135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38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시스템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다이아몬드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단일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NV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센터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1개 +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주변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¹³C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핵스핀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50개(+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질소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1) —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상관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센싱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(concatenated double-resonance)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시퀀스로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네트워크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전체를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매핑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측정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조건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3.7 K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저온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· B = 403.553 G (NV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축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방향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 · Jung 2021과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같은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NV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시료</a:t>
                      </a:r>
                      <a:r>
                        <a:rPr lang="ko-KR" altLang="en-US"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추정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공개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스핀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정보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스핀별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hyperfine (A∥: −48.5 ~ +213.2 kHz, A⊥: 0.2 ~ 59.2 kHz) ·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스핀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주파수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· 3차원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격자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위치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·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측정된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핵-핵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커플링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474쌍(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대부분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수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Hz)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파일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구성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spin_table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/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spin_frequencies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/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spin_positions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/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spin_measured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(predicted)_couplings (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xlsx·pkl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 +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논문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그림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재현</a:t>
                      </a:r>
                      <a:r>
                        <a:rPr sz="14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노트북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09728"/>
            <a:ext cx="7752443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노이즈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모델링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—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합성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σ의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근거</a:t>
            </a:r>
            <a:endParaRPr lang="en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rPr lang="en" sz="1400" b="1" dirty="0">
                <a:solidFill>
                  <a:srgbClr val="B45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NV1·NV2 </a:t>
            </a:r>
            <a:r>
              <a:rPr lang="ko-KR" altLang="en-US" sz="1400" b="1" dirty="0">
                <a:solidFill>
                  <a:srgbClr val="B45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실측 데이터에서 통계적으로 추정하여 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σ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추출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저온 데이터를 상온 데이터로 </a:t>
            </a:r>
            <a:r>
              <a:rPr lang="ko-KR" altLang="en-US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믹싱하는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방법 구상</a:t>
            </a:r>
            <a:endParaRPr lang="ko-KR" altLang="en-US" sz="1400" b="1" dirty="0">
              <a:solidFill>
                <a:srgbClr val="B45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4" name="Picture 3" descr="noise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000351"/>
            <a:ext cx="11567160" cy="2313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5399443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• </a:t>
            </a:r>
            <a:r>
              <a:rPr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그림</a:t>
            </a: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NV1(N=8/16/20)·NV2(N=16) </a:t>
            </a:r>
            <a:r>
              <a:rPr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원시</a:t>
            </a: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</a:t>
            </a: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확대</a:t>
            </a: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τ</a:t>
            </a: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4–7 µs) — </a:t>
            </a:r>
            <a:r>
              <a:rPr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이동중앙값</a:t>
            </a: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빨강</a:t>
            </a: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</a:t>
            </a:r>
            <a:r>
              <a:rPr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주변</a:t>
            </a: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산포가</a:t>
            </a: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±2σ̂ </a:t>
            </a:r>
            <a:r>
              <a:rPr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밴드와</a:t>
            </a: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일치</a:t>
            </a: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 </a:t>
            </a:r>
            <a:endParaRPr lang="en-US" sz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defRPr sz="1100"/>
            </a:pP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• </a:t>
            </a:r>
            <a:r>
              <a:rPr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맨</a:t>
            </a: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오른쪽</a:t>
            </a:r>
            <a:r>
              <a:rPr lang="ko-KR" altLang="en-US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그림</a:t>
            </a: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채널별</a:t>
            </a: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σ</a:t>
            </a: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̂ vs </a:t>
            </a:r>
            <a:r>
              <a:rPr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채택값</a:t>
            </a: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(0.06)·</a:t>
            </a:r>
            <a:r>
              <a:rPr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학습</a:t>
            </a: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12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범위</a:t>
            </a: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(0.03–0.12)</a:t>
            </a:r>
          </a:p>
        </p:txBody>
      </p:sp>
      <p:graphicFrame>
        <p:nvGraphicFramePr>
          <p:cNvPr id="6" name="Table 2">
            <a:extLst>
              <a:ext uri="{FF2B5EF4-FFF2-40B4-BE49-F238E27FC236}">
                <a16:creationId xmlns:a16="http://schemas.microsoft.com/office/drawing/2014/main" id="{8CD7985B-9329-7366-8570-9962E36D07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8484168"/>
              </p:ext>
            </p:extLst>
          </p:nvPr>
        </p:nvGraphicFramePr>
        <p:xfrm>
          <a:off x="358140" y="939668"/>
          <a:ext cx="11475720" cy="17912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6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994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465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단계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sz="140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방법 / 값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sz="14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의미</a:t>
                      </a:r>
                      <a:endParaRPr sz="14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33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20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① σ 추정량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인접점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차분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dᵢ = yᵢ₊₁ − yᵢ  → 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σ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̂ = std(d)/√2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느린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신호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성분은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상쇄되고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노이즈만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남음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(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독립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가우시안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가정의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표준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추정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465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20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② 실측 결과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NV1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σ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̂ = 0.030 / 0.047 / 0.065 (N=8/16/20) · NV2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σ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̂ = 0.077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dip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구간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신호가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섞인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만큼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과대평가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쪽으로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치우침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=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보수적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상한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33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③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노이즈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믹싱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상온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트윈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σ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= 0.06 ·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저온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트윈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σ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= 0.02 (</a:t>
                      </a:r>
                      <a:r>
                        <a:rPr lang="ko-KR" alt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화이트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가우시안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</a:p>
                    <a:p>
                      <a:pPr>
                        <a:defRPr sz="100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+ T2 </a:t>
                      </a:r>
                      <a:r>
                        <a:rPr lang="ko-KR" alt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감쇠곡선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콘트라스트도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실측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범위에서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랜덤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상온은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NV1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채널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수준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저온은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문헌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조건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465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④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학습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랜덤화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학습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데이터는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σ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∈ [0.03, 0.12]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균일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무작위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특정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노이즈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수준에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특화된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검출기가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되는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것을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차단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(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과적합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방지</a:t>
                      </a: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09728"/>
            <a:ext cx="817082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rPr dirty="0"/>
              <a:t>50-스핀 </a:t>
            </a:r>
            <a:r>
              <a:rPr lang="ko-KR" altLang="en-US" dirty="0"/>
              <a:t>데이터로</a:t>
            </a:r>
            <a:r>
              <a:rPr dirty="0"/>
              <a:t> </a:t>
            </a:r>
            <a:r>
              <a:rPr dirty="0" err="1"/>
              <a:t>검증</a:t>
            </a:r>
            <a:endParaRPr dirty="0"/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rPr dirty="0" err="1"/>
              <a:t>저온</a:t>
            </a:r>
            <a:r>
              <a:rPr dirty="0"/>
              <a:t> </a:t>
            </a:r>
            <a:r>
              <a:rPr lang="ko-KR" altLang="en-US" dirty="0"/>
              <a:t>데이터</a:t>
            </a:r>
            <a:r>
              <a:rPr dirty="0"/>
              <a:t> 21/27 </a:t>
            </a:r>
            <a:r>
              <a:rPr lang="ko-KR" altLang="en-US" dirty="0"/>
              <a:t>확인</a:t>
            </a:r>
            <a:r>
              <a:rPr dirty="0"/>
              <a:t>(RMSE 0.074) · </a:t>
            </a:r>
            <a:r>
              <a:rPr dirty="0" err="1"/>
              <a:t>상온</a:t>
            </a:r>
            <a:r>
              <a:rPr dirty="0"/>
              <a:t> </a:t>
            </a:r>
            <a:r>
              <a:rPr lang="ko-KR" altLang="en-US" dirty="0" err="1"/>
              <a:t>믹싱데이터</a:t>
            </a:r>
            <a:r>
              <a:rPr lang="ko-KR" altLang="en-US" dirty="0"/>
              <a:t> </a:t>
            </a:r>
            <a:r>
              <a:rPr dirty="0"/>
              <a:t>11/27·오탐 0 — </a:t>
            </a:r>
            <a:r>
              <a:rPr lang="en-US" dirty="0"/>
              <a:t>TEST </a:t>
            </a:r>
            <a:r>
              <a:rPr dirty="0" err="1"/>
              <a:t>스핀</a:t>
            </a:r>
            <a:r>
              <a:rPr dirty="0"/>
              <a:t> </a:t>
            </a:r>
            <a:r>
              <a:rPr dirty="0" err="1"/>
              <a:t>값은</a:t>
            </a:r>
            <a:r>
              <a:rPr dirty="0"/>
              <a:t> </a:t>
            </a:r>
            <a:r>
              <a:rPr dirty="0" err="1"/>
              <a:t>학습에</a:t>
            </a:r>
            <a:r>
              <a:rPr dirty="0"/>
              <a:t> </a:t>
            </a:r>
            <a:r>
              <a:rPr dirty="0" err="1"/>
              <a:t>미사용</a:t>
            </a:r>
            <a:r>
              <a:rPr lang="ko-KR" altLang="en-US" dirty="0"/>
              <a:t>함</a:t>
            </a:r>
            <a:endParaRPr dirty="0"/>
          </a:p>
        </p:txBody>
      </p:sp>
      <p:pic>
        <p:nvPicPr>
          <p:cNvPr id="3" name="Picture 2" descr="26_twin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738" y="1098599"/>
            <a:ext cx="9692640" cy="49847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27103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•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벤치마크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종합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(F1):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제안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하이브리드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v2가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저온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0.84 /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상온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0.57 /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오차주입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0.61로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조건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1위 (2021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재현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0.38/0.37/0.35,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고전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DE 0.71/0.50/0.48, RJMCMC 0.84/0.56/0.52)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09728"/>
            <a:ext cx="5363969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최종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확정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NV1 / NV2 ¹³C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핵스핀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목록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rPr sz="1400" b="1" dirty="0">
                <a:solidFill>
                  <a:srgbClr val="B45000"/>
                </a:solidFill>
              </a:rPr>
              <a:t>NV1 14개 + NV2 9개(+1 </a:t>
            </a:r>
            <a:r>
              <a:rPr sz="1400" b="1" dirty="0" err="1">
                <a:solidFill>
                  <a:srgbClr val="B45000"/>
                </a:solidFill>
              </a:rPr>
              <a:t>보류</a:t>
            </a:r>
            <a:r>
              <a:rPr sz="1400" b="1" dirty="0">
                <a:solidFill>
                  <a:srgbClr val="B45000"/>
                </a:solidFill>
              </a:rPr>
              <a:t>) — </a:t>
            </a:r>
            <a:r>
              <a:rPr sz="1400" b="1" dirty="0" err="1">
                <a:solidFill>
                  <a:srgbClr val="B45000"/>
                </a:solidFill>
              </a:rPr>
              <a:t>물리·통계·교차검증</a:t>
            </a:r>
            <a:r>
              <a:rPr sz="1400" b="1" dirty="0">
                <a:solidFill>
                  <a:srgbClr val="B45000"/>
                </a:solidFill>
              </a:rPr>
              <a:t> </a:t>
            </a:r>
            <a:r>
              <a:rPr lang="ko-KR" altLang="en-US" sz="1400" b="1" dirty="0">
                <a:solidFill>
                  <a:srgbClr val="B45000"/>
                </a:solidFill>
              </a:rPr>
              <a:t>확인 스핀 목록</a:t>
            </a:r>
            <a:endParaRPr sz="1400" b="1" dirty="0">
              <a:solidFill>
                <a:srgbClr val="B45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1259199"/>
            <a:ext cx="100219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rPr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NV1 — 14개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25623"/>
              </p:ext>
            </p:extLst>
          </p:nvPr>
        </p:nvGraphicFramePr>
        <p:xfrm>
          <a:off x="365760" y="1579239"/>
          <a:ext cx="2834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(−87.9 ±0.9, 18.3)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(−18.8 ±1.2, 15.5)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(−11.5 ±1.7, 13.9)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(−5.1 ±0.6, 22.5)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(+0.6 ±1.5, 17.1)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(+4.0 ±0.7, 26.2)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(+8.4 ±0.6, 27.8)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2974176"/>
              </p:ext>
            </p:extLst>
          </p:nvPr>
        </p:nvGraphicFramePr>
        <p:xfrm>
          <a:off x="3337560" y="1579239"/>
          <a:ext cx="2834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(+14.2 ±1.0, 21.7)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(+24.3 ±1.5, 20.1)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(+39.0 ±2.0, 28.2)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(+48.0 ±2.6, 25.1)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(+65.6 ±1.0, 27.6)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(+91.9 ±0.7, 32.6)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(+114.4 ±1.7, 23.9)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66560" y="1259199"/>
            <a:ext cx="14959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rPr sz="12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NV2 — 9개 + 보류 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2055165"/>
              </p:ext>
            </p:extLst>
          </p:nvPr>
        </p:nvGraphicFramePr>
        <p:xfrm>
          <a:off x="6766560" y="1579239"/>
          <a:ext cx="28346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(+346.9, 261)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(−151.2, 95)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(−58.9, 182)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(−45.9, 50)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(−38.9, 67)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1417741"/>
              </p:ext>
            </p:extLst>
          </p:nvPr>
        </p:nvGraphicFramePr>
        <p:xfrm>
          <a:off x="9738360" y="1579239"/>
          <a:ext cx="2286000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(−12.6, 42)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(−2.7, 37)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(+51.7, 91)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(+55.9, 55)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(+430.7, 58) </a:t>
                      </a:r>
                      <a:r>
                        <a:rPr lang="ko-KR" alt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보류</a:t>
                      </a:r>
                      <a:r>
                        <a:rPr lang="ko-KR" alt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:</a:t>
                      </a:r>
                      <a:r>
                        <a:rPr lang="ko-KR" alt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lang="ko-KR" altLang="en-US"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강결합</a:t>
                      </a:r>
                      <a:r>
                        <a:rPr lang="ko-KR" alt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or </a:t>
                      </a:r>
                      <a:r>
                        <a:rPr lang="ko-KR" altLang="en-US" sz="1200" dirty="0" err="1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축퇴</a:t>
                      </a:r>
                      <a:r>
                        <a:rPr lang="ko-KR" altLang="en-US" sz="1200" dirty="0">
                          <a:solidFill>
                            <a:sysClr val="windowText" lastClr="00000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되어 있는지 애매함</a:t>
                      </a:r>
                      <a:endParaRPr sz="1200" dirty="0">
                        <a:solidFill>
                          <a:sysClr val="windowText" lastClr="00000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Table 10">
            <a:extLst>
              <a:ext uri="{FF2B5EF4-FFF2-40B4-BE49-F238E27FC236}">
                <a16:creationId xmlns:a16="http://schemas.microsoft.com/office/drawing/2014/main" id="{EDFE56D6-77FD-C0E7-577C-ECC298DD93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441605"/>
              </p:ext>
            </p:extLst>
          </p:nvPr>
        </p:nvGraphicFramePr>
        <p:xfrm>
          <a:off x="358140" y="4492836"/>
          <a:ext cx="11475720" cy="19202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38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sz="120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개수 근거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BIC 최소 k*=14 · RJMCMC 사후 최빈 15(개수에 대한 확률분포에서 가장 확률이 높았던 값)와 정합 · 스핀 추가 벌점 통과분만 채택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sz="120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통계적 실체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14개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전부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95% CI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상호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비겹침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(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부트스트랩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60회)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sz="120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물리 재현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단일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목록으로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N=8/16/20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세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측정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동시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설명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RMSE 0.088/0.116/0.176 (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노이즈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바닥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도달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sz="120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외부 정합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수동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분석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앵커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NV1 4/4 · NV2 3/3 </a:t>
                      </a:r>
                      <a:r>
                        <a:rPr lang="ko-KR" altLang="en-US"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와 정합 확인</a:t>
                      </a:r>
                      <a:endParaRPr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sz="120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NV2 주의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단일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채널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(CPMG-16)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이라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A⊥는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대표값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· (+430.7)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축퇴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잔재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가능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→ CPMG-8/20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추가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측정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판정</a:t>
                      </a:r>
                      <a:endParaRPr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rPr sz="120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목록 외 후보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NV1 A ≈ −32±3 (3계열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지지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최종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피팅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sz="1200" dirty="0" err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미포함</a:t>
                      </a:r>
                      <a:r>
                        <a:rPr sz="1200" dirty="0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09728"/>
            <a:ext cx="556594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피팅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곡선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합성 방법 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스핀별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딥의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합성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곱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목록에서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계산된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예측</a:t>
            </a:r>
            <a:r>
              <a:rPr lang="ko-KR" altLang="en-US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값계산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방법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피팅 곡선 방법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3" name="Picture 2" descr="fit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60" y="955177"/>
            <a:ext cx="11612880" cy="27846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257800"/>
            <a:ext cx="11430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①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실험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Pₓ를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엔벨로프로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나눠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모델과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같은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M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스케일로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정규화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→ ②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각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(Aᵢ, Bᵢ)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자기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주기의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딥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트레인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Mᵢ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생성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→ ③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곱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∏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Mᵢ가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피팅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곡선</a:t>
            </a:r>
            <a:endParaRPr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defRPr sz="1200"/>
            </a:pPr>
            <a:endParaRPr lang="en-US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defRPr sz="1200"/>
            </a:pP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스핀이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늘수록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곱에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항이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추가되어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미세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구조를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더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재현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defRPr sz="1200"/>
            </a:pP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— NV2에서 6→10스핀에 RMSE 0.308→0.286 (BIC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통과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잔차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감소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=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과적합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아님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D53FC8-C6A7-B8E5-3C7D-8B59E2B4C25B}"/>
              </a:ext>
            </a:extLst>
          </p:cNvPr>
          <p:cNvSpPr txBox="1"/>
          <p:nvPr/>
        </p:nvSpPr>
        <p:spPr>
          <a:xfrm>
            <a:off x="381000" y="3744097"/>
            <a:ext cx="11430000" cy="99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/>
            </a:pP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Jung 2021 Eq.1–3 ·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cpmg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physics.py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 구현</a:t>
            </a:r>
            <a:endParaRPr lang="en-US" altLang="ko-KR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defRPr sz="1200" b="0">
                <a:solidFill>
                  <a:srgbClr val="1A1A6E"/>
                </a:solidFill>
              </a:defRPr>
            </a:pP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Eq.1  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단일 스핀 딥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  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Mₖ(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τ) = 1 − 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K·sin²(N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φ/2),    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K = mₓ²·(1−cos 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α)(1−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cos 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β)/(1+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cos 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φ)</a:t>
            </a:r>
          </a:p>
          <a:p>
            <a:pPr>
              <a:defRPr sz="1200" b="0">
                <a:solidFill>
                  <a:srgbClr val="1A1A6E"/>
                </a:solidFill>
              </a:defRPr>
            </a:pP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Eq.2  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위상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  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cos 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φ = 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cos 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α·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cos 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β − </a:t>
            </a:r>
            <a:r>
              <a:rPr lang="en" altLang="ko-KR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m_z·sin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α·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sin 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β,    α = </a:t>
            </a:r>
            <a:r>
              <a:rPr lang="el-GR" altLang="ko-KR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ω̃τ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스핀 세차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· 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β = ω_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 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τ (</a:t>
            </a:r>
            <a:r>
              <a:rPr lang="ko-KR" altLang="en-US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라머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세차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</a:p>
          <a:p>
            <a:pPr>
              <a:defRPr sz="1200" b="0">
                <a:solidFill>
                  <a:srgbClr val="1A1A6E"/>
                </a:solidFill>
              </a:defRPr>
            </a:pP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Eq.3  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스핀 축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  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ω̃ = √[(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A∥+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ω_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L)² + A⊥²],  </a:t>
            </a:r>
            <a:r>
              <a:rPr lang="en" altLang="ko-KR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m_z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= (A∥+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ω_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L)/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ω̃,  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mₓ = A⊥/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ω̃    </a:t>
            </a:r>
          </a:p>
          <a:p>
            <a:pPr>
              <a:defRPr sz="1200" b="0">
                <a:solidFill>
                  <a:srgbClr val="1A1A6E"/>
                </a:solidFill>
              </a:defRPr>
            </a:pP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   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곱 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M(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τ) = ∏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ₖ Mₖ(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τ),  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Pₓ = ½(1 + a₀·</a:t>
            </a:r>
            <a:r>
              <a:rPr lang="en" altLang="ko-KR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M·e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^−(</a:t>
            </a:r>
            <a:r>
              <a:rPr lang="el-GR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τ/</a:t>
            </a:r>
            <a:r>
              <a:rPr lang="en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T₂)ⁿ)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09728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최종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피팅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실제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CPMG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(NV1: N=8/16/20 · NV2: N=16)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rPr lang="en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NV1 14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스핀 세 측정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en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N=8/16/20)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을 동시에 재현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en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RMSE 0.088/0.116/0.176) · NV2 10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스핀 </a:t>
            </a:r>
            <a:r>
              <a:rPr lang="en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RMSE 0.286</a:t>
            </a:r>
          </a:p>
        </p:txBody>
      </p:sp>
      <p:pic>
        <p:nvPicPr>
          <p:cNvPr id="3" name="Picture 2" descr="21_ensemble_overlay_N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60" y="1489037"/>
            <a:ext cx="6035040" cy="3664131"/>
          </a:xfrm>
          <a:prstGeom prst="rect">
            <a:avLst/>
          </a:prstGeom>
        </p:spPr>
      </p:pic>
      <p:pic>
        <p:nvPicPr>
          <p:cNvPr id="4" name="Picture 3" descr="22_ensemble_overlay_N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261" y="1489037"/>
            <a:ext cx="5577840" cy="25897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5358205"/>
            <a:ext cx="1030602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•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왼쪽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NV1: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위→아래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N=8/16/20 —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같은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14개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목록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세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데이터를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모두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 •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오른쪽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NV2: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강결합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프린지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구조까지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추적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단일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채널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한계로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1개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스핀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보류</a:t>
            </a:r>
            <a:r>
              <a:rPr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F3C893-C390-1048-7C4B-13C72FB16213}"/>
              </a:ext>
            </a:extLst>
          </p:cNvPr>
          <p:cNvSpPr txBox="1"/>
          <p:nvPr/>
        </p:nvSpPr>
        <p:spPr>
          <a:xfrm>
            <a:off x="6855342" y="4840188"/>
            <a:ext cx="53061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lang="ko-KR" altLang="en-US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회색 </a:t>
            </a:r>
            <a:r>
              <a:rPr lang="en-US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실험 </a:t>
            </a:r>
            <a:r>
              <a:rPr lang="en-US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빨강 </a:t>
            </a:r>
            <a:r>
              <a:rPr lang="en-US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검출 스핀들의 </a:t>
            </a:r>
            <a:r>
              <a:rPr lang="en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forward model</a:t>
            </a:r>
            <a:r>
              <a:rPr lang="ko-KR" altLang="en-US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</TotalTime>
  <Words>2163</Words>
  <Application>Microsoft Macintosh PowerPoint</Application>
  <PresentationFormat>와이드스크린</PresentationFormat>
  <Paragraphs>220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Pretendard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woodo lee</cp:lastModifiedBy>
  <cp:revision>45</cp:revision>
  <dcterms:created xsi:type="dcterms:W3CDTF">2013-01-27T09:14:16Z</dcterms:created>
  <dcterms:modified xsi:type="dcterms:W3CDTF">2026-08-09T11:57:33Z</dcterms:modified>
  <cp:category/>
</cp:coreProperties>
</file>