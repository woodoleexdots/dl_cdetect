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위치 단서 5건(구간 2 + 피크 3, 목록 미완성) → 제안 방법 14개 완성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 단서 5건 (8~9개 스핀 해당)</a:t>
                      </a:r>
                    </a:p>
                    <a:p>
                      <a:pPr>
                        <a:defRPr sz="1000"/>
                      </a:pPr>
                      <a:r>
                        <a:t>① 구간 A∈[−6, +12]</a:t>
                      </a:r>
                    </a:p>
                    <a:p>
                      <a:pPr>
                        <a:defRPr sz="1000"/>
                      </a:pPr>
                      <a:r>
                        <a:t>   (연속 고확률 구간, 스핀 5개 포함)</a:t>
                      </a:r>
                    </a:p>
                    <a:p>
                      <a:pPr>
                        <a:defRPr sz="1000"/>
                      </a:pPr>
                      <a:r>
                        <a:t>② 구간 A∈[+40, +46]</a:t>
                      </a:r>
                    </a:p>
                    <a:p>
                      <a:pPr>
                        <a:defRPr sz="1000"/>
                      </a:pPr>
                      <a:r>
                        <a:t>③ 피크 −20  ④ 피크 +22</a:t>
                      </a:r>
                    </a:p>
                    <a:p>
                      <a:pPr>
                        <a:defRPr sz="1000"/>
                      </a:pPr>
                      <a:r>
                        <a:t>⑤ 피크 −34 (후보 −32와 일치)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비고</a:t>
                      </a:r>
                    </a:p>
                    <a:p>
                      <a:pPr>
                        <a:defRPr sz="1000"/>
                      </a:pPr>
                      <a:r>
                        <a:t>(총평)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판독의 대략 위치 앵커 —</a:t>
                      </a:r>
                    </a:p>
                    <a:p>
                      <a:pPr>
                        <a:defRPr sz="1000"/>
                      </a:pPr>
                      <a:r>
                        <a:t>7개 전부 우리 목록에서 재발견</a:t>
                      </a:r>
                    </a:p>
                    <a:p>
                      <a:pPr>
                        <a:defRPr sz="1000"/>
                      </a:pPr>
                      <a:r>
                        <a:t>A⊥는 과대추정 경향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위치는 맞추나 목록은 미완성 —</a:t>
                      </a:r>
                    </a:p>
                    <a:p>
                      <a:pPr>
                        <a:defRPr sz="1000"/>
                      </a:pPr>
                      <a:r>
                        <a:t>구간·피크 수준까지만 출력,</a:t>
                      </a:r>
                    </a:p>
                    <a:p>
                      <a:pPr>
                        <a:defRPr sz="1000"/>
                      </a:pPr>
                      <a:r>
                        <a:t>개수·B값·정확한 A를 정하는</a:t>
                      </a:r>
                    </a:p>
                    <a:p>
                      <a:pPr>
                        <a:defRPr sz="1000"/>
                      </a:pPr>
                      <a:r>
                        <a:t>후반 회귀 단계는 재현 범위 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개수(BIC, RJMCMC 사후분포와 정합)</a:t>
                      </a:r>
                    </a:p>
                    <a:p>
                      <a:pPr>
                        <a:defRPr sz="950"/>
                      </a:pPr>
                      <a:r>
                        <a:t>·B값·95% CI까지 완성한 유일한 목록</a:t>
                      </a:r>
                    </a:p>
                    <a:p>
                      <a:pPr>
                        <a:defRPr sz="950"/>
                      </a:pPr>
                      <a:r>
                        <a:t>3개 측정 동시 재현 RMSE 0.088–0.176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정면 비교: 2021 방법 vs 우리 방법</a:t>
            </a:r>
          </a:p>
          <a:p>
            <a:pPr>
              <a:defRPr sz="1200"/>
            </a:pPr>
            <a:r>
              <a:t>나머지 모델들(CNN뱅크·SpinDETR·PF단독·DE·RJMCMC)은 이 결론을 떠받치는 ablation·베이스라인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같은 실측 스핀 환경에서 채점한 결과 — 저온 ×2.2, 상온 ×1.5, 오차주입 ×1.7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6304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983480"/>
              </a:tblGrid>
              <a:tr h="705394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우리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윈도우별 독립 MLP 61개</a:t>
                      </a:r>
                    </a:p>
                    <a:p>
                      <a:pPr>
                        <a:defRPr sz="1100"/>
                      </a:pPr>
                      <a:r>
                        <a:t>+ 별도 디노이저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신경망 탐지(윈도우 간 어텐션)</a:t>
                      </a:r>
                    </a:p>
                    <a:p>
                      <a:pPr>
                        <a:defRPr sz="1100"/>
                      </a:pPr>
                      <a:r>
                        <a:t>+ 영역 제약 물리 피팅 + BIC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(A 위치 후보)</a:t>
                      </a:r>
                    </a:p>
                    <a:p>
                      <a:pPr>
                        <a:defRPr sz="1100"/>
                      </a:pPr>
                      <a:r>
                        <a:t>B·개수는 별도 단계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최종 스핀 목록 {(A∥, A⊥)} × k*</a:t>
                      </a:r>
                    </a:p>
                    <a:p>
                      <a:pPr>
                        <a:defRPr sz="1100"/>
                      </a:pPr>
                      <a:r>
                        <a:t>개수 자동 · 95% CI 제공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실측 50-스핀 검증 (F1)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0.38 · 상온 0.37 · 오차주입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0.84 · 상온 0.57 · 오차주입 0.61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오탐 (precision)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0.55–1.00 (상온에서 붕괴)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0.87–1.00 (오차주입에도 0.87)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실데이터 NV1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2곳 + 피크 3개</a:t>
                      </a:r>
                    </a:p>
                    <a:p>
                      <a:pPr>
                        <a:defRPr sz="1100"/>
                      </a:pPr>
                      <a:r>
                        <a:t>(개별 스핀 분해 불가)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14개 스핀 확정 (CI 포함)</a:t>
                      </a:r>
                    </a:p>
                    <a:p>
                      <a:pPr>
                        <a:defRPr sz="1100"/>
                      </a:pPr>
                      <a:r>
                        <a:t>3개 측정 동시 재현 RMSE 0.09–0.18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전제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저온·고SNR·N=32/256 장시간 측정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상온·700점·N≤20에서 작동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t>• 공정성 — 2021 수치는 core-pipeline 재현 기준(원방법 하한) · 두 방법 모두 같은 forward model·같은 채점 규칙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모델 비교: 블록 다이어그램</a:t>
            </a:r>
          </a:p>
          <a:p>
            <a:pPr>
              <a:defRPr sz="1200"/>
            </a:pPr>
            <a:r>
              <a:t>회색=입력 · 파랑=표현 · 초록=연산 · 주황=출력 — 위(2021) vs 아래(우리)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구조적 차이 두 가지: ① 윈도우 61개가 고립 판정 vs 어텐션으로 회의  ② 영역 없는 피크 vs 영역 제약 열거(BIC)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1783080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t>2021 방법</a:t>
            </a:r>
          </a:p>
          <a:p>
            <a:r>
              <a:t>(core-pipeline)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91640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CPMG 신호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1채널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5786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저온·장시간 측정 전제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7296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691640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주기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이미지 13×53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578608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후보 주기 1개씩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691640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윈도우별 독립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57860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서로 대화 없음 → 오탐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3056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691640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3-class 확률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(3,)/윈도우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57860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스핀 0/1/2개 확률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1364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69680" y="1691640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피크 검출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A 영역만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257860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개수·B값 미해결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4069079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t>우리 방법</a:t>
            </a:r>
          </a:p>
          <a:p>
            <a:r>
              <a:t>(하이브리드 v2)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977639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신호 3채널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46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N=8/16/20 함께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35808" y="4411979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3977639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61윈도우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토큰(61,3,13,53)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864607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모든 주기 동시에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7316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3977639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어텐션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 간 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진짜 스핀만 통과 · 오탐 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1908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75120" y="3977639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P(spin) → 영역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후보 구간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어디를 팔지 확정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6500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21040" y="3977639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영역 제약</a:t>
            </a:r>
          </a:p>
          <a:p>
            <a:r>
              <a:t>RJMCMC + BIC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물리 공식 피팅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864607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몇 개인지 통계로 결정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3952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95559" y="3977639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스핀 목록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39" y="4864607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NV1 14개 · CI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0632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t>↕ 같은 '주기 접기'에서 출발하지만 — 2021은 여기서 끝(고립 판정), 우리는 접은 61개를 토큰으로 묶어 회의시키고, 그 결과 영역 안에서만 물리 피팅으로 열거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1722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출력의 격 차이 — 2021: A 위치 후보(영역)까지 · 우리: 개수(k*)·결합강도(A⊥)·오차막대(CI)까지 완결    • 검증 격 차이 — 실측 50-스핀 채점 F1 0.35~0.38 vs 0.57~0.84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고원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70916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개수 근거 — BIC 최소 k*=14, RJMCMC 사후 최빈 15와 정합 · 스핀 추가 벌점 통과분만 채택</a:t>
            </a:r>
          </a:p>
          <a:p>
            <a:pPr>
              <a:defRPr sz="1150"/>
            </a:pPr>
            <a:r>
              <a:t>• 통계적 실체 — 14개 전부 95% CI 상호 비겹침 (부트스트랩 60회)</a:t>
            </a:r>
          </a:p>
          <a:p>
            <a:pPr>
              <a:defRPr sz="1150"/>
            </a:pPr>
            <a:r>
              <a:t>• 물리 재현 — 단일 목록으로 N=8/16/20 세 측정 동시 설명, RMSE 0.088/0.116/0.176 (노이즈 바닥 도달)</a:t>
            </a:r>
          </a:p>
          <a:p>
            <a:pPr>
              <a:defRPr sz="1150"/>
            </a:pPr>
            <a:r>
              <a:t>• 외부 정합 — 수동 분석 앵커 NV1 4/4 · NV2 3/3 회수 (부호는 m_s 브랜치 관례 차이)</a:t>
            </a:r>
          </a:p>
          <a:p>
            <a:pPr>
              <a:defRPr sz="1150"/>
            </a:pPr>
            <a:r>
              <a:t>• NV2 주의 — 단일 채널(CPMG-16)이라 A⊥는 대표값 · (+430.7) 축퇴 잔재 가능, CPMG-8/20 추가 측정 시 판정</a:t>
            </a:r>
          </a:p>
          <a:p>
            <a:pPr>
              <a:defRPr sz="1150"/>
            </a:pPr>
            <a:r>
              <a:t>• 목록 외 후보 — NV1 A≈−32±3 (3계열 지지, 최종 피팅 미포함)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