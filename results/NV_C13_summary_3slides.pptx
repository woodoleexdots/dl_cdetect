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고확률 영역까지만(개별 분해 불가) → 제안 방법 14개(결합강도+오차막대)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목록이 아닌 '영역'만 출력</a:t>
                      </a:r>
                    </a:p>
                    <a:p>
                      <a:pPr>
                        <a:defRPr sz="1000"/>
                      </a:pPr>
                      <a:r>
                        <a:t>고확률 영역: A∈[−6,+12]</a:t>
                      </a:r>
                    </a:p>
                    <a:p>
                      <a:pPr>
                        <a:defRPr sz="1000"/>
                      </a:pPr>
                      <a:r>
                        <a:t>(p 0.86~1.00 연속 고원),</a:t>
                      </a:r>
                    </a:p>
                    <a:p>
                      <a:pPr>
                        <a:defRPr sz="1000"/>
                      </a:pPr>
                      <a:r>
                        <a:t>A∈[+40,+46] + 피크 −34, −20, +22</a:t>
                      </a:r>
                    </a:p>
                    <a:p>
                      <a:pPr>
                        <a:defRPr sz="1000"/>
                      </a:pPr>
                      <a:r>
                        <a:t>※ 개별 스핀 분해·B값은</a:t>
                      </a:r>
                    </a:p>
                    <a:p>
                      <a:pPr>
                        <a:defRPr sz="1000"/>
                      </a:pPr>
                      <a:r>
                        <a:t>별도 회귀 단계 필요(미재현)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신뢰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</a:t>
                      </a:r>
                    </a:p>
                    <a:p>
                      <a:pPr>
                        <a:defRPr sz="1000"/>
                      </a:pPr>
                      <a:r>
                        <a:t>(대략 위치 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윈도우 확률 고원 —</a:t>
                      </a:r>
                    </a:p>
                    <a:p>
                      <a:pPr>
                        <a:defRPr sz="1000"/>
                      </a:pPr>
                      <a:r>
                        <a:t>고원 내 개별 스핀 분해 불가</a:t>
                      </a:r>
                    </a:p>
                    <a:p>
                      <a:pPr>
                        <a:defRPr sz="1000"/>
                      </a:pPr>
                      <a:r>
                        <a:t>(예: 최강 스핀 +8이 p=0.95인데도</a:t>
                      </a:r>
                    </a:p>
                    <a:p>
                      <a:pPr>
                        <a:defRPr sz="1000"/>
                      </a:pPr>
                      <a:r>
                        <a:t>피크 검출에서 누락됨)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BIC k*=14 = RJMCMC 최빈 15</a:t>
                      </a:r>
                    </a:p>
                    <a:p>
                      <a:pPr>
                        <a:defRPr sz="950"/>
                      </a:pPr>
                      <a:r>
                        <a:t>CI 상호 비겹침 · 잔차 노이즈 바닥</a:t>
                      </a:r>
                    </a:p>
                    <a:p>
                      <a:pPr>
                        <a:defRPr sz="950"/>
                      </a:pPr>
                      <a:r>
                        <a:t>실데이터 RMSE 0.088/0.116/0.176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④: 방법 간 겹쳐서 찾은 스핀 — 합의 등급</a:t>
            </a:r>
          </a:p>
          <a:p>
            <a:pPr>
              <a:defRPr sz="1200"/>
            </a:pPr>
            <a:r>
              <a:t>허용오차 ±4 kHz · 계열 = 수동 / 2021영역 / CNN뱅크 / DE / SpinDETR / PF / 하이브리드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핵심 스핀은 원리가 다른 모든 방법과 사람 눈까지 일치 — 합의가 낮아지는 순서는 탐색범위를 벗어나는 순서와 일치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371600"/>
            <a:ext cx="5989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NV1 (14스핀 + 후보 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737360"/>
          <a:ext cx="59893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468880"/>
                <a:gridCol w="228600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 7계열</a:t>
                      </a:r>
                    </a:p>
                    <a:p>
                      <a:pPr>
                        <a:defRPr sz="850" b="1"/>
                      </a:pPr>
                      <a:r>
                        <a:t>(+앵커)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(−5.1, 22)  (+8.4, 28)  (+39.0, 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수동·2021영역·CNN·DE·</a:t>
                      </a:r>
                    </a:p>
                    <a:p>
                      <a:pPr>
                        <a:defRPr sz="850"/>
                      </a:pPr>
                      <a:r>
                        <a:t>SpinDETR·PF·하이브리드 전부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5–6계열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(−18.8, 16)  (+0.6, 17)</a:t>
                      </a:r>
                    </a:p>
                    <a:p>
                      <a:pPr>
                        <a:defRPr sz="850"/>
                      </a:pPr>
                      <a:r>
                        <a:t>(+4.0, 26)  (+14.2, 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중앙 고원 합의</a:t>
                      </a:r>
                    </a:p>
                    <a:p>
                      <a:pPr>
                        <a:defRPr sz="850"/>
                      </a:pPr>
                      <a:r>
                        <a:t>(DE 또는 SpinDETR 일부 누락)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3–4계열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(−87.9, 18)*  (+24.3, 20)</a:t>
                      </a:r>
                    </a:p>
                    <a:p>
                      <a:pPr>
                        <a:defRPr sz="850"/>
                      </a:pPr>
                      <a:r>
                        <a:t>(+48.0, 25)  (+65.6, 28)  (+91.9,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*−87.9는 ±60 밖을 보는</a:t>
                      </a:r>
                    </a:p>
                    <a:p>
                      <a:pPr>
                        <a:defRPr sz="850"/>
                      </a:pPr>
                      <a:r>
                        <a:t>방법 전원 일치 + 앵커 −88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(−11.5, 14)  (+114.4, 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 / PF 광역만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📌 목록 외 후보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 ≈ −30~−34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2021(−34)·CNN(−30)·</a:t>
                      </a:r>
                    </a:p>
                    <a:p>
                      <a:pPr>
                        <a:defRPr sz="850"/>
                      </a:pPr>
                      <a:r>
                        <a:t>SpinDETR(−34.4) 3계열 겹침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46520" y="13716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NV2 (10스핀)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73736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148840"/>
                <a:gridCol w="2103120"/>
              </a:tblGrid>
              <a:tr h="7467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(A∥, A⊥)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겹친 계열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🥇 전원+앵커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(+346.9, 261)  (−38.9, 67)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PF±400/±600·DE·하이브리드</a:t>
                      </a:r>
                    </a:p>
                    <a:p>
                      <a:pPr>
                        <a:defRPr sz="850"/>
                      </a:pPr>
                      <a:r>
                        <a:t>전 버전 + 앵커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🥈 4계열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(−58.9, 182)  (−12.6, 42)</a:t>
                      </a:r>
                    </a:p>
                    <a:p>
                      <a:pPr>
                        <a:defRPr sz="850"/>
                      </a:pPr>
                      <a:r>
                        <a:t>(+51.7, 91)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PF·DE·v1·refined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🥉 3계열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(+55.9, 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PF·v1·앙상블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2계열+앵커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(−151.2, 95)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DE·앙상블 + 앵커 +150</a:t>
                      </a:r>
                    </a:p>
                    <a:p>
                      <a:pPr>
                        <a:defRPr sz="850"/>
                      </a:pPr>
                      <a:r>
                        <a:t>(PF만 놓침)</a:t>
                      </a:r>
                    </a:p>
                  </a:txBody>
                  <a:tcPr/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⚠ ≤2계열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(−45.9, 50)  (−2.7, 37)</a:t>
                      </a:r>
                    </a:p>
                    <a:p>
                      <a:pPr>
                        <a:defRPr sz="850"/>
                      </a:pPr>
                      <a:r>
                        <a:t>(+430.7, 58) 보류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하이브리드 계열만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/>
            </a:pPr>
            <a:r>
              <a:t>• 읽는 법: 등급이 낮은 스핀은 '의심스러운' 것이 아니라 대부분 |A|가 커서 좁은-범위 방법들의 시야 밖 — 불일치가 아니라 각 방법의 탐색 범위 문제임이 구조적으로 설명됨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