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요약 ①: 찾아낸 ¹³C 핵스핀 — 세 방법 비교</a:t>
            </a:r>
          </a:p>
          <a:p>
            <a:pPr>
              <a:defRPr sz="1200"/>
            </a:pPr>
            <a:r>
              <a:t>값 = (A∥, A⊥) kHz · 제안 방법은 95% 부트스트랩 CI 보유 (예: −87.9±0.9)</a:t>
            </a:r>
          </a:p>
          <a:p>
            <a:pPr>
              <a:defRPr sz="1400" b="1">
                <a:solidFill>
                  <a:srgbClr val="B45000"/>
                </a:solidFill>
              </a:defRPr>
            </a:pPr>
            <a:r>
              <a:t>▶ 수동 4개 → 2021 방법은 위치 단서 8~9곳(목록 미완성) → 제안 방법 14개 완성(결합강도+오차막대) — 앵커 전부 회수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417320"/>
          <a:ext cx="1156716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2377440"/>
                <a:gridCol w="3017520"/>
                <a:gridCol w="5120640"/>
              </a:tblGrid>
              <a:tr h="128016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이전 ppt (수동 분석)</a:t>
                      </a:r>
                    </a:p>
                  </a:txBody>
                  <a:tcPr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2021 방법 (core-pipeline 재현)</a:t>
                      </a:r>
                    </a:p>
                  </a:txBody>
                  <a:tcPr>
                    <a:solidFill>
                      <a:srgbClr val="F2D5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제안 방법 (하이브리드 앙상블)</a:t>
                      </a:r>
                    </a:p>
                  </a:txBody>
                  <a:tcPr>
                    <a:solidFill>
                      <a:srgbClr val="D9EAD3"/>
                    </a:solidFill>
                  </a:tcPr>
                </a:tc>
              </a:tr>
              <a:tr h="1280160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NV1</a:t>
                      </a:r>
                    </a:p>
                    <a:p>
                      <a:pPr>
                        <a:defRPr sz="1000"/>
                      </a:pPr>
                      <a:r>
                        <a:t>검출 스핀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4개</a:t>
                      </a:r>
                    </a:p>
                    <a:p>
                      <a:pPr>
                        <a:defRPr sz="1000"/>
                      </a:pPr>
                      <a:r>
                        <a:t>(−88, 47)</a:t>
                      </a:r>
                    </a:p>
                    <a:p>
                      <a:pPr>
                        <a:defRPr sz="1000"/>
                      </a:pPr>
                      <a:r>
                        <a:t>(−5, 35)</a:t>
                      </a:r>
                    </a:p>
                    <a:p>
                      <a:pPr>
                        <a:defRPr sz="1000"/>
                      </a:pPr>
                      <a:r>
                        <a:t>(+8, 31)</a:t>
                      </a:r>
                    </a:p>
                    <a:p>
                      <a:pPr>
                        <a:defRPr sz="1000"/>
                      </a:pPr>
                      <a:r>
                        <a:t>(−38, 37)*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위치 단서까지는 성공 —</a:t>
                      </a:r>
                    </a:p>
                    <a:p>
                      <a:pPr>
                        <a:defRPr sz="1000"/>
                      </a:pPr>
                      <a:r>
                        <a:t>최종 14개 중 8~9개의 위치를</a:t>
                      </a:r>
                    </a:p>
                    <a:p>
                      <a:pPr>
                        <a:defRPr sz="1000"/>
                      </a:pPr>
                      <a:r>
                        <a:t>영역/피크 수준으로 지목:</a:t>
                      </a:r>
                    </a:p>
                    <a:p>
                      <a:pPr>
                        <a:defRPr sz="1000"/>
                      </a:pPr>
                      <a:r>
                        <a:t>[−6,+12](5개 포함), [+40,+46],</a:t>
                      </a:r>
                    </a:p>
                    <a:p>
                      <a:pPr>
                        <a:defRPr sz="1000"/>
                      </a:pPr>
                      <a:r>
                        <a:t>−20, +22, −34</a:t>
                      </a:r>
                    </a:p>
                    <a:p>
                      <a:pPr>
                        <a:defRPr sz="1000"/>
                      </a:pPr>
                      <a:r>
                        <a:t>※ 단 개수·B값·정확한 A로</a:t>
                      </a:r>
                    </a:p>
                    <a:p>
                      <a:pPr>
                        <a:defRPr sz="1000"/>
                      </a:pPr>
                      <a:r>
                        <a:t>완성하는 후반 단계는 미재현</a:t>
                      </a:r>
                    </a:p>
                    <a:p>
                      <a:pPr>
                        <a:defRPr sz="1000"/>
                      </a:pPr>
                      <a:r>
                        <a:t>→ 스핀 '목록'은 미산출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/>
                      </a:pPr>
                      <a:r>
                        <a:t>14개 — (A∥, A⊥) 완비</a:t>
                      </a:r>
                    </a:p>
                    <a:p>
                      <a:pPr>
                        <a:defRPr sz="950"/>
                      </a:pPr>
                      <a:r>
                        <a:t>(−87.9,18) (−18.8,16) (−11.5,14) (−5.1,22)</a:t>
                      </a:r>
                    </a:p>
                    <a:p>
                      <a:pPr>
                        <a:defRPr sz="950"/>
                      </a:pPr>
                      <a:r>
                        <a:t>(+0.6,17) (+4.0,26) (+8.4,28) (+14.2,22)</a:t>
                      </a:r>
                    </a:p>
                    <a:p>
                      <a:pPr>
                        <a:defRPr sz="950"/>
                      </a:pPr>
                      <a:r>
                        <a:t>(+24.3,20) (+39.0,28) (+48.0,25) (+65.6,28)</a:t>
                      </a:r>
                    </a:p>
                    <a:p>
                      <a:pPr>
                        <a:defRPr sz="950"/>
                      </a:pPr>
                      <a:r>
                        <a:t>(+91.9,33) (+114.4,24)</a:t>
                      </a:r>
                    </a:p>
                  </a:txBody>
                  <a:tcPr/>
                </a:tc>
              </a:tr>
              <a:tr h="1280160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NV2</a:t>
                      </a:r>
                    </a:p>
                    <a:p>
                      <a:pPr>
                        <a:defRPr sz="1000"/>
                      </a:pPr>
                      <a:r>
                        <a:t>검출 스핀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3개</a:t>
                      </a:r>
                    </a:p>
                    <a:p>
                      <a:pPr>
                        <a:defRPr sz="1000"/>
                      </a:pPr>
                      <a:r>
                        <a:t>(−340, 290)</a:t>
                      </a:r>
                    </a:p>
                    <a:p>
                      <a:pPr>
                        <a:defRPr sz="1000"/>
                      </a:pPr>
                      <a:r>
                        <a:t>(+150, 110)</a:t>
                      </a:r>
                    </a:p>
                    <a:p>
                      <a:pPr>
                        <a:defRPr sz="1000"/>
                      </a:pPr>
                      <a:r>
                        <a:t>(−42, 150)*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— (미평가:</a:t>
                      </a:r>
                    </a:p>
                    <a:p>
                      <a:pPr>
                        <a:defRPr sz="1000"/>
                      </a:pPr>
                      <a:r>
                        <a:t>단일 채널·강결합은</a:t>
                      </a:r>
                    </a:p>
                    <a:p>
                      <a:pPr>
                        <a:defRPr sz="1000"/>
                      </a:pPr>
                      <a:r>
                        <a:t>원방법 적용 범위 밖)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/>
                      </a:pPr>
                      <a:r>
                        <a:t>10개 — 앵커 3/3 회수 포함</a:t>
                      </a:r>
                    </a:p>
                    <a:p>
                      <a:pPr>
                        <a:defRPr sz="950"/>
                      </a:pPr>
                      <a:r>
                        <a:t>(−151.2,95) (−58.9,182) (−45.9,50)</a:t>
                      </a:r>
                    </a:p>
                    <a:p>
                      <a:pPr>
                        <a:defRPr sz="950"/>
                      </a:pPr>
                      <a:r>
                        <a:t>(−38.9,67) (−12.6,42) (−2.7,37)</a:t>
                      </a:r>
                    </a:p>
                    <a:p>
                      <a:pPr>
                        <a:defRPr sz="950"/>
                      </a:pPr>
                      <a:r>
                        <a:t>(+51.7,91) (+55.9,55) (+346.9,261)</a:t>
                      </a:r>
                    </a:p>
                    <a:p>
                      <a:pPr>
                        <a:defRPr sz="950"/>
                      </a:pPr>
                      <a:r>
                        <a:t>(+430.7,58)⚠</a:t>
                      </a:r>
                    </a:p>
                  </a:txBody>
                  <a:tcPr/>
                </a:tc>
              </a:tr>
              <a:tr h="1280160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신뢰 근거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눈 판독</a:t>
                      </a:r>
                    </a:p>
                    <a:p>
                      <a:pPr>
                        <a:defRPr sz="1000"/>
                      </a:pPr>
                      <a:r>
                        <a:t>(대략 위치 앵커)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윈도우 확률 고원 —</a:t>
                      </a:r>
                    </a:p>
                    <a:p>
                      <a:pPr>
                        <a:defRPr sz="1000"/>
                      </a:pPr>
                      <a:r>
                        <a:t>고원 내 개별 스핀 분해 불가</a:t>
                      </a:r>
                    </a:p>
                    <a:p>
                      <a:pPr>
                        <a:defRPr sz="1000"/>
                      </a:pPr>
                      <a:r>
                        <a:t>(예: 최강 스핀 +8이 p=0.95인데도</a:t>
                      </a:r>
                    </a:p>
                    <a:p>
                      <a:pPr>
                        <a:defRPr sz="1000"/>
                      </a:pPr>
                      <a:r>
                        <a:t>피크 검출에서 누락됨)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/>
                      </a:pPr>
                      <a:r>
                        <a:t>BIC k*=14 = RJMCMC 최빈 15</a:t>
                      </a:r>
                    </a:p>
                    <a:p>
                      <a:pPr>
                        <a:defRPr sz="950"/>
                      </a:pPr>
                      <a:r>
                        <a:t>CI 상호 비겹침 · 잔차 노이즈 바닥</a:t>
                      </a:r>
                    </a:p>
                    <a:p>
                      <a:pPr>
                        <a:defRPr sz="950"/>
                      </a:pPr>
                      <a:r>
                        <a:t>실데이터 RMSE 0.088/0.116/0.176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651052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*수동 분석의 A∥ 부호는 m_s 브랜치 관례 차이 · ⚠ = 단일 채널 축퇴로 보류 · 2021 방법 수치는 core-pipeline 재현 기준(원방법 하한)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정면 비교: 2021 방법 vs 우리 방법</a:t>
            </a:r>
          </a:p>
          <a:p>
            <a:pPr>
              <a:defRPr sz="1200"/>
            </a:pPr>
            <a:r>
              <a:t>나머지 모델들(CNN뱅크·SpinDETR·PF단독·DE·RJMCMC)은 이 결론을 떠받치는 ablation·베이스라인</a:t>
            </a:r>
          </a:p>
          <a:p>
            <a:pPr>
              <a:defRPr sz="1400" b="1">
                <a:solidFill>
                  <a:srgbClr val="B45000"/>
                </a:solidFill>
              </a:defRPr>
            </a:pPr>
            <a:r>
              <a:t>▶ 같은 실측 스핀 환경에서 채점한 결과 — 저온 ×2.2, 상온 ×1.5, 오차주입 ×1.7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463040"/>
          <a:ext cx="1147572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80560"/>
                <a:gridCol w="4983480"/>
              </a:tblGrid>
              <a:tr h="705394">
                <a:tc>
                  <a:txBody>
                    <a:bodyPr/>
                    <a:lstStyle/>
                    <a:p>
                      <a:pPr>
                        <a:defRPr sz="1300" b="1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2021 방법 (core-pipeline 재현)</a:t>
                      </a:r>
                    </a:p>
                  </a:txBody>
                  <a:tcPr>
                    <a:solidFill>
                      <a:srgbClr val="F2D5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우리 방법 (PF→RJMCMC 하이브리드 v2)</a:t>
                      </a:r>
                    </a:p>
                  </a:txBody>
                  <a:tcPr>
                    <a:solidFill>
                      <a:srgbClr val="D9EAD3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구조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윈도우별 독립 MLP 61개</a:t>
                      </a:r>
                    </a:p>
                    <a:p>
                      <a:pPr>
                        <a:defRPr sz="1100"/>
                      </a:pPr>
                      <a:r>
                        <a:t>+ 별도 디노이저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신경망 탐지(윈도우 간 어텐션)</a:t>
                      </a:r>
                    </a:p>
                    <a:p>
                      <a:pPr>
                        <a:defRPr sz="1100"/>
                      </a:pPr>
                      <a:r>
                        <a:t>+ 영역 제약 물리 피팅 + BIC</a:t>
                      </a:r>
                    </a:p>
                  </a:txBody>
                  <a:tcPr/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출력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고확률 영역 (A 위치 후보)</a:t>
                      </a:r>
                    </a:p>
                    <a:p>
                      <a:pPr>
                        <a:defRPr sz="1100"/>
                      </a:pPr>
                      <a:r>
                        <a:t>B·개수는 별도 단계 필요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최종 스핀 목록 {(A∥, A⊥)} × k*</a:t>
                      </a:r>
                    </a:p>
                    <a:p>
                      <a:pPr>
                        <a:defRPr sz="1100"/>
                      </a:pPr>
                      <a:r>
                        <a:t>개수 자동 · 95% CI 제공</a:t>
                      </a:r>
                    </a:p>
                  </a:txBody>
                  <a:tcPr/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실측 50-스핀 검증 (F1)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저온 0.38 · 상온 0.37 · 오차주입 0.35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저온 0.84 · 상온 0.57 · 오차주입 0.61</a:t>
                      </a:r>
                    </a:p>
                  </a:txBody>
                  <a:tcPr/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오탐 (precision)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0.55–1.00 (상온에서 붕괴)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0.87–1.00 (오차주입에도 0.87)</a:t>
                      </a:r>
                    </a:p>
                  </a:txBody>
                  <a:tcPr/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실데이터 NV1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고확률 영역 2곳 + 피크 3개</a:t>
                      </a:r>
                    </a:p>
                    <a:p>
                      <a:pPr>
                        <a:defRPr sz="1100"/>
                      </a:pPr>
                      <a:r>
                        <a:t>(개별 스핀 분해 불가)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14개 스핀 확정 (CI 포함)</a:t>
                      </a:r>
                    </a:p>
                    <a:p>
                      <a:pPr>
                        <a:defRPr sz="1100"/>
                      </a:pPr>
                      <a:r>
                        <a:t>3개 측정 동시 재현 RMSE 0.09–0.18</a:t>
                      </a:r>
                    </a:p>
                  </a:txBody>
                  <a:tcPr/>
                </a:tc>
              </a:tr>
              <a:tr h="705396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전제 조건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저온·고SNR·N=32/256 장시간 측정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상온·700점·N≤20에서 작동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6473952"/>
            <a:ext cx="11430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/>
            </a:pPr>
            <a:r>
              <a:t>• 공정성 — 2021 수치는 core-pipeline 재현 기준(원방법 하한) · 두 방법 모두 같은 forward model·같은 채점 규칙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모델 비교: 블록 다이어그램</a:t>
            </a:r>
          </a:p>
          <a:p>
            <a:pPr>
              <a:defRPr sz="1200"/>
            </a:pPr>
            <a:r>
              <a:t>회색=입력 · 파랑=표현 · 초록=연산 · 주황=출력 — 위(2021) vs 아래(우리)</a:t>
            </a:r>
          </a:p>
          <a:p>
            <a:pPr>
              <a:defRPr sz="1400" b="1">
                <a:solidFill>
                  <a:srgbClr val="B45000"/>
                </a:solidFill>
              </a:defRPr>
            </a:pPr>
            <a:r>
              <a:t>▶ 구조적 차이 두 가지: ① 윈도우 61개가 고립 판정 vs 어텐션으로 회의  ② 영역 없는 피크 vs 영역 제약 열거(BIC)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1783080"/>
            <a:ext cx="1600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B3A2F"/>
                </a:solidFill>
              </a:defRPr>
            </a:pPr>
            <a:r>
              <a:t>2021 방법</a:t>
            </a:r>
          </a:p>
          <a:p>
            <a:r>
              <a:t>(core-pipeline)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1691640"/>
            <a:ext cx="1325880" cy="868680"/>
          </a:xfrm>
          <a:prstGeom prst="roundRect">
            <a:avLst/>
          </a:prstGeom>
          <a:solidFill>
            <a:srgbClr val="E8E8E8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1A"/>
                </a:solidFill>
              </a:defRPr>
            </a:pPr>
            <a:r>
              <a:t>CPMG 신호</a:t>
            </a:r>
          </a:p>
          <a:p>
            <a:pPr algn="ctr">
              <a:defRPr sz="850">
                <a:solidFill>
                  <a:srgbClr val="7A0000"/>
                </a:solidFill>
              </a:defRPr>
            </a:pPr>
            <a:r>
              <a:t>1채널 (700,)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3080" y="2578608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444444"/>
                </a:solidFill>
              </a:defRPr>
            </a:pPr>
            <a:r>
              <a:t>저온·장시간 측정 전제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172968" y="2125980"/>
            <a:ext cx="237744" cy="0"/>
          </a:xfrm>
          <a:prstGeom prst="line">
            <a:avLst/>
          </a:prstGeom>
          <a:ln w="285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429000" y="1691640"/>
            <a:ext cx="1417320" cy="868680"/>
          </a:xfrm>
          <a:prstGeom prst="roundRect">
            <a:avLst/>
          </a:prstGeom>
          <a:solidFill>
            <a:srgbClr val="DBE9F8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1A"/>
                </a:solidFill>
              </a:defRPr>
            </a:pPr>
            <a:r>
              <a:t>주기 접기</a:t>
            </a:r>
          </a:p>
          <a:p>
            <a:pPr algn="ctr">
              <a:defRPr sz="850">
                <a:solidFill>
                  <a:srgbClr val="7A0000"/>
                </a:solidFill>
              </a:defRPr>
            </a:pPr>
            <a:r>
              <a:t>이미지 13×53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578608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444444"/>
                </a:solidFill>
              </a:defRPr>
            </a:pPr>
            <a:r>
              <a:t>후보 주기 1개씩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864607" y="2125980"/>
            <a:ext cx="237745" cy="0"/>
          </a:xfrm>
          <a:prstGeom prst="line">
            <a:avLst/>
          </a:prstGeom>
          <a:ln w="285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120640" y="1691640"/>
            <a:ext cx="1691640" cy="868680"/>
          </a:xfrm>
          <a:prstGeom prst="roundRect">
            <a:avLst/>
          </a:prstGeom>
          <a:solidFill>
            <a:srgbClr val="DFF2DF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1A"/>
                </a:solidFill>
              </a:defRPr>
            </a:pPr>
            <a:r>
              <a:t>MLP ×61</a:t>
            </a:r>
          </a:p>
          <a:p>
            <a:pPr algn="ctr">
              <a:defRPr sz="850">
                <a:solidFill>
                  <a:srgbClr val="7A0000"/>
                </a:solidFill>
              </a:defRPr>
            </a:pPr>
            <a:r>
              <a:t>윈도우별 독립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257860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444444"/>
                </a:solidFill>
              </a:defRPr>
            </a:pPr>
            <a:r>
              <a:t>서로 대화 없음 → 오탐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30567" y="2125980"/>
            <a:ext cx="237745" cy="0"/>
          </a:xfrm>
          <a:prstGeom prst="line">
            <a:avLst/>
          </a:prstGeom>
          <a:ln w="285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086600" y="1691640"/>
            <a:ext cx="1508760" cy="868680"/>
          </a:xfrm>
          <a:prstGeom prst="roundRect">
            <a:avLst/>
          </a:prstGeom>
          <a:solidFill>
            <a:srgbClr val="DFF2DF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1A"/>
                </a:solidFill>
              </a:defRPr>
            </a:pPr>
            <a:r>
              <a:t>3-class 확률</a:t>
            </a:r>
          </a:p>
          <a:p>
            <a:pPr algn="ctr">
              <a:defRPr sz="850">
                <a:solidFill>
                  <a:srgbClr val="7A0000"/>
                </a:solidFill>
              </a:defRPr>
            </a:pPr>
            <a:r>
              <a:t>(3,)/윈도우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2578608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444444"/>
                </a:solidFill>
              </a:defRPr>
            </a:pPr>
            <a:r>
              <a:t>스핀 0/1/2개 확률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613648" y="2125980"/>
            <a:ext cx="237744" cy="0"/>
          </a:xfrm>
          <a:prstGeom prst="line">
            <a:avLst/>
          </a:prstGeom>
          <a:ln w="285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869680" y="1691640"/>
            <a:ext cx="1371600" cy="868680"/>
          </a:xfrm>
          <a:prstGeom prst="roundRect">
            <a:avLst/>
          </a:prstGeom>
          <a:solidFill>
            <a:srgbClr val="FDEBD0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1A"/>
                </a:solidFill>
              </a:defRPr>
            </a:pPr>
            <a:r>
              <a:t>피크 검출</a:t>
            </a:r>
          </a:p>
          <a:p>
            <a:pPr algn="ctr">
              <a:defRPr sz="850">
                <a:solidFill>
                  <a:srgbClr val="7A0000"/>
                </a:solidFill>
              </a:defRPr>
            </a:pPr>
            <a:r>
              <a:t>A 영역만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59" y="2578608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444444"/>
                </a:solidFill>
              </a:defRPr>
            </a:pPr>
            <a:r>
              <a:t>개수·B값 미해결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" y="4069079"/>
            <a:ext cx="1600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C0000"/>
                </a:solidFill>
              </a:defRPr>
            </a:pPr>
            <a:r>
              <a:t>우리 방법</a:t>
            </a:r>
          </a:p>
          <a:p>
            <a:r>
              <a:t>(하이브리드 v2)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28800" y="3977639"/>
            <a:ext cx="1188720" cy="868680"/>
          </a:xfrm>
          <a:prstGeom prst="roundRect">
            <a:avLst/>
          </a:prstGeom>
          <a:solidFill>
            <a:srgbClr val="E8E8E8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1A"/>
                </a:solidFill>
              </a:defRPr>
            </a:pPr>
            <a:r>
              <a:t>신호 3채널</a:t>
            </a:r>
          </a:p>
          <a:p>
            <a:pPr algn="ctr">
              <a:defRPr sz="850">
                <a:solidFill>
                  <a:srgbClr val="7A0000"/>
                </a:solidFill>
              </a:defRPr>
            </a:pPr>
            <a:r>
              <a:t>(3, 700)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4864607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444444"/>
                </a:solidFill>
              </a:defRPr>
            </a:pPr>
            <a:r>
              <a:t>N=8/16/20 함께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035808" y="4411979"/>
            <a:ext cx="237743" cy="0"/>
          </a:xfrm>
          <a:prstGeom prst="line">
            <a:avLst/>
          </a:prstGeom>
          <a:ln w="285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291840" y="3977639"/>
            <a:ext cx="1463040" cy="868680"/>
          </a:xfrm>
          <a:prstGeom prst="roundRect">
            <a:avLst/>
          </a:prstGeom>
          <a:solidFill>
            <a:srgbClr val="DBE9F8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1A"/>
                </a:solidFill>
              </a:defRPr>
            </a:pPr>
            <a:r>
              <a:t>61윈도우 접기</a:t>
            </a:r>
          </a:p>
          <a:p>
            <a:pPr algn="ctr">
              <a:defRPr sz="850">
                <a:solidFill>
                  <a:srgbClr val="7A0000"/>
                </a:solidFill>
              </a:defRPr>
            </a:pPr>
            <a:r>
              <a:t>토큰(61,3,13,53)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46120" y="4864607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444444"/>
                </a:solidFill>
              </a:defRPr>
            </a:pPr>
            <a:r>
              <a:t>모든 주기 동시에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773168" y="4411979"/>
            <a:ext cx="237744" cy="0"/>
          </a:xfrm>
          <a:prstGeom prst="line">
            <a:avLst/>
          </a:prstGeom>
          <a:ln w="285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029200" y="3977639"/>
            <a:ext cx="1371600" cy="868680"/>
          </a:xfrm>
          <a:prstGeom prst="roundRect">
            <a:avLst/>
          </a:prstGeom>
          <a:solidFill>
            <a:srgbClr val="DFF2DF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1A"/>
                </a:solidFill>
              </a:defRPr>
            </a:pPr>
            <a:r>
              <a:t>어텐션 ×4</a:t>
            </a:r>
          </a:p>
          <a:p>
            <a:pPr algn="ctr">
              <a:defRPr sz="850">
                <a:solidFill>
                  <a:srgbClr val="7A0000"/>
                </a:solidFill>
              </a:defRPr>
            </a:pPr>
            <a:r>
              <a:t>윈도우 간 회의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83480" y="4864607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444444"/>
                </a:solidFill>
              </a:defRPr>
            </a:pPr>
            <a:r>
              <a:t>진짜 스핀만 통과 · 오탐 0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419088" y="4411979"/>
            <a:ext cx="237744" cy="0"/>
          </a:xfrm>
          <a:prstGeom prst="line">
            <a:avLst/>
          </a:prstGeom>
          <a:ln w="285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675120" y="3977639"/>
            <a:ext cx="1371600" cy="868680"/>
          </a:xfrm>
          <a:prstGeom prst="roundRect">
            <a:avLst/>
          </a:prstGeom>
          <a:solidFill>
            <a:srgbClr val="FDEBD0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1A"/>
                </a:solidFill>
              </a:defRPr>
            </a:pPr>
            <a:r>
              <a:t>P(spin) → 영역</a:t>
            </a:r>
          </a:p>
          <a:p>
            <a:pPr algn="ctr">
              <a:defRPr sz="850">
                <a:solidFill>
                  <a:srgbClr val="7A0000"/>
                </a:solidFill>
              </a:defRPr>
            </a:pPr>
            <a:r>
              <a:t>후보 구간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4864607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444444"/>
                </a:solidFill>
              </a:defRPr>
            </a:pPr>
            <a:r>
              <a:t>어디를 팔지 확정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065008" y="4411979"/>
            <a:ext cx="237744" cy="0"/>
          </a:xfrm>
          <a:prstGeom prst="line">
            <a:avLst/>
          </a:prstGeom>
          <a:ln w="285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321040" y="3977639"/>
            <a:ext cx="1600200" cy="868680"/>
          </a:xfrm>
          <a:prstGeom prst="roundRect">
            <a:avLst/>
          </a:prstGeom>
          <a:solidFill>
            <a:srgbClr val="DFF2DF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1A"/>
                </a:solidFill>
              </a:defRPr>
            </a:pPr>
            <a:r>
              <a:t>영역 제약</a:t>
            </a:r>
          </a:p>
          <a:p>
            <a:r>
              <a:t>RJMCMC + BIC</a:t>
            </a:r>
          </a:p>
          <a:p>
            <a:pPr algn="ctr">
              <a:defRPr sz="850">
                <a:solidFill>
                  <a:srgbClr val="7A0000"/>
                </a:solidFill>
              </a:defRPr>
            </a:pPr>
            <a:r>
              <a:t>물리 공식 피팅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19" y="4864607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444444"/>
                </a:solidFill>
              </a:defRPr>
            </a:pPr>
            <a:r>
              <a:t>몇 개인지 통계로 결정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939528" y="4411979"/>
            <a:ext cx="237744" cy="0"/>
          </a:xfrm>
          <a:prstGeom prst="line">
            <a:avLst/>
          </a:prstGeom>
          <a:ln w="285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10195559" y="3977639"/>
            <a:ext cx="1417320" cy="868680"/>
          </a:xfrm>
          <a:prstGeom prst="roundRect">
            <a:avLst/>
          </a:prstGeom>
          <a:solidFill>
            <a:srgbClr val="FDEBD0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1A"/>
                </a:solidFill>
              </a:defRPr>
            </a:pPr>
            <a:r>
              <a:t>스핀 목록</a:t>
            </a:r>
          </a:p>
          <a:p>
            <a:pPr algn="ctr">
              <a:defRPr sz="850">
                <a:solidFill>
                  <a:srgbClr val="7A0000"/>
                </a:solidFill>
              </a:defRPr>
            </a:pPr>
            <a:r>
              <a:t>{(A∥,A⊥)}×k*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49839" y="4864607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444444"/>
                </a:solidFill>
              </a:defRPr>
            </a:pPr>
            <a:r>
              <a:t>NV1 14개 · CI 포함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28800" y="306324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155CC"/>
                </a:solidFill>
              </a:defRPr>
            </a:pPr>
            <a:r>
              <a:t>↕ 같은 '주기 접기'에서 출발하지만 — 2021은 여기서 끝(고립 판정), 우리는 접은 61개를 토큰으로 묶어 회의시키고, 그 결과 영역 안에서만 물리 피팅으로 열거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1722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/>
            </a:pPr>
            <a:r>
              <a:t>• 출력의 격 차이 — 2021: A 위치 후보(영역)까지 · 우리: 개수(k*)·결합강도(A⊥)·오차막대(CI)까지 완결    • 검증 격 차이 — 실측 50-스핀 채점 F1 0.35~0.38 vs 0.57~0.84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요약 ②: 공개 실측 50-스핀 배스로 검증</a:t>
            </a:r>
          </a:p>
          <a:p>
            <a:pPr>
              <a:defRPr sz="1200"/>
            </a:pPr>
            <a:r>
              <a:t>van de Stolpe 2024 (4TU 공개) — Jung 2021과 같은 NV 계보 · 정답을 아는 유일한 실제 스핀 환경</a:t>
            </a:r>
          </a:p>
          <a:p>
            <a:pPr>
              <a:defRPr sz="1400" b="1">
                <a:solidFill>
                  <a:srgbClr val="B45000"/>
                </a:solidFill>
              </a:defRPr>
            </a:pPr>
            <a:r>
              <a:t>▶ 저온 트윈 21/27 회수(RMSE 0.074) · 상온 트윈 11/27·오탐 0 — 스핀 값은 학습에 미사용(순수 테스트)</a:t>
            </a:r>
          </a:p>
        </p:txBody>
      </p:sp>
      <p:pic>
        <p:nvPicPr>
          <p:cNvPr id="3" name="Picture 2" descr="26_twin_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25880"/>
            <a:ext cx="9692640" cy="498478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35508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• 벤치마크 종합(F1): 제안 하이브리드 v2가 저온 0.84 / 상온 0.57 / 오차주입 0.61로 전 조건 1위 (2021 재현 0.38/0.37/0.35, 고전 DE 0.71/0.50/0.48, RJMCMC 0.84/0.56/0.52)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요약 ③: 실제 CPMG 데이터 (NV1: N=8/16/20 · NV2: N=16)와 최종 피팅</a:t>
            </a:r>
          </a:p>
          <a:p>
            <a:pPr>
              <a:defRPr sz="1200"/>
            </a:pPr>
            <a:r>
              <a:t>회색 = 실험 · 빨강 = 검출 스핀들의 forward model (그린 것이 아니라 물리 공식으로 계산된 예측)</a:t>
            </a:r>
          </a:p>
          <a:p>
            <a:pPr>
              <a:defRPr sz="1400" b="1">
                <a:solidFill>
                  <a:srgbClr val="B45000"/>
                </a:solidFill>
              </a:defRPr>
            </a:pPr>
            <a:r>
              <a:t>▶ NV1 14스핀이 세 측정(N=8/16/20)을 동시에 재현(RMSE 0.088/0.116/0.176) · NV2 10스핀 RMSE 0.286</a:t>
            </a:r>
          </a:p>
        </p:txBody>
      </p:sp>
      <p:pic>
        <p:nvPicPr>
          <p:cNvPr id="3" name="Picture 2" descr="21_ensemble_overlay_N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417320"/>
            <a:ext cx="6035040" cy="3664131"/>
          </a:xfrm>
          <a:prstGeom prst="rect">
            <a:avLst/>
          </a:prstGeom>
        </p:spPr>
      </p:pic>
      <p:pic>
        <p:nvPicPr>
          <p:cNvPr id="4" name="Picture 3" descr="22_ensemble_overlay_N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417320"/>
            <a:ext cx="5577840" cy="258971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26364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• 왼쪽 NV1: 위→아래 N=8/16/20 — 같은 14개 스핀 목록 하나가 세 데이터를 모두 설명    • 오른쪽 NV2: 강결합 프린지 구조까지 추적 (단일 채널 한계로 1개 스핀 보류)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요약 ④: 방법 간 겹쳐서 찾은 스핀 — 합의 등급</a:t>
            </a:r>
          </a:p>
          <a:p>
            <a:pPr>
              <a:defRPr sz="1200"/>
            </a:pPr>
            <a:r>
              <a:t>허용오차 ±4 kHz · 계열 = 수동 / 2021영역 / CNN뱅크 / DE / SpinDETR / PF / 하이브리드</a:t>
            </a:r>
          </a:p>
          <a:p>
            <a:pPr>
              <a:defRPr sz="1400" b="1">
                <a:solidFill>
                  <a:srgbClr val="B45000"/>
                </a:solidFill>
              </a:defRPr>
            </a:pPr>
            <a:r>
              <a:t>▶ 핵심 스핀은 원리가 다른 모든 방법과 사람 눈까지 일치 — 합의가 낮아지는 순서는 탐색범위를 벗어나는 순서와 일치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371600"/>
            <a:ext cx="5989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NV1 (14스핀 + 후보 1)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737360"/>
          <a:ext cx="598932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2468880"/>
                <a:gridCol w="2286000"/>
              </a:tblGrid>
              <a:tr h="746760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등급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스핀 (A∥, A⊥)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겹친 계열</a:t>
                      </a:r>
                    </a:p>
                  </a:txBody>
                  <a:tcPr/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850" b="1"/>
                      </a:pPr>
                      <a:r>
                        <a:t>🥇 전원 7계열</a:t>
                      </a:r>
                    </a:p>
                    <a:p>
                      <a:pPr>
                        <a:defRPr sz="850" b="1"/>
                      </a:pPr>
                      <a:r>
                        <a:t>(+앵커)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(−5.1, 22)  (+8.4, 28)  (+39.0, 28)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수동·2021영역·CNN·DE·</a:t>
                      </a:r>
                    </a:p>
                    <a:p>
                      <a:pPr>
                        <a:defRPr sz="850"/>
                      </a:pPr>
                      <a:r>
                        <a:t>SpinDETR·PF·하이브리드 전부</a:t>
                      </a:r>
                    </a:p>
                  </a:txBody>
                  <a:tcPr/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850" b="1"/>
                      </a:pPr>
                      <a:r>
                        <a:t>🥈 5–6계열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(−18.8, 16)  (+0.6, 17)</a:t>
                      </a:r>
                    </a:p>
                    <a:p>
                      <a:pPr>
                        <a:defRPr sz="850"/>
                      </a:pPr>
                      <a:r>
                        <a:t>(+4.0, 26)  (+14.2, 22)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중앙 고원 합의</a:t>
                      </a:r>
                    </a:p>
                    <a:p>
                      <a:pPr>
                        <a:defRPr sz="850"/>
                      </a:pPr>
                      <a:r>
                        <a:t>(DE 또는 SpinDETR 일부 누락)</a:t>
                      </a:r>
                    </a:p>
                  </a:txBody>
                  <a:tcPr/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850" b="1"/>
                      </a:pPr>
                      <a:r>
                        <a:t>🥉 3–4계열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(−87.9, 18)*  (+24.3, 20)</a:t>
                      </a:r>
                    </a:p>
                    <a:p>
                      <a:pPr>
                        <a:defRPr sz="850"/>
                      </a:pPr>
                      <a:r>
                        <a:t>(+48.0, 25)  (+65.6, 28)  (+91.9, 33)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*−87.9는 ±60 밖을 보는</a:t>
                      </a:r>
                    </a:p>
                    <a:p>
                      <a:pPr>
                        <a:defRPr sz="850"/>
                      </a:pPr>
                      <a:r>
                        <a:t>방법 전원 일치 + 앵커 −88</a:t>
                      </a:r>
                    </a:p>
                  </a:txBody>
                  <a:tcPr/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850" b="1"/>
                      </a:pPr>
                      <a:r>
                        <a:t>⚠ ≤2계열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(−11.5, 14)  (+114.4, 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하이브리드 계열 / PF 광역만</a:t>
                      </a:r>
                    </a:p>
                  </a:txBody>
                  <a:tcPr/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850" b="1"/>
                      </a:pPr>
                      <a:r>
                        <a:t>📌 목록 외 후보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A ≈ −30~−34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2021(−34)·CNN(−30)·</a:t>
                      </a:r>
                    </a:p>
                    <a:p>
                      <a:pPr>
                        <a:defRPr sz="850"/>
                      </a:pPr>
                      <a:r>
                        <a:t>SpinDETR(−34.4) 3계열 겹침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46520" y="13716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NV2 (10스핀)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46520" y="1737360"/>
          <a:ext cx="54864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2148840"/>
                <a:gridCol w="2103120"/>
              </a:tblGrid>
              <a:tr h="746760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등급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스핀 (A∥, A⊥)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겹친 계열</a:t>
                      </a:r>
                    </a:p>
                  </a:txBody>
                  <a:tcPr/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850" b="1"/>
                      </a:pPr>
                      <a:r>
                        <a:t>🥇 전원+앵커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(+346.9, 261)  (−38.9, 67)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PF±400/±600·DE·하이브리드</a:t>
                      </a:r>
                    </a:p>
                    <a:p>
                      <a:pPr>
                        <a:defRPr sz="850"/>
                      </a:pPr>
                      <a:r>
                        <a:t>전 버전 + 앵커</a:t>
                      </a:r>
                    </a:p>
                  </a:txBody>
                  <a:tcPr/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850" b="1"/>
                      </a:pPr>
                      <a:r>
                        <a:t>🥈 4계열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(−58.9, 182)  (−12.6, 42)</a:t>
                      </a:r>
                    </a:p>
                    <a:p>
                      <a:pPr>
                        <a:defRPr sz="850"/>
                      </a:pPr>
                      <a:r>
                        <a:t>(+51.7, 91)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PF·DE·v1·refined</a:t>
                      </a:r>
                    </a:p>
                  </a:txBody>
                  <a:tcPr/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850" b="1"/>
                      </a:pPr>
                      <a:r>
                        <a:t>🥉 3계열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(+55.9, 55)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PF·v1·앙상블</a:t>
                      </a:r>
                    </a:p>
                  </a:txBody>
                  <a:tcPr/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850" b="1"/>
                      </a:pPr>
                      <a:r>
                        <a:t>2계열+앵커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(−151.2, 95)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DE·앙상블 + 앵커 +150</a:t>
                      </a:r>
                    </a:p>
                    <a:p>
                      <a:pPr>
                        <a:defRPr sz="850"/>
                      </a:pPr>
                      <a:r>
                        <a:t>(PF만 놓침)</a:t>
                      </a:r>
                    </a:p>
                  </a:txBody>
                  <a:tcPr/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850" b="1"/>
                      </a:pPr>
                      <a:r>
                        <a:t>⚠ ≤2계열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(−45.9, 50)  (−2.7, 37)</a:t>
                      </a:r>
                    </a:p>
                    <a:p>
                      <a:pPr>
                        <a:defRPr sz="850"/>
                      </a:pPr>
                      <a:r>
                        <a:t>(+430.7, 58) 보류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하이브리드 계열만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6355080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/>
            </a:pPr>
            <a:r>
              <a:t>• 읽는 법: 등급이 낮은 스핀은 '의심스러운' 것이 아니라 대부분 |A|가 커서 좁은-범위 방법들의 시야 밖 — 불일치가 아니라 각 방법의 탐색 범위 문제임이 구조적으로 설명됨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최종 확정: NV1 / NV2 ¹³C 핵스핀 목록</a:t>
            </a:r>
          </a:p>
          <a:p>
            <a:pPr>
              <a:defRPr sz="1200"/>
            </a:pPr>
            <a:r>
              <a:t>값 = (A∥ ± 95% CI, A⊥) kHz · ✅✅ 최고신뢰(전원+앵커) ✅ 확정 ⭕ 신뢰 ⚠ 보류</a:t>
            </a:r>
          </a:p>
          <a:p>
            <a:pPr>
              <a:defRPr sz="1400" b="1">
                <a:solidFill>
                  <a:srgbClr val="B45000"/>
                </a:solidFill>
              </a:defRPr>
            </a:pPr>
            <a:r>
              <a:t>▶ NV1 14개 + NV2 9개(+1 보류) — 물리·통계·교차검증 전부 통과, 수동 분석 7개 전원 재발견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1371600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/>
            </a:pPr>
            <a:r>
              <a:t>NV1 — 14개 (1/2)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691640"/>
          <a:ext cx="283464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</a:tblGrid>
              <a:tr h="384048"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(−87.9 ±0.9, 18.3) ✅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(−18.8 ±1.2, 15.5) ✅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(−11.5 ±1.7, 13.9) ✅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(−5.1 ±0.6, 22.5) ✅✅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(+0.6 ±1.5, 17.1) ✅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(+4.0 ±0.7, 26.2) ✅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(+8.4 ±0.6, 27.8) ✅✅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91840" y="1371600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/>
            </a:pPr>
            <a:r>
              <a:t>NV1 — 14개 (2/2)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91840" y="1691640"/>
          <a:ext cx="283464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</a:tblGrid>
              <a:tr h="384048"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(+14.2 ±1.0, 21.7) ✅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(+24.3 ±1.5, 20.1) ✅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(+39.0 ±2.0, 28.2) ✅✅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(+48.0 ±2.6, 25.1) ✅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(+65.6 ±1.0, 27.6) ✅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(+91.9 ±0.7, 32.6) ✅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(+114.4 ±1.7, 23.9) ✅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720840" y="1371600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/>
            </a:pPr>
            <a:r>
              <a:t>NV2 — 9개 + 보류 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720840" y="1691640"/>
          <a:ext cx="283464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</a:tblGrid>
              <a:tr h="384048"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(+346.9, 261) ✅✅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(−151.2, 95) ✅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(−58.9, 182) ✅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(−45.9, 50) ⭕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(−38.9, 67) ✅✅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9692640" y="13716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/>
            </a:pPr>
            <a:r>
              <a:t> 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9692640" y="1691640"/>
          <a:ext cx="22860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</a:tblGrid>
              <a:tr h="384048"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(−12.6, 42) ✅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(−2.7, 37) ⭕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(+51.7, 91) ✅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(+55.9, 55) ✅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(+430.7, 58) ⚠ 보류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65760" y="4709160"/>
            <a:ext cx="11430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/>
            </a:pPr>
            <a:r>
              <a:t>• 개수 근거 — BIC 최소 k*=14, RJMCMC 사후 최빈 15와 정합 · 스핀 추가 벌점 통과분만 채택</a:t>
            </a:r>
          </a:p>
          <a:p>
            <a:pPr>
              <a:defRPr sz="1150"/>
            </a:pPr>
            <a:r>
              <a:t>• 통계적 실체 — 14개 전부 95% CI 상호 비겹침 (부트스트랩 60회)</a:t>
            </a:r>
          </a:p>
          <a:p>
            <a:pPr>
              <a:defRPr sz="1150"/>
            </a:pPr>
            <a:r>
              <a:t>• 물리 재현 — 단일 목록으로 N=8/16/20 세 측정 동시 설명, RMSE 0.088/0.116/0.176 (노이즈 바닥 도달)</a:t>
            </a:r>
          </a:p>
          <a:p>
            <a:pPr>
              <a:defRPr sz="1150"/>
            </a:pPr>
            <a:r>
              <a:t>• 외부 정합 — 수동 분석 앵커 NV1 4/4 · NV2 3/3 회수 (부호는 m_s 브랜치 관례 차이)</a:t>
            </a:r>
          </a:p>
          <a:p>
            <a:pPr>
              <a:defRPr sz="1150"/>
            </a:pPr>
            <a:r>
              <a:t>• NV2 주의 — 단일 채널(CPMG-16)이라 A⊥는 대표값 · (+430.7) 축퇴 잔재 가능, CPMG-8/20 추가 측정 시 판정</a:t>
            </a:r>
          </a:p>
          <a:p>
            <a:pPr>
              <a:defRPr sz="1150"/>
            </a:pPr>
            <a:r>
              <a:t>• 목록 외 후보 — NV1 A≈−32±3 (3계열 지지, 최종 피팅 미포함)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