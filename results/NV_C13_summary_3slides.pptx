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①: 찾아낸 ¹³C 핵스핀 — 세 방법 비교</a:t>
            </a:r>
          </a:p>
          <a:p>
            <a:pPr>
              <a:defRPr sz="1200"/>
            </a:pPr>
            <a:r>
              <a:t>값 = (A∥, A⊥) kHz · 제안 방법은 95% 부트스트랩 CI 보유 (예: −87.9±0.9)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수동 4개 → 2021 방법은 고확률 영역까지만(개별 분해 불가) → 제안 방법 14개(결합강도+오차막대) — 앵커 전부 회수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417320"/>
          <a:ext cx="11567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3017520"/>
                <a:gridCol w="512064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이전 ppt (수동 분석)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제안 방법 (하이브리드 앙상블)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NV1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4개</a:t>
                      </a:r>
                    </a:p>
                    <a:p>
                      <a:pPr>
                        <a:defRPr sz="1000"/>
                      </a:pPr>
                      <a:r>
                        <a:t>(−88, 47)</a:t>
                      </a:r>
                    </a:p>
                    <a:p>
                      <a:pPr>
                        <a:defRPr sz="1000"/>
                      </a:pPr>
                      <a:r>
                        <a:t>(−5, 35)</a:t>
                      </a:r>
                    </a:p>
                    <a:p>
                      <a:pPr>
                        <a:defRPr sz="1000"/>
                      </a:pPr>
                      <a:r>
                        <a:t>(+8, 31)</a:t>
                      </a:r>
                    </a:p>
                    <a:p>
                      <a:pPr>
                        <a:defRPr sz="10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목록이 아닌 '영역'만 출력</a:t>
                      </a:r>
                    </a:p>
                    <a:p>
                      <a:pPr>
                        <a:defRPr sz="1000"/>
                      </a:pPr>
                      <a:r>
                        <a:t>고확률 영역: A∈[−6,+12]</a:t>
                      </a:r>
                    </a:p>
                    <a:p>
                      <a:pPr>
                        <a:defRPr sz="1000"/>
                      </a:pPr>
                      <a:r>
                        <a:t>(p 0.86~1.00 연속 고원),</a:t>
                      </a:r>
                    </a:p>
                    <a:p>
                      <a:pPr>
                        <a:defRPr sz="1000"/>
                      </a:pPr>
                      <a:r>
                        <a:t>A∈[+40,+46] + 피크 −34, −20, +22</a:t>
                      </a:r>
                    </a:p>
                    <a:p>
                      <a:pPr>
                        <a:defRPr sz="1000"/>
                      </a:pPr>
                      <a:r>
                        <a:t>※ 개별 스핀 분해·B값은</a:t>
                      </a:r>
                    </a:p>
                    <a:p>
                      <a:pPr>
                        <a:defRPr sz="1000"/>
                      </a:pPr>
                      <a:r>
                        <a:t>별도 회귀 단계 필요(미재현)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14개 — (A∥, A⊥) 완비</a:t>
                      </a:r>
                    </a:p>
                    <a:p>
                      <a:pPr>
                        <a:defRPr sz="950"/>
                      </a:pPr>
                      <a:r>
                        <a:t>(−87.9,18) (−18.8,16) (−11.5,14) (−5.1,22)</a:t>
                      </a:r>
                    </a:p>
                    <a:p>
                      <a:pPr>
                        <a:defRPr sz="950"/>
                      </a:pPr>
                      <a:r>
                        <a:t>(+0.6,17) (+4.0,26) (+8.4,28) (+14.2,22)</a:t>
                      </a:r>
                    </a:p>
                    <a:p>
                      <a:pPr>
                        <a:defRPr sz="950"/>
                      </a:pPr>
                      <a:r>
                        <a:t>(+24.3,20) (+39.0,28) (+48.0,25) (+65.6,28)</a:t>
                      </a:r>
                    </a:p>
                    <a:p>
                      <a:pPr>
                        <a:defRPr sz="950"/>
                      </a:pPr>
                      <a:r>
                        <a:t>(+91.9,33) (+114.4,24)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NV2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3개</a:t>
                      </a:r>
                    </a:p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  <a:p>
                      <a:pPr>
                        <a:defRPr sz="1000"/>
                      </a:pPr>
                      <a:r>
                        <a:t>(−42, 150)*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— (미평가:</a:t>
                      </a:r>
                    </a:p>
                    <a:p>
                      <a:pPr>
                        <a:defRPr sz="1000"/>
                      </a:pPr>
                      <a:r>
                        <a:t>단일 채널·강결합은</a:t>
                      </a:r>
                    </a:p>
                    <a:p>
                      <a:pPr>
                        <a:defRPr sz="1000"/>
                      </a:pPr>
                      <a:r>
                        <a:t>원방법 적용 범위 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10개 — 앵커 3/3 회수 포함</a:t>
                      </a:r>
                    </a:p>
                    <a:p>
                      <a:pPr>
                        <a:defRPr sz="950"/>
                      </a:pPr>
                      <a:r>
                        <a:t>(−151.2,95) (−58.9,182) (−45.9,50)</a:t>
                      </a:r>
                    </a:p>
                    <a:p>
                      <a:pPr>
                        <a:defRPr sz="950"/>
                      </a:pPr>
                      <a:r>
                        <a:t>(−38.9,67) (−12.6,42) (−2.7,37)</a:t>
                      </a:r>
                    </a:p>
                    <a:p>
                      <a:pPr>
                        <a:defRPr sz="950"/>
                      </a:pPr>
                      <a:r>
                        <a:t>(+51.7,91) (+55.9,55) (+346.9,261)</a:t>
                      </a:r>
                    </a:p>
                    <a:p>
                      <a:pPr>
                        <a:defRPr sz="950"/>
                      </a:pPr>
                      <a:r>
                        <a:t>(+430.7,58)⚠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신뢰 근거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눈 판독</a:t>
                      </a:r>
                    </a:p>
                    <a:p>
                      <a:pPr>
                        <a:defRPr sz="1000"/>
                      </a:pPr>
                      <a:r>
                        <a:t>(대략 위치 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윈도우 확률 고원 —</a:t>
                      </a:r>
                    </a:p>
                    <a:p>
                      <a:pPr>
                        <a:defRPr sz="1000"/>
                      </a:pPr>
                      <a:r>
                        <a:t>고원 내 개별 스핀 분해 불가</a:t>
                      </a:r>
                    </a:p>
                    <a:p>
                      <a:pPr>
                        <a:defRPr sz="1000"/>
                      </a:pPr>
                      <a:r>
                        <a:t>(예: 최강 스핀 +8이 p=0.95인데도</a:t>
                      </a:r>
                    </a:p>
                    <a:p>
                      <a:pPr>
                        <a:defRPr sz="1000"/>
                      </a:pPr>
                      <a:r>
                        <a:t>피크 검출에서 누락됨)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BIC k*=14 = RJMCMC 최빈 15</a:t>
                      </a:r>
                    </a:p>
                    <a:p>
                      <a:pPr>
                        <a:defRPr sz="950"/>
                      </a:pPr>
                      <a:r>
                        <a:t>CI 상호 비겹침 · 잔차 노이즈 바닥</a:t>
                      </a:r>
                    </a:p>
                    <a:p>
                      <a:pPr>
                        <a:defRPr sz="950"/>
                      </a:pPr>
                      <a:r>
                        <a:t>실데이터 RMSE 0.088/0.116/0.176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*수동 분석의 A∥ 부호는 m_s 브랜치 관례 차이 · ⚠ = 단일 채널 축퇴로 보류 · 2021 방법 수치는 core-pipeline 재현 기준(원방법 하한)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정면 비교: 2021 방법 vs 우리 방법</a:t>
            </a:r>
          </a:p>
          <a:p>
            <a:pPr>
              <a:defRPr sz="1200"/>
            </a:pPr>
            <a:r>
              <a:t>나머지 모델들(CNN뱅크·SpinDETR·PF단독·DE·RJMCMC)은 이 결론을 떠받치는 ablation·베이스라인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같은 실측 스핀 환경에서 채점한 결과 — 저온 ×2.2, 상온 ×1.5, 오차주입 ×1.7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46304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983480"/>
              </a:tblGrid>
              <a:tr h="705394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우리 방법 (PF→RJMCMC 하이브리드 v2)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윈도우별 독립 MLP 61개</a:t>
                      </a:r>
                    </a:p>
                    <a:p>
                      <a:pPr>
                        <a:defRPr sz="1100"/>
                      </a:pPr>
                      <a:r>
                        <a:t>+ 별도 디노이저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신경망 탐지(윈도우 간 어텐션)</a:t>
                      </a:r>
                    </a:p>
                    <a:p>
                      <a:pPr>
                        <a:defRPr sz="1100"/>
                      </a:pPr>
                      <a:r>
                        <a:t>+ 영역 제약 물리 피팅 + BIC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(A 위치 후보)</a:t>
                      </a:r>
                    </a:p>
                    <a:p>
                      <a:pPr>
                        <a:defRPr sz="1100"/>
                      </a:pPr>
                      <a:r>
                        <a:t>B·개수는 별도 단계 필요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최종 스핀 목록 {(A∥, A⊥)} × k*</a:t>
                      </a:r>
                    </a:p>
                    <a:p>
                      <a:pPr>
                        <a:defRPr sz="1100"/>
                      </a:pPr>
                      <a:r>
                        <a:t>개수 자동 · 95% CI 제공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실측 50-스핀 검증 (F1)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0.38 · 상온 0.37 · 오차주입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0.84 · 상온 0.57 · 오차주입 0.61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오탐 (precision)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0.55–1.00 (상온에서 붕괴)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0.87–1.00 (오차주입에도 0.87)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실데이터 NV1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2곳 + 피크 3개</a:t>
                      </a:r>
                    </a:p>
                    <a:p>
                      <a:pPr>
                        <a:defRPr sz="1100"/>
                      </a:pPr>
                      <a:r>
                        <a:t>(개별 스핀 분해 불가)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14개 스핀 확정 (CI 포함)</a:t>
                      </a:r>
                    </a:p>
                    <a:p>
                      <a:pPr>
                        <a:defRPr sz="1100"/>
                      </a:pPr>
                      <a:r>
                        <a:t>3개 측정 동시 재현 RMSE 0.09–0.18</a:t>
                      </a:r>
                    </a:p>
                  </a:txBody>
                  <a:tcPr/>
                </a:tc>
              </a:tr>
              <a:tr h="70539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전제 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저온·고SNR·N=32/256 장시간 측정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상온·700점·N≤20에서 작동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73952"/>
            <a:ext cx="11430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/>
            </a:pPr>
            <a:r>
              <a:t>• 공정성 — 2021 수치는 core-pipeline 재현 기준(원방법 하한) · 두 방법 모두 같은 forward model·같은 채점 규칙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②: 공개 실측 50-스핀 배스로 검증</a:t>
            </a:r>
          </a:p>
          <a:p>
            <a:pPr>
              <a:defRPr sz="1200"/>
            </a:pPr>
            <a:r>
              <a:t>van de Stolpe 2024 (4TU 공개) — Jung 2021과 같은 NV 계보 · 정답을 아는 유일한 실제 스핀 환경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저온 트윈 21/27 회수(RMSE 0.074) · 상온 트윈 11/27·오탐 0 — 스핀 값은 학습에 미사용(순수 테스트)</a:t>
            </a:r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벤치마크 종합(F1): 제안 하이브리드 v2가 저온 0.84 / 상온 0.57 / 오차주입 0.61로 전 조건 1위 (2021 재현 0.38/0.37/0.35, 고전 DE 0.71/0.50/0.48, RJMCMC 0.84/0.56/0.52)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③: 실제 CPMG 데이터 (NV1: N=8/16/20 · NV2: N=16)와 최종 피팅</a:t>
            </a:r>
          </a:p>
          <a:p>
            <a:pPr>
              <a:defRPr sz="1200"/>
            </a:pPr>
            <a:r>
              <a:t>회색 = 실험 · 빨강 = 검출 스핀들의 forward model (그린 것이 아니라 물리 공식으로 계산된 예측)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14스핀이 세 측정(N=8/16/20)을 동시에 재현(RMSE 0.088/0.116/0.176) · NV2 10스핀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왼쪽 NV1: 위→아래 N=8/16/20 — 같은 14개 스핀 목록 하나가 세 데이터를 모두 설명    • 오른쪽 NV2: 강결합 프린지 구조까지 추적 (단일 채널 한계로 1개 스핀 보류)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④: 방법 간 겹쳐서 찾은 스핀 — 합의 등급</a:t>
            </a:r>
          </a:p>
          <a:p>
            <a:pPr>
              <a:defRPr sz="1200"/>
            </a:pPr>
            <a:r>
              <a:t>허용오차 ±4 kHz · 계열 = 수동 / 2021영역 / CNN뱅크 / DE / SpinDETR / PF / 하이브리드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핵심 스핀은 원리가 다른 모든 방법과 사람 눈까지 일치 — 합의가 낮아지는 순서는 탐색범위를 벗어나는 순서와 일치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5989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NV1 (14스핀 + 후보 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9893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468880"/>
                <a:gridCol w="228600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 7계열</a:t>
                      </a:r>
                    </a:p>
                    <a:p>
                      <a:pPr>
                        <a:defRPr sz="850" b="1"/>
                      </a:pPr>
                      <a:r>
                        <a:t>(+앵커)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(−5.1, 22)  (+8.4, 28)  (+39.0,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수동·2021영역·CNN·DE·</a:t>
                      </a:r>
                    </a:p>
                    <a:p>
                      <a:pPr>
                        <a:defRPr sz="850"/>
                      </a:pPr>
                      <a:r>
                        <a:t>SpinDETR·PF·하이브리드 전부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5–6계열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(−18.8, 16)  (+0.6, 17)</a:t>
                      </a:r>
                    </a:p>
                    <a:p>
                      <a:pPr>
                        <a:defRPr sz="850"/>
                      </a:pPr>
                      <a:r>
                        <a:t>(+4.0, 26)  (+14.2, 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중앙 고원 합의</a:t>
                      </a:r>
                    </a:p>
                    <a:p>
                      <a:pPr>
                        <a:defRPr sz="850"/>
                      </a:pPr>
                      <a:r>
                        <a:t>(DE 또는 SpinDETR 일부 누락)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3–4계열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(−87.9, 18)*  (+24.3, 20)</a:t>
                      </a:r>
                    </a:p>
                    <a:p>
                      <a:pPr>
                        <a:defRPr sz="850"/>
                      </a:pPr>
                      <a:r>
                        <a:t>(+48.0, 25)  (+65.6, 28)  (+91.9,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*−87.9는 ±60 밖을 보는</a:t>
                      </a:r>
                    </a:p>
                    <a:p>
                      <a:pPr>
                        <a:defRPr sz="850"/>
                      </a:pPr>
                      <a:r>
                        <a:t>방법 전원 일치 + 앵커 −88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(−11.5, 14)  (+114.4, 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 / PF 광역만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📌 목록 외 후보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 ≈ −30~−34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2021(−34)·CNN(−30)·</a:t>
                      </a:r>
                    </a:p>
                    <a:p>
                      <a:pPr>
                        <a:defRPr sz="850"/>
                      </a:pPr>
                      <a:r>
                        <a:t>SpinDETR(−34.4) 3계열 겹침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1371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NV2 (10스핀)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48840"/>
                <a:gridCol w="210312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(+346.9, 261)  (−38.9, 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PF±400/±600·DE·하이브리드</a:t>
                      </a:r>
                    </a:p>
                    <a:p>
                      <a:pPr>
                        <a:defRPr sz="850"/>
                      </a:pPr>
                      <a:r>
                        <a:t>전 버전 + 앵커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(−58.9, 182)  (−12.6, 42)</a:t>
                      </a:r>
                    </a:p>
                    <a:p>
                      <a:pPr>
                        <a:defRPr sz="850"/>
                      </a:pPr>
                      <a:r>
                        <a:t>(+51.7, 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PF·DE·v1·refined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(+55.9, 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PF·v1·앙상블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2계열+앵커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(−151.2, 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DE·앙상블 + 앵커 +150</a:t>
                      </a:r>
                    </a:p>
                    <a:p>
                      <a:pPr>
                        <a:defRPr sz="850"/>
                      </a:pPr>
                      <a:r>
                        <a:t>(PF만 놓침)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(−45.9, 50)  (−2.7, 37)</a:t>
                      </a:r>
                    </a:p>
                    <a:p>
                      <a:pPr>
                        <a:defRPr sz="850"/>
                      </a:pPr>
                      <a:r>
                        <a:t>(+430.7, 58) 보류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/>
            </a:pPr>
            <a:r>
              <a:t>• 읽는 법: 등급이 낮은 스핀은 '의심스러운' 것이 아니라 대부분 |A|가 커서 좁은-범위 방법들의 시야 밖 — 불일치가 아니라 각 방법의 탐색 범위 문제임이 구조적으로 설명됨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최종 확정: NV1 / NV2 ¹³C 핵스핀 목록</a:t>
            </a:r>
          </a:p>
          <a:p>
            <a:pPr>
              <a:defRPr sz="1200"/>
            </a:pPr>
            <a:r>
              <a:t>값 = (A∥ ± 95% CI, A⊥) kHz · ✅✅ 최고신뢰(전원+앵커) ✅ 확정 ⭕ 신뢰 ⚠ 보류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14개 + NV2 9개(+1 보류) — 물리·통계·교차검증 전부 통과, 수동 분석 7개 전원 재발견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(−87.9 ±0.9, 18.3)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(−18.8 ±1.2, 15.5)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(−11.5 ±1.7, 13.9)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(−5.1 ±0.6, 22.5)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(+0.6 ±1.5, 17.1)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(+4.0 ±0.7, 26.2)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(+8.4 ±0.6, 27.8)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91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918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(+14.2 ±1.0, 21.7)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(+24.3 ±1.5, 20.1)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(+39.0 ±2.0, 28.2)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(+48.0 ±2.6, 25.1)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(+65.6 ±1.0, 27.6)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(+91.9 ±0.7, 32.6)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(+114.4 ±1.7, 23.9) 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20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NV2 — 9개 + 보류 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691640"/>
          <a:ext cx="2834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(+346.9, 261)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(−151.2, 95)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(−58.9, 182)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(−45.9, 50)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(−38.9, 67)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92640" y="13716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 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692640" y="1691640"/>
          <a:ext cx="228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(−12.6, 42)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(−2.7, 37)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(+51.7, 91)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(+55.9, 55)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(+430.7, 58) ⚠ 보류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4709160"/>
            <a:ext cx="11430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개수 근거 — BIC 최소 k*=14, RJMCMC 사후 최빈 15와 정합 · 스핀 추가 벌점 통과분만 채택</a:t>
            </a:r>
          </a:p>
          <a:p>
            <a:pPr>
              <a:defRPr sz="1150"/>
            </a:pPr>
            <a:r>
              <a:t>• 통계적 실체 — 14개 전부 95% CI 상호 비겹침 (부트스트랩 60회)</a:t>
            </a:r>
          </a:p>
          <a:p>
            <a:pPr>
              <a:defRPr sz="1150"/>
            </a:pPr>
            <a:r>
              <a:t>• 물리 재현 — 단일 목록으로 N=8/16/20 세 측정 동시 설명, RMSE 0.088/0.116/0.176 (노이즈 바닥 도달)</a:t>
            </a:r>
          </a:p>
          <a:p>
            <a:pPr>
              <a:defRPr sz="1150"/>
            </a:pPr>
            <a:r>
              <a:t>• 외부 정합 — 수동 분석 앵커 NV1 4/4 · NV2 3/3 회수 (부호는 m_s 브랜치 관례 차이)</a:t>
            </a:r>
          </a:p>
          <a:p>
            <a:pPr>
              <a:defRPr sz="1150"/>
            </a:pPr>
            <a:r>
              <a:t>• NV2 주의 — 단일 채널(CPMG-16)이라 A⊥는 대표값 · (+430.7) 축퇴 잔재 가능, CPMG-8/20 추가 측정 시 판정</a:t>
            </a:r>
          </a:p>
          <a:p>
            <a:pPr>
              <a:defRPr sz="1150"/>
            </a:pPr>
            <a:r>
              <a:t>• 목록 외 후보 — NV1 A≈−32±3 (3계열 지지, 최종 피팅 미포함)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