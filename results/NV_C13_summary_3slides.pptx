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038/s41467-024-46075-4" TargetMode="External"/><Relationship Id="rId4" Type="http://schemas.openxmlformats.org/officeDocument/2006/relationships/hyperlink" Target="https://doi.org/10.4121/aba1cc84-0aea-4cdc-93ca-68b0db38bd81.v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위치 단서 5건(구간 2 + 피크 3, 목록 미완성) → 제안 방법 14개 완성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출력 = A∥ 확률곡선의 고확률 위치 5건</a:t>
                      </a:r>
                    </a:p>
                    <a:p>
                      <a:pPr>
                        <a:defRPr sz="1000"/>
                      </a:pPr>
                      <a:r>
                        <a:t>('스핀이 이 A∥ 근처에 있다'까지만 —</a:t>
                      </a:r>
                    </a:p>
                    <a:p>
                      <a:pPr>
                        <a:defRPr sz="1000"/>
                      </a:pPr>
                      <a:r>
                        <a:t> A⊥·개수·정확값은 출력 안 됨)</a:t>
                      </a:r>
                    </a:p>
                    <a:p>
                      <a:pPr>
                        <a:defRPr sz="1000"/>
                      </a:pPr>
                      <a:r>
                        <a:t>① 구간 A∈[−6, +12] (확정 스핀 5개 자리)</a:t>
                      </a:r>
                    </a:p>
                    <a:p>
                      <a:pPr>
                        <a:defRPr sz="1000"/>
                      </a:pPr>
                      <a:r>
                        <a:t>② 구간 A∈[+40, +46] (확정 +39·+48 부근)</a:t>
                      </a:r>
                    </a:p>
                    <a:p>
                      <a:pPr>
                        <a:defRPr sz="1000"/>
                      </a:pPr>
                      <a:r>
                        <a:t>③ 피크 −20 = 확정 (−18.8) 자리</a:t>
                      </a:r>
                    </a:p>
                    <a:p>
                      <a:pPr>
                        <a:defRPr sz="1000"/>
                      </a:pPr>
                      <a:r>
                        <a:t>④ 피크 +22 = 확정 (+24.3) 자리</a:t>
                      </a:r>
                    </a:p>
                    <a:p>
                      <a:pPr>
                        <a:defRPr sz="1000"/>
                      </a:pPr>
                      <a:r>
                        <a:t>⑤ 피크 −34 = 확정 목록에 없음</a:t>
                      </a:r>
                    </a:p>
                    <a:p>
                      <a:pPr>
                        <a:defRPr sz="1000"/>
                      </a:pPr>
                      <a:r>
                        <a:t>    → 목록 외 후보 −32와 일치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비고</a:t>
                      </a:r>
                    </a:p>
                    <a:p>
                      <a:pPr>
                        <a:defRPr sz="1000"/>
                      </a:pPr>
                      <a:r>
                        <a:t>(총평)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판독의 대략 위치 앵커 —</a:t>
                      </a:r>
                    </a:p>
                    <a:p>
                      <a:pPr>
                        <a:defRPr sz="1000"/>
                      </a:pPr>
                      <a:r>
                        <a:t>7개 전부 우리 목록에서 재발견</a:t>
                      </a:r>
                    </a:p>
                    <a:p>
                      <a:pPr>
                        <a:defRPr sz="1000"/>
                      </a:pPr>
                      <a:r>
                        <a:t>A⊥는 과대추정 경향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위치는 맞추나 목록은 미완성 —</a:t>
                      </a:r>
                    </a:p>
                    <a:p>
                      <a:pPr>
                        <a:defRPr sz="1000"/>
                      </a:pPr>
                      <a:r>
                        <a:t>구간·피크 수준까지만 출력,</a:t>
                      </a:r>
                    </a:p>
                    <a:p>
                      <a:pPr>
                        <a:defRPr sz="1000"/>
                      </a:pPr>
                      <a:r>
                        <a:t>개수·B값·정확한 A를 정하는</a:t>
                      </a:r>
                    </a:p>
                    <a:p>
                      <a:pPr>
                        <a:defRPr sz="1000"/>
                      </a:pPr>
                      <a:r>
                        <a:t>후반 회귀 단계는 재현 범위 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개수(BIC, RJMCMC 사후분포와 정합)</a:t>
                      </a:r>
                    </a:p>
                    <a:p>
                      <a:pPr>
                        <a:defRPr sz="950"/>
                      </a:pPr>
                      <a:r>
                        <a:t>·B값·95% CI까지 완성한 유일한 목록</a:t>
                      </a:r>
                    </a:p>
                    <a:p>
                      <a:pPr>
                        <a:defRPr sz="950"/>
                      </a:pPr>
                      <a:r>
                        <a:t>3개 측정 동시 재현 RMSE 0.088–0.176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19088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  <a:p>
            <a:pPr>
              <a:defRPr sz="900"/>
            </a:pPr>
            <a:r>
              <a:t>† BIC(베이지안 정보 기준) = 스핀을 추가해 좋아지는 피팅이 복잡도 벌점을 넘을 때만 개수를 늘리는 통계 기준(오컴의 면도날의 정량화) · 95% CI(신뢰구간) = 잔차 부트스트랩 60회 재피팅에서 값이 흔들리는 폭으로 잰 '참값이 95% 확률로 들어있는 구간'(오차막대)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정면 비교: 2021 방법 vs 우리 방법</a:t>
            </a:r>
          </a:p>
          <a:p>
            <a:pPr>
              <a:defRPr sz="1200"/>
            </a:pPr>
            <a:r>
              <a:t>나머지 모델들(CNN뱅크·SpinDETR·PF단독·DE·RJMCMC)은 이 결론을 떠받치는 ablation·베이스라인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같은 실측 스핀 환경에서 채점한 결과 — 저온 ×2.2, 상온 ×1.5, 오차주입 ×1.7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6304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983480"/>
              </a:tblGrid>
              <a:tr h="705394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우리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윈도우별 독립 MLP 61개</a:t>
                      </a:r>
                    </a:p>
                    <a:p>
                      <a:pPr>
                        <a:defRPr sz="1100"/>
                      </a:pPr>
                      <a:r>
                        <a:t>+ 별도 디노이저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신경망 탐지(윈도우 간 어텐션)</a:t>
                      </a:r>
                    </a:p>
                    <a:p>
                      <a:pPr>
                        <a:defRPr sz="1100"/>
                      </a:pPr>
                      <a:r>
                        <a:t>+ 영역 제약 물리 피팅 + BIC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(A 위치 후보)</a:t>
                      </a:r>
                    </a:p>
                    <a:p>
                      <a:pPr>
                        <a:defRPr sz="1100"/>
                      </a:pPr>
                      <a:r>
                        <a:t>B·개수는 별도 단계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최종 스핀 목록 {(A∥, A⊥)} × k*</a:t>
                      </a:r>
                    </a:p>
                    <a:p>
                      <a:pPr>
                        <a:defRPr sz="1100"/>
                      </a:pPr>
                      <a:r>
                        <a:t>개수 자동 · 95% CI 제공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실측 50-스핀 검증 (F1)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0.38 · 상온 0.37 · 오차주입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0.84 · 상온 0.57 · 오차주입 0.61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오탐 (precision)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0.55–1.00 (상온에서 붕괴)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0.87–1.00 (오차주입에도 0.87)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실데이터 NV1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2곳 + 피크 3개</a:t>
                      </a:r>
                    </a:p>
                    <a:p>
                      <a:pPr>
                        <a:defRPr sz="1100"/>
                      </a:pPr>
                      <a:r>
                        <a:t>(개별 스핀 분해 불가)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14개 스핀 확정 (CI 포함)</a:t>
                      </a:r>
                    </a:p>
                    <a:p>
                      <a:pPr>
                        <a:defRPr sz="1100"/>
                      </a:pPr>
                      <a:r>
                        <a:t>3개 측정 동시 재현 RMSE 0.09–0.18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전제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저온·고SNR·N=32/256 장시간 측정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상온·700점·N≤20에서 작동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t>• 공정성 — 2021 수치는 core-pipeline 재현 기준(원방법 하한) · 두 방법 모두 같은 forward model·같은 채점 규칙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모델 비교: 블록 다이어그램</a:t>
            </a:r>
          </a:p>
          <a:p>
            <a:pPr>
              <a:defRPr sz="1200"/>
            </a:pPr>
            <a:r>
              <a:t>회색=입력 · 파랑=표현 · 초록=연산 · 주황=출력 — 위(2021) vs 아래(우리)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핵심: 어텐션(회의)으로 오탐을 잡고, 영역 안 열거(BIC)로 개수를 확정 — 특징은 아래 표로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1783080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t>2021 방법</a:t>
            </a:r>
          </a:p>
          <a:p>
            <a:r>
              <a:t>(core-pipeline)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91640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CPMG 신호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1채널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5786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저온·장시간 측정 전제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7296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691640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주기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이미지 13×53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578608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후보 주기 1개씩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691640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윈도우별 독립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57860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서로 대화 없음 → 오탐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3056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691640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3-class 확률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(3,)/윈도우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57860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스핀 0/1/2개 확률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1364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69680" y="1691640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피크 검출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A 영역만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257860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개수·B값 미해결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4069079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t>우리 방법</a:t>
            </a:r>
          </a:p>
          <a:p>
            <a:r>
              <a:t>(하이브리드 v2)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977639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신호 3채널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46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N=8/16/20 함께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35808" y="4411979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3977639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61윈도우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토큰(61,3,13,53)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864607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모든 주기 동시에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7316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3977639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어텐션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 간 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진짜 스핀만 통과 · 오탐 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1908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75120" y="3977639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P(spin) → 영역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후보 구간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어디를 팔지 확정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6500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21040" y="3977639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영역 제약</a:t>
            </a:r>
          </a:p>
          <a:p>
            <a:r>
              <a:t>RJMCMC + BIC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물리 공식 피팅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864607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몇 개인지 통계로 결정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3952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95559" y="3977639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스핀 목록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39" y="4864607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NV1 14개 · CI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0632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t>↕ 같은 '주기 접기'에서 출발하지만 — 2021은 여기서 끝(고립 판정), 우리는 접은 61개를 토큰으로 묶어 회의시키고, 그 결과 영역 안에서만 물리 피팅으로 열거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365760" y="5349240"/>
          <a:ext cx="11475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434840"/>
                <a:gridCol w="5074920"/>
              </a:tblGrid>
              <a:tr h="2743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2021 방법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우리 방법 (하이브리드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① 윈도우 판정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61개 윈도우가 개별(고립) 판정 — 서로 대화 없음 → 오탐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어텐션으로 윈도우 간 상호 보강(회의) → 가짜 신호 걸러냄 · 오탐 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② 스핀 탐색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영역 없는 피크 찾기 — A∥ 위치 단서만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영역 제약 열거 — 후보 구간 안에서만 물리 피팅 + BIC로 개수 결정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③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A∥ 위치 후보(구간·피크)까지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개수 k* · A∥ · 결합강도 A⊥ · 95% CI까지 완결된 스핀 목록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④ 검증 (실측 50-스핀 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0.35 ~ 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0.57 ~ 0.84 (전 조건 1위)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공개 50-스핀 데이터셋 개요 (van de Stolpe et al. 2024)</a:t>
            </a:r>
          </a:p>
          <a:p>
            <a:pPr>
              <a:defRPr sz="1200"/>
            </a:pPr>
            <a:r>
              <a:t>"Mapping a 50-spin-qubit network through correlated sensing" — Nature Communications 15, 2006 (2024) · Delft(Taminiau group)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다이아몬드 단일 NV 센터 주변 ¹³C 핵스핀 50개 네트워크 — 스핀별 파라미터 전체가 공개된 실측 데이터셋</a:t>
            </a:r>
          </a:p>
        </p:txBody>
      </p:sp>
      <p:pic>
        <p:nvPicPr>
          <p:cNvPr id="3" name="Picture 2" descr="delft50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291156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4526280"/>
          <a:ext cx="1147572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  <a:gridCol w="973836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시스템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다이아몬드 단일 NV 센터 1개 + 주변 ¹³C 핵스핀 50개(+질소 1) — 상관 센싱(concatenated double-resonance) 시퀀스로 네트워크 전체를 매핑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측정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3.7 K 저온 · B = 403.553 G (NV 축 방향) · Jung 2021과 같은 NV 시료 계보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공개 스핀 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스핀별 hyperfine (A∥: −48.5 ~ +213.2 kHz, A⊥: 0.2 ~ 59.2 kHz) · 스핀 주파수 · 3차원 격자 위치 · 측정된 핵-핵 커플링 474쌍(대부분 수 Hz)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파일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spin_table / spin_frequencies / spin_positions / spin_measured(predicted)_couplings (xlsx·pkl) + 논문 그림 재현 노트북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081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논문: </a:t>
            </a:r>
            <a:r>
              <a:rPr sz="1100">
                <a:hlinkClick r:id="rId3"/>
              </a:rPr>
              <a:t>doi.org/10.1038/s41467-024-46075-4</a:t>
            </a:r>
            <a:r>
              <a:rPr sz="1100"/>
              <a:t>      데이터 (4TU.ResearchData): </a:t>
            </a:r>
            <a:r>
              <a:rPr sz="1100">
                <a:hlinkClick r:id="rId4"/>
              </a:rPr>
              <a:t>doi.org/10.4121/aba1cc84-0aea-4cdc-93ca-68b0db38bd81.v1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노이즈 모델링 — 트윈 합성 σ의 근거</a:t>
            </a:r>
          </a:p>
          <a:p>
            <a:pPr>
              <a:defRPr sz="1200"/>
            </a:pPr>
            <a:r>
              <a:t>노이즈 수준은 검증의 민감 변수 — 임의 가정이 아니라 NV1·NV2 실측 데이터에서 통계적으로 추정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상온 트윈 σ=0.06은 실측 채널 σ̂(0.030~0.077)의 최악 수준을 취한 보수적 값 · 저온 트윈은 문헌 조건 σ=0.02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371600"/>
          <a:ext cx="1147572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5394960"/>
                <a:gridCol w="4480560"/>
              </a:tblGrid>
              <a:tr h="393192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방법 /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의미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① σ 추정량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인접점 차분 dᵢ = yᵢ₊₁ − yᵢ  →  σ̂ = std(d)/√2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느린 신호 성분은 상쇄되고 노이즈만 남음 (독립 가우시안 가정의 표준 추정)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② 실측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NV1 σ̂ = 0.030 / 0.047 / 0.065 (N=8/16/20) · NV2 σ̂ = 0.077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dip 구간 신호가 섞인 만큼 과대평가 쪽으로 치우침 = 보수적 상한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③ 노이즈 믹싱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상온 트윈 σ = 0.06 · 저온 트윈 σ = 0.02 (백색 가우시안)</a:t>
                      </a:r>
                    </a:p>
                    <a:p>
                      <a:pPr>
                        <a:defRPr sz="1000"/>
                      </a:pPr>
                      <a:r>
                        <a:t>+ T2 포락선·콘트라스트도 실측 범위에서 랜덤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상온은 NV1 최악 채널 수준, 저온은 문헌 조건 — 관대하지 않은 검증</a:t>
                      </a:r>
                    </a:p>
                  </a:txBody>
                  <a:tcPr/>
                </a:tc>
              </a:tr>
              <a:tr h="393192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④ 학습 랜덤화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학습 데이터는 σ ∈ [0.03, 0.12] 균일 무작위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특정 노이즈 수준에 특화된 검출기가 되는 것을 차단 (과적합 방지)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nois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440"/>
            <a:ext cx="11567160" cy="2313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• 그림: NV1(N=8/16/20)·NV2(N=16) 원시 데이터 확대(τ 4–7 µs) — 이동중앙값(빨강) 주변 산포가 ±2σ̂ 밴드와 일치    • 맨 오른쪽: 채널별 σ̂ vs 채택값(0.06)·학습 범위(0.03–0.12)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연속 고확률 구간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4709160"/>
          <a:ext cx="1147572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  <a:gridCol w="9738360"/>
              </a:tblGrid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개수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BIC 최소 k*=14 · RJMCMC 사후 최빈 15(개수에 대한 확률분포에서 가장 확률이 높았던 값)와 정합 · 스핀 추가 벌점 통과분만 채택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통계적 실체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14개 전부 95% CI 상호 비겹침 (부트스트랩 60회)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물리 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단일 목록으로 N=8/16/20 세 측정 동시 설명, RMSE 0.088/0.116/0.176 (노이즈 바닥 도달)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외부 정합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수동 분석 앵커 NV1 4/4 · NV2 3/3 회수 (부호는 m_s 브랜치 관례 차이)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NV2 주의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단일 채널(CPMG-16)이라 A⊥는 대표값 · (+430.7) 축퇴 잔재 가능 → CPMG-8/20 추가 측정 시 판정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50" b="1"/>
                      </a:pPr>
                      <a:r>
                        <a:t>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NV1 A ≈ −32±3 (3계열 지지, 최종 피팅 미포함)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피팅 곡선은 이렇게 만든다: 스핀별 딥의 합성 곱</a:t>
            </a:r>
          </a:p>
          <a:p>
            <a:pPr>
              <a:defRPr sz="1200"/>
            </a:pPr>
            <a:r>
              <a:t>스핀 목록 → 스핀별 물리 곡선 Mᵢ → 전체 곱 ∏Mᵢ = 피팅 곡선 (스핀 수는 BIC 자동 선택)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곡선은 그린 것이 아니라 스핀 목록에서 물리 공식(Eq.1–3)으로 계산된 예측 — 데이터와 맞으면 목록이 맞다는 뜻</a:t>
            </a:r>
          </a:p>
        </p:txBody>
      </p:sp>
      <p:pic>
        <p:nvPicPr>
          <p:cNvPr id="3" name="Picture 2" descr="fit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27846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114800"/>
            <a:ext cx="11430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/>
            </a:pPr>
            <a:r>
              <a:t>물리 공식 (Jung 2021 Eq.1–3 · cpmg/physics.py 구현)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t>Eq.1  단일 스핀 딥:   Mₖ(τ) = 1 − K·sin²(Nφ/2),    K = mₓ²·(1−cos α)(1−cos β)/(1+cos φ)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t>Eq.2  위상:   cos φ = cos α·cos β − m_z·sin α·sin β,    α = ω̃τ (스핀 세차) · β = ω_L τ (라머 세차)</a:t>
            </a:r>
          </a:p>
          <a:p>
            <a:pPr>
              <a:defRPr sz="1200" b="0">
                <a:solidFill>
                  <a:srgbClr val="1A1A6E"/>
                </a:solidFill>
              </a:defRPr>
            </a:pPr>
            <a:r>
              <a:t>Eq.3  스핀 축:   ω̃ = √[(A∥+ω_L)² + A⊥²],  m_z = (A∥+ω_L)/ω̃,  mₓ = A⊥/ω̃    →   전체 곱 M(τ) = ∏ₖ Mₖ(τ),  Pₓ = ½(1 + a₀·M·e^−(τ/T₂)ⁿ)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t>① 실험 Pₓ를 엔벨로프로 나눠 모델과 같은 M 스케일로 정규화 → ② 각 스핀 (Aᵢ, Bᵢ)가 자기 주기의 딥 트레인 Mᵢ 생성 → ③ 전체 곱 ∏Mᵢ가 피팅 곡선</a:t>
            </a:r>
          </a:p>
          <a:p>
            <a:pPr>
              <a:defRPr sz="1200"/>
            </a:pPr>
            <a:r>
              <a:t>스핀이 늘수록 곱에 항이 추가되어 미세 구조를 더 재현 — NV2에서 6→10스핀에 RMSE 0.308→0.286 (BIC 벌점을 통과하고도 잔차 감소 = 과적합 아님)</a:t>
            </a:r>
          </a:p>
          <a:p>
            <a:pPr>
              <a:defRPr sz="1200"/>
            </a:pPr>
            <a:r>
              <a:t>다음 슬라이드의 빨간 곡선이 전부 이 방식으로 계산된 것 — 자유 파라미터로 모양을 다듬는 단계가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피팅: 실제 CPMG 데이터 (NV1: N=8/16/20 · NV2: N=16)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