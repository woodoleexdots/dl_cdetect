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①: 찾아낸 ¹³C 핵스핀 — 세 방법 비교</a:t>
            </a:r>
          </a:p>
          <a:p>
            <a:pPr>
              <a:defRPr sz="1200"/>
            </a:pPr>
            <a:r>
              <a:t>값 = (A∥, A⊥) kHz · 제안 방법은 95% 부트스트랩 CI 보유 (예: −87.9±0.9)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수동 4개 → 2021 방법 8개(위치만) → 제안 방법 14개(결합강도+오차막대) — 앵커 전부 회수 + 신규 10개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417320"/>
          <a:ext cx="115671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3017520"/>
                <a:gridCol w="512064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이전 ppt (수동 분석)</a:t>
                      </a:r>
                    </a:p>
                  </a:txBody>
                  <a:tcP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제안 방법 (하이브리드 앙상블)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NV1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4개</a:t>
                      </a:r>
                    </a:p>
                    <a:p>
                      <a:pPr>
                        <a:defRPr sz="1000"/>
                      </a:pPr>
                      <a:r>
                        <a:t>(−88, 47)</a:t>
                      </a:r>
                    </a:p>
                    <a:p>
                      <a:pPr>
                        <a:defRPr sz="1000"/>
                      </a:pPr>
                      <a:r>
                        <a:t>(−5, 35)</a:t>
                      </a:r>
                    </a:p>
                    <a:p>
                      <a:pPr>
                        <a:defRPr sz="1000"/>
                      </a:pPr>
                      <a:r>
                        <a:t>(+8, 31)</a:t>
                      </a:r>
                    </a:p>
                    <a:p>
                      <a:pPr>
                        <a:defRPr sz="1000"/>
                      </a:pPr>
                      <a:r>
                        <a:t>(−38, 37)*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8개 — A 위치만</a:t>
                      </a:r>
                    </a:p>
                    <a:p>
                      <a:pPr>
                        <a:defRPr sz="1000"/>
                      </a:pPr>
                      <a:r>
                        <a:t>−34, −20, −6, +2,</a:t>
                      </a:r>
                    </a:p>
                    <a:p>
                      <a:pPr>
                        <a:defRPr sz="1000"/>
                      </a:pPr>
                      <a:r>
                        <a:t>+12, +22, +42, +46</a:t>
                      </a:r>
                    </a:p>
                    <a:p>
                      <a:pPr>
                        <a:defRPr sz="1000"/>
                      </a:pPr>
                      <a:r>
                        <a:t>(B는 별도 회귀 필요)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14개 — (A∥, A⊥) 완비</a:t>
                      </a:r>
                    </a:p>
                    <a:p>
                      <a:pPr>
                        <a:defRPr sz="950"/>
                      </a:pPr>
                      <a:r>
                        <a:t>(−87.9,18) (−18.8,16) (−11.5,14) (−5.1,22)</a:t>
                      </a:r>
                    </a:p>
                    <a:p>
                      <a:pPr>
                        <a:defRPr sz="950"/>
                      </a:pPr>
                      <a:r>
                        <a:t>(+0.6,17) (+4.0,26) (+8.4,28) (+14.2,22)</a:t>
                      </a:r>
                    </a:p>
                    <a:p>
                      <a:pPr>
                        <a:defRPr sz="950"/>
                      </a:pPr>
                      <a:r>
                        <a:t>(+24.3,20) (+39.0,28) (+48.0,25) (+65.6,28)</a:t>
                      </a:r>
                    </a:p>
                    <a:p>
                      <a:pPr>
                        <a:defRPr sz="950"/>
                      </a:pPr>
                      <a:r>
                        <a:t>(+91.9,33) (+114.4,24)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NV2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3개</a:t>
                      </a:r>
                    </a:p>
                    <a:p>
                      <a:pPr>
                        <a:defRPr sz="1000"/>
                      </a:pPr>
                      <a:r>
                        <a:t>(−340, 290)</a:t>
                      </a:r>
                    </a:p>
                    <a:p>
                      <a:pPr>
                        <a:defRPr sz="1000"/>
                      </a:pPr>
                      <a:r>
                        <a:t>(+150, 110)</a:t>
                      </a:r>
                    </a:p>
                    <a:p>
                      <a:pPr>
                        <a:defRPr sz="1000"/>
                      </a:pPr>
                      <a:r>
                        <a:t>(−42, 150)*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— (미평가:</a:t>
                      </a:r>
                    </a:p>
                    <a:p>
                      <a:pPr>
                        <a:defRPr sz="1000"/>
                      </a:pPr>
                      <a:r>
                        <a:t>단일 채널·강결합은</a:t>
                      </a:r>
                    </a:p>
                    <a:p>
                      <a:pPr>
                        <a:defRPr sz="1000"/>
                      </a:pPr>
                      <a:r>
                        <a:t>원방법 적용 범위 밖)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10개 — 앵커 3/3 회수 포함</a:t>
                      </a:r>
                    </a:p>
                    <a:p>
                      <a:pPr>
                        <a:defRPr sz="950"/>
                      </a:pPr>
                      <a:r>
                        <a:t>(−151.2,95) (−58.9,182) (−45.9,50)</a:t>
                      </a:r>
                    </a:p>
                    <a:p>
                      <a:pPr>
                        <a:defRPr sz="950"/>
                      </a:pPr>
                      <a:r>
                        <a:t>(−38.9,67) (−12.6,42) (−2.7,37)</a:t>
                      </a:r>
                    </a:p>
                    <a:p>
                      <a:pPr>
                        <a:defRPr sz="950"/>
                      </a:pPr>
                      <a:r>
                        <a:t>(+51.7,91) (+55.9,55) (+346.9,261)</a:t>
                      </a:r>
                    </a:p>
                    <a:p>
                      <a:pPr>
                        <a:defRPr sz="950"/>
                      </a:pPr>
                      <a:r>
                        <a:t>(+430.7,58)⚠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신뢰 근거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눈 판독</a:t>
                      </a:r>
                    </a:p>
                    <a:p>
                      <a:pPr>
                        <a:defRPr sz="1000"/>
                      </a:pPr>
                      <a:r>
                        <a:t>(대략 위치 앵커)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문턱값 피크</a:t>
                      </a:r>
                    </a:p>
                    <a:p>
                      <a:pPr>
                        <a:defRPr sz="1000"/>
                      </a:pPr>
                      <a:r>
                        <a:t>오탐 포함 (P 0.55~0.78)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BIC k*=14 = RJMCMC 최빈 15</a:t>
                      </a:r>
                    </a:p>
                    <a:p>
                      <a:pPr>
                        <a:defRPr sz="950"/>
                      </a:pPr>
                      <a:r>
                        <a:t>CI 상호 비겹침 · 잔차 노이즈 바닥</a:t>
                      </a:r>
                    </a:p>
                    <a:p>
                      <a:pPr>
                        <a:defRPr sz="950"/>
                      </a:pPr>
                      <a:r>
                        <a:t>실데이터 RMSE 0.088/0.116/0.176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*수동 분석의 A∥ 부호는 m_s 브랜치 관례 차이 · ⚠ = 단일 채널 축퇴로 보류 · 2021 방법 수치는 core-pipeline 재현 기준(원방법 하한)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②: 공개 실측 50-스핀 배스로 검증</a:t>
            </a:r>
          </a:p>
          <a:p>
            <a:pPr>
              <a:defRPr sz="1200"/>
            </a:pPr>
            <a:r>
              <a:t>van de Stolpe 2024 (4TU 공개) — Jung 2021과 같은 NV 계보 · 정답을 아는 유일한 실제 스핀 환경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저온 트윈 21/27 회수(RMSE 0.074) · 상온 트윈 11/27·오탐 0 — 스핀 값은 학습에 미사용(순수 테스트)</a:t>
            </a:r>
          </a:p>
        </p:txBody>
      </p:sp>
      <p:pic>
        <p:nvPicPr>
          <p:cNvPr id="3" name="Picture 2" descr="26_twi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9692640" cy="49847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벤치마크 종합(F1): 제안 하이브리드 v2가 저온 0.84 / 상온 0.57 / 오차주입 0.61로 전 조건 1위 (2021 재현 0.38/0.37/0.35, 고전 DE 0.71/0.50/0.48, RJMCMC 0.84/0.56/0.52)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③: 실제 CPMG 데이터 (NV1: N=8/16/20 · NV2: N=16)와 최종 피팅</a:t>
            </a:r>
          </a:p>
          <a:p>
            <a:pPr>
              <a:defRPr sz="1200"/>
            </a:pPr>
            <a:r>
              <a:t>회색 = 실험 · 빨강 = 검출 스핀들의 forward model (그린 것이 아니라 물리 공식으로 계산된 예측)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14스핀이 세 측정(N=8/16/20)을 동시에 재현(RMSE 0.088/0.116/0.176) · NV2 10스핀 RMSE 0.286</a:t>
            </a:r>
          </a:p>
        </p:txBody>
      </p:sp>
      <p:pic>
        <p:nvPicPr>
          <p:cNvPr id="3" name="Picture 2" descr="21_ensemble_overlay_N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6035040" cy="3664131"/>
          </a:xfrm>
          <a:prstGeom prst="rect">
            <a:avLst/>
          </a:prstGeom>
        </p:spPr>
      </p:pic>
      <p:pic>
        <p:nvPicPr>
          <p:cNvPr id="4" name="Picture 3" descr="22_ensemble_overlay_N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17320"/>
            <a:ext cx="5577840" cy="2589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263640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왼쪽 NV1: 위→아래 N=8/16/20 — 같은 14개 스핀 목록 하나가 세 데이터를 모두 설명    • 오른쪽 NV2: 강결합 프린지 구조까지 추적 (단일 채널 한계로 1개 스핀 보류)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