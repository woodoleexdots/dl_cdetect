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①: 찾아낸 ¹³C 핵스핀 — 세 방법 비교</a:t>
            </a:r>
          </a:p>
          <a:p>
            <a:pPr>
              <a:defRPr sz="1200"/>
            </a:pPr>
            <a:r>
              <a:t>값 = (A∥, A⊥) kHz · 제안 방법은 95% 부트스트랩 CI 보유 (예: −87.9±0.9)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수동 4개 → 2021 방법은 고확률 영역까지만(개별 분해 불가) → 제안 방법 14개(결합강도+오차막대) — 앵커 전부 회수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1417320"/>
          <a:ext cx="115671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77440"/>
                <a:gridCol w="3017520"/>
                <a:gridCol w="5120640"/>
              </a:tblGrid>
              <a:tr h="1280160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이전 ppt (수동 분석)</a:t>
                      </a:r>
                    </a:p>
                  </a:txBody>
                  <a:tcPr>
                    <a:solidFill>
                      <a:srgbClr val="FCE5C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2021 방법 (core-pipeline 재현)</a:t>
                      </a:r>
                    </a:p>
                  </a:txBody>
                  <a:tcPr>
                    <a:solidFill>
                      <a:srgbClr val="F2D5C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제안 방법 (하이브리드 앙상블)</a:t>
                      </a:r>
                    </a:p>
                  </a:txBody>
                  <a:tcPr>
                    <a:solidFill>
                      <a:srgbClr val="D9EAD3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NV1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4개</a:t>
                      </a:r>
                    </a:p>
                    <a:p>
                      <a:pPr>
                        <a:defRPr sz="1000"/>
                      </a:pPr>
                      <a:r>
                        <a:t>(−88, 47)</a:t>
                      </a:r>
                    </a:p>
                    <a:p>
                      <a:pPr>
                        <a:defRPr sz="1000"/>
                      </a:pPr>
                      <a:r>
                        <a:t>(−5, 35)</a:t>
                      </a:r>
                    </a:p>
                    <a:p>
                      <a:pPr>
                        <a:defRPr sz="1000"/>
                      </a:pPr>
                      <a:r>
                        <a:t>(+8, 31)</a:t>
                      </a:r>
                    </a:p>
                    <a:p>
                      <a:pPr>
                        <a:defRPr sz="1000"/>
                      </a:pPr>
                      <a:r>
                        <a:t>(−38, 37)*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스핀 목록이 아닌 '영역'만 출력</a:t>
                      </a:r>
                    </a:p>
                    <a:p>
                      <a:pPr>
                        <a:defRPr sz="1000"/>
                      </a:pPr>
                      <a:r>
                        <a:t>고확률 영역: A∈[−6,+12]</a:t>
                      </a:r>
                    </a:p>
                    <a:p>
                      <a:pPr>
                        <a:defRPr sz="1000"/>
                      </a:pPr>
                      <a:r>
                        <a:t>(p 0.86~1.00 연속 고원),</a:t>
                      </a:r>
                    </a:p>
                    <a:p>
                      <a:pPr>
                        <a:defRPr sz="1000"/>
                      </a:pPr>
                      <a:r>
                        <a:t>A∈[+40,+46] + 피크 −34, −20, +22</a:t>
                      </a:r>
                    </a:p>
                    <a:p>
                      <a:pPr>
                        <a:defRPr sz="1000"/>
                      </a:pPr>
                      <a:r>
                        <a:t>※ 개별 스핀 분해·B값은</a:t>
                      </a:r>
                    </a:p>
                    <a:p>
                      <a:pPr>
                        <a:defRPr sz="1000"/>
                      </a:pPr>
                      <a:r>
                        <a:t>별도 회귀 단계 필요(미재현)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14개 — (A∥, A⊥) 완비</a:t>
                      </a:r>
                    </a:p>
                    <a:p>
                      <a:pPr>
                        <a:defRPr sz="950"/>
                      </a:pPr>
                      <a:r>
                        <a:t>(−87.9,18) (−18.8,16) (−11.5,14) (−5.1,22)</a:t>
                      </a:r>
                    </a:p>
                    <a:p>
                      <a:pPr>
                        <a:defRPr sz="950"/>
                      </a:pPr>
                      <a:r>
                        <a:t>(+0.6,17) (+4.0,26) (+8.4,28) (+14.2,22)</a:t>
                      </a:r>
                    </a:p>
                    <a:p>
                      <a:pPr>
                        <a:defRPr sz="950"/>
                      </a:pPr>
                      <a:r>
                        <a:t>(+24.3,20) (+39.0,28) (+48.0,25) (+65.6,28)</a:t>
                      </a:r>
                    </a:p>
                    <a:p>
                      <a:pPr>
                        <a:defRPr sz="950"/>
                      </a:pPr>
                      <a:r>
                        <a:t>(+91.9,33) (+114.4,24)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NV2</a:t>
                      </a:r>
                    </a:p>
                    <a:p>
                      <a:pPr>
                        <a:defRPr sz="1000"/>
                      </a:pPr>
                      <a:r>
                        <a:t>검출 스핀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3개</a:t>
                      </a:r>
                    </a:p>
                    <a:p>
                      <a:pPr>
                        <a:defRPr sz="1000"/>
                      </a:pPr>
                      <a:r>
                        <a:t>(−340, 290)</a:t>
                      </a:r>
                    </a:p>
                    <a:p>
                      <a:pPr>
                        <a:defRPr sz="1000"/>
                      </a:pPr>
                      <a:r>
                        <a:t>(+150, 110)</a:t>
                      </a:r>
                    </a:p>
                    <a:p>
                      <a:pPr>
                        <a:defRPr sz="1000"/>
                      </a:pPr>
                      <a:r>
                        <a:t>(−42, 150)*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— (미평가:</a:t>
                      </a:r>
                    </a:p>
                    <a:p>
                      <a:pPr>
                        <a:defRPr sz="1000"/>
                      </a:pPr>
                      <a:r>
                        <a:t>단일 채널·강결합은</a:t>
                      </a:r>
                    </a:p>
                    <a:p>
                      <a:pPr>
                        <a:defRPr sz="1000"/>
                      </a:pPr>
                      <a:r>
                        <a:t>원방법 적용 범위 밖)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10개 — 앵커 3/3 회수 포함</a:t>
                      </a:r>
                    </a:p>
                    <a:p>
                      <a:pPr>
                        <a:defRPr sz="950"/>
                      </a:pPr>
                      <a:r>
                        <a:t>(−151.2,95) (−58.9,182) (−45.9,50)</a:t>
                      </a:r>
                    </a:p>
                    <a:p>
                      <a:pPr>
                        <a:defRPr sz="950"/>
                      </a:pPr>
                      <a:r>
                        <a:t>(−38.9,67) (−12.6,42) (−2.7,37)</a:t>
                      </a:r>
                    </a:p>
                    <a:p>
                      <a:pPr>
                        <a:defRPr sz="950"/>
                      </a:pPr>
                      <a:r>
                        <a:t>(+51.7,91) (+55.9,55) (+346.9,261)</a:t>
                      </a:r>
                    </a:p>
                    <a:p>
                      <a:pPr>
                        <a:defRPr sz="950"/>
                      </a:pPr>
                      <a:r>
                        <a:t>(+430.7,58)⚠</a:t>
                      </a:r>
                    </a:p>
                  </a:txBody>
                  <a:tcPr/>
                </a:tc>
              </a:tr>
              <a:tr h="128016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신뢰 근거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눈 판독</a:t>
                      </a:r>
                    </a:p>
                    <a:p>
                      <a:pPr>
                        <a:defRPr sz="1000"/>
                      </a:pPr>
                      <a:r>
                        <a:t>(대략 위치 앵커)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윈도우 확률 고원 —</a:t>
                      </a:r>
                    </a:p>
                    <a:p>
                      <a:pPr>
                        <a:defRPr sz="1000"/>
                      </a:pPr>
                      <a:r>
                        <a:t>고원 내 개별 스핀 분해 불가</a:t>
                      </a:r>
                    </a:p>
                    <a:p>
                      <a:pPr>
                        <a:defRPr sz="1000"/>
                      </a:pPr>
                      <a:r>
                        <a:t>(예: 최강 스핀 +8이 p=0.95인데도</a:t>
                      </a:r>
                    </a:p>
                    <a:p>
                      <a:pPr>
                        <a:defRPr sz="1000"/>
                      </a:pPr>
                      <a:r>
                        <a:t>피크 검출에서 누락됨)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BIC k*=14 = RJMCMC 최빈 15</a:t>
                      </a:r>
                    </a:p>
                    <a:p>
                      <a:pPr>
                        <a:defRPr sz="950"/>
                      </a:pPr>
                      <a:r>
                        <a:t>CI 상호 비겹침 · 잔차 노이즈 바닥</a:t>
                      </a:r>
                    </a:p>
                    <a:p>
                      <a:pPr>
                        <a:defRPr sz="950"/>
                      </a:pPr>
                      <a:r>
                        <a:t>실데이터 RMSE 0.088/0.116/0.176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/>
            </a:pPr>
            <a:r>
              <a:t>*수동 분석의 A∥ 부호는 m_s 브랜치 관례 차이 · ⚠ = 단일 채널 축퇴로 보류 · 2021 방법 수치는 core-pipeline 재현 기준(원방법 하한)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②: 공개 실측 50-스핀 배스로 검증</a:t>
            </a:r>
          </a:p>
          <a:p>
            <a:pPr>
              <a:defRPr sz="1200"/>
            </a:pPr>
            <a:r>
              <a:t>van de Stolpe 2024 (4TU 공개) — Jung 2021과 같은 NV 계보 · 정답을 아는 유일한 실제 스핀 환경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저온 트윈 21/27 회수(RMSE 0.074) · 상온 트윈 11/27·오탐 0 — 스핀 값은 학습에 미사용(순수 테스트)</a:t>
            </a:r>
          </a:p>
        </p:txBody>
      </p:sp>
      <p:pic>
        <p:nvPicPr>
          <p:cNvPr id="3" name="Picture 2" descr="26_twin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25880"/>
            <a:ext cx="9692640" cy="49847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벤치마크 종합(F1): 제안 하이브리드 v2가 저온 0.84 / 상온 0.57 / 오차주입 0.61로 전 조건 1위 (2021 재현 0.38/0.37/0.35, 고전 DE 0.71/0.50/0.48, RJMCMC 0.84/0.56/0.52)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30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요약 ③: 실제 CPMG 데이터 (NV1: N=8/16/20 · NV2: N=16)와 최종 피팅</a:t>
            </a:r>
          </a:p>
          <a:p>
            <a:pPr>
              <a:defRPr sz="1200"/>
            </a:pPr>
            <a:r>
              <a:t>회색 = 실험 · 빨강 = 검출 스핀들의 forward model (그린 것이 아니라 물리 공식으로 계산된 예측)</a:t>
            </a:r>
          </a:p>
          <a:p>
            <a:pPr>
              <a:defRPr sz="1400" b="1">
                <a:solidFill>
                  <a:srgbClr val="B45000"/>
                </a:solidFill>
              </a:defRPr>
            </a:pPr>
            <a:r>
              <a:t>▶ NV1 14스핀이 세 측정(N=8/16/20)을 동시에 재현(RMSE 0.088/0.116/0.176) · NV2 10스핀 RMSE 0.286</a:t>
            </a:r>
          </a:p>
        </p:txBody>
      </p:sp>
      <p:pic>
        <p:nvPicPr>
          <p:cNvPr id="3" name="Picture 2" descr="21_ensemble_overlay_N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417320"/>
            <a:ext cx="6035040" cy="3664131"/>
          </a:xfrm>
          <a:prstGeom prst="rect">
            <a:avLst/>
          </a:prstGeom>
        </p:spPr>
      </p:pic>
      <p:pic>
        <p:nvPicPr>
          <p:cNvPr id="4" name="Picture 3" descr="22_ensemble_overlay_N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417320"/>
            <a:ext cx="5577840" cy="25897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263640"/>
            <a:ext cx="114300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• 왼쪽 NV1: 위→아래 N=8/16/20 — 같은 14개 스핀 목록 하나가 세 데이터를 모두 설명    • 오른쪽 NV2: 강결합 프린지 구조까지 추적 (단일 채널 한계로 1개 스핀 보류)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