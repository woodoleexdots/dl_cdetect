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고확률 영역까지만(개별 분해 불가) → 제안 방법 14개(결합강도+오차막대)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목록이 아닌 '영역'만 출력</a:t>
                      </a:r>
                    </a:p>
                    <a:p>
                      <a:pPr>
                        <a:defRPr sz="1000"/>
                      </a:pPr>
                      <a:r>
                        <a:t>고확률 영역: A∈[−6,+12]</a:t>
                      </a:r>
                    </a:p>
                    <a:p>
                      <a:pPr>
                        <a:defRPr sz="1000"/>
                      </a:pPr>
                      <a:r>
                        <a:t>(p 0.86~1.00 연속 고원),</a:t>
                      </a:r>
                    </a:p>
                    <a:p>
                      <a:pPr>
                        <a:defRPr sz="1000"/>
                      </a:pPr>
                      <a:r>
                        <a:t>A∈[+40,+46] + 피크 −34, −20, +22</a:t>
                      </a:r>
                    </a:p>
                    <a:p>
                      <a:pPr>
                        <a:defRPr sz="1000"/>
                      </a:pPr>
                      <a:r>
                        <a:t>※ 개별 스핀 분해·B값은</a:t>
                      </a:r>
                    </a:p>
                    <a:p>
                      <a:pPr>
                        <a:defRPr sz="1000"/>
                      </a:pPr>
                      <a:r>
                        <a:t>별도 회귀 단계 필요(미재현)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신뢰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</a:t>
                      </a:r>
                    </a:p>
                    <a:p>
                      <a:pPr>
                        <a:defRPr sz="1000"/>
                      </a:pPr>
                      <a:r>
                        <a:t>(대략 위치 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윈도우 확률 고원 —</a:t>
                      </a:r>
                    </a:p>
                    <a:p>
                      <a:pPr>
                        <a:defRPr sz="1000"/>
                      </a:pPr>
                      <a:r>
                        <a:t>고원 내 개별 스핀 분해 불가</a:t>
                      </a:r>
                    </a:p>
                    <a:p>
                      <a:pPr>
                        <a:defRPr sz="1000"/>
                      </a:pPr>
                      <a:r>
                        <a:t>(예: 최강 스핀 +8이 p=0.95인데도</a:t>
                      </a:r>
                    </a:p>
                    <a:p>
                      <a:pPr>
                        <a:defRPr sz="1000"/>
                      </a:pPr>
                      <a:r>
                        <a:t>피크 검출에서 누락됨)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BIC k*=14 = RJMCMC 최빈 15</a:t>
                      </a:r>
                    </a:p>
                    <a:p>
                      <a:pPr>
                        <a:defRPr sz="950"/>
                      </a:pPr>
                      <a:r>
                        <a:t>CI 상호 비겹침 · 잔차 노이즈 바닥</a:t>
                      </a:r>
                    </a:p>
                    <a:p>
                      <a:pPr>
                        <a:defRPr sz="950"/>
                      </a:pPr>
                      <a:r>
                        <a:t>실데이터 RMSE 0.088/0.116/0.176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고원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70916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개수 근거 — BIC 최소 k*=14, RJMCMC 사후 최빈 15와 정합 · 스핀 추가 벌점 통과분만 채택</a:t>
            </a:r>
          </a:p>
          <a:p>
            <a:pPr>
              <a:defRPr sz="1150"/>
            </a:pPr>
            <a:r>
              <a:t>• 통계적 실체 — 14개 전부 95% CI 상호 비겹침 (부트스트랩 60회)</a:t>
            </a:r>
          </a:p>
          <a:p>
            <a:pPr>
              <a:defRPr sz="1150"/>
            </a:pPr>
            <a:r>
              <a:t>• 물리 재현 — 단일 목록으로 N=8/16/20 세 측정 동시 설명, RMSE 0.088/0.116/0.176 (노이즈 바닥 도달)</a:t>
            </a:r>
          </a:p>
          <a:p>
            <a:pPr>
              <a:defRPr sz="1150"/>
            </a:pPr>
            <a:r>
              <a:t>• 외부 정합 — 수동 분석 앵커 NV1 4/4 · NV2 3/3 회수 (부호는 m_s 브랜치 관례 차이)</a:t>
            </a:r>
          </a:p>
          <a:p>
            <a:pPr>
              <a:defRPr sz="1150"/>
            </a:pPr>
            <a:r>
              <a:t>• NV2 주의 — 단일 채널(CPMG-16)이라 A⊥는 대표값 · (+430.7) 축퇴 잔재 가능, CPMG-8/20 추가 측정 시 판정</a:t>
            </a:r>
          </a:p>
          <a:p>
            <a:pPr>
              <a:defRPr sz="1150"/>
            </a:pPr>
            <a:r>
              <a:t>• 목록 외 후보 — NV1 A≈−32±3 (3계열 지지, 최종 피팅 미포함)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