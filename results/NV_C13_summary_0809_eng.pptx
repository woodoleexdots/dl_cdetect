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6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45"/>
  </p:normalViewPr>
  <p:slideViewPr>
    <p:cSldViewPr snapToGrid="0" snapToObjects="1">
      <p:cViewPr>
        <p:scale>
          <a:sx n="103" d="100"/>
          <a:sy n="103" d="100"/>
        </p:scale>
        <p:origin x="616" y="10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ayesian_information_criterion" TargetMode="External"/><Relationship Id="rId2" Type="http://schemas.openxmlformats.org/officeDocument/2006/relationships/hyperlink" Target="https://en.wikipedia.org/wiki/Reversible-jump_Markov_chain_Monte_Carlo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947887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¹³C Nuclear Spins — Comparison of Three Methods' Results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B45000"/>
                </a:solidFill>
              </a:defRPr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B45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2021 paper – limitations of Dr. Jung's method, with comparison table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45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258654"/>
              </p:ext>
            </p:extLst>
          </p:nvPr>
        </p:nvGraphicFramePr>
        <p:xfrm>
          <a:off x="479539" y="1163346"/>
          <a:ext cx="115671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4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Manual analysis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2021 method (Dr. Jung's method)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 method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93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rPr sz="105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NV1</a:t>
                      </a:r>
                      <a:endParaRPr lang="en-US" sz="105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defRPr sz="1000" b="1"/>
                      </a:pPr>
                      <a:r>
                        <a:rPr lang="en-US" sz="1050" b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Dataset</a:t>
                      </a:r>
                      <a:endParaRPr sz="1050" b="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 spins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(−88, 47)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(−5, 35)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(+8, 31)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(−38, 37)*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Output = 5 high-probability positions on the A∥ probability curve</a:t>
                      </a:r>
                    </a:p>
                    <a:p>
                      <a:pPr algn="l"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(only says 'a spin is near this A∥' —</a:t>
                      </a:r>
                    </a:p>
                    <a:p>
                      <a:pPr algn="l"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A⊥, count, and exact values are not output)</a:t>
                      </a:r>
                    </a:p>
                    <a:p>
                      <a:pPr algn="l"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 Region A∈[−6, +12] (site of 5 WD spins)</a:t>
                      </a:r>
                    </a:p>
                    <a:p>
                      <a:pPr algn="l"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 Region A∈[+40, +46] (near WD +39/+48)</a:t>
                      </a:r>
                    </a:p>
                    <a:p>
                      <a:pPr algn="l"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③ Peak −20 = WD (−18.8) site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 Peak +22 = WD (+24.3) site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 Peak −34 = none; matches off-list candidate −32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 spins — (A∥, A⊥)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(−87.9,18) (−18.8,16) (−11.5,14) (−5.1,22)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(+0.6,17) (+4.0,26) (+8.4,28) (+14.2,22)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(+24.3,20) (+39.0,28) (+48.0,25) (+65.6,28)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(+91.9,33) (+114.4,24)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202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rPr sz="105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NV2</a:t>
                      </a:r>
                    </a:p>
                    <a:p>
                      <a:pPr algn="ctr">
                        <a:defRPr sz="1000"/>
                      </a:pP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Dataset</a:t>
                      </a:r>
                      <a:endParaRPr sz="105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 spins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(−340, 290)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(+150, 110)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(−42, 150)*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 Not evaluable: single-channel, strongly-coupled data is out of scope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 spins — (A∥, A⊥)</a:t>
                      </a:r>
                      <a:endParaRPr sz="11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(−151.2,95) (−58.9,182) (−45.9,50)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(−38.9,67) (−12.6,42) (−2.7,37)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(+51.7,91) (+55.9,55) (+346.9,261)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(+430.7,58)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sz="11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202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Notes</a:t>
                      </a:r>
                      <a:endParaRPr sz="105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Rough position anchors from visual reading —</a:t>
                      </a:r>
                    </a:p>
                    <a:p>
                      <a:pPr algn="l"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all 7 rediscovered in the WD list. A⊥ tends to be overestimated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Gets positions right, but the list is incomplete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1000"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Outputs only down to region/peak level</a:t>
                      </a:r>
                      <a:endParaRPr lang="en-US"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Later regression stage fixing count and exact A∥, A⊥ is out of scope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Count (BIC, consistent with RJMCMC posterior)</a:t>
                      </a:r>
                    </a:p>
                    <a:p>
                      <a:pPr algn="l">
                        <a:defRPr sz="950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complete with A⊥ values · 95% CI</a:t>
                      </a:r>
                      <a:endParaRPr sz="11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950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Reproduces 3 measurements simultaneously, RMSE 0.088–0.176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146800"/>
            <a:ext cx="11430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*A∥ signs from manual analysis differ by m_s branch convention · *withheld due to possible strong coupling or degeneracy</a:t>
            </a:r>
          </a:p>
          <a:p>
            <a:pPr>
              <a:defRPr sz="100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† BIC (Bayesian Information Criterion) = statistical rule that increases the count only when the fit improvement from adding a spin outweighs the complexity penalty</a:t>
            </a:r>
          </a:p>
          <a:p>
            <a:pPr>
              <a:defRPr sz="90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95% CI (confidence interval) = 'interval containing the true value with 95% probability' (error bars), measured from the value spread across 60 residual-bootstrap refits</a:t>
            </a:r>
          </a:p>
        </p:txBody>
      </p:sp>
    </p:spTree>
    <p:extLst>
      <p:ext uri="{BB962C8B-B14F-4D97-AF65-F5344CB8AC3E}">
        <p14:creationId xmlns:p14="http://schemas.microsoft.com/office/powerpoint/2010/main" val="251300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00173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2021 Method vs Our Method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Compared in the same measured spin environment (NV1) — WD method ahead by ×2.2 cryo, ×1.5 room temp, ×1.7 error-injected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972123"/>
              </p:ext>
            </p:extLst>
          </p:nvPr>
        </p:nvGraphicFramePr>
        <p:xfrm>
          <a:off x="358140" y="1866451"/>
          <a:ext cx="11475720" cy="3272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815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endParaRPr sz="16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lang="en-US" sz="16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2021 method (core-pipeline reproduction)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 method (PF→RJMCMC hybrid v2)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88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Architecture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 independent per-window MLPs + separate denoiser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Neural detection (cross-window attention) + region-constrained physics fitting + BIC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88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lang="en-US" sz="14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High-probability regions (A∥ position candidates); A⊥ and count require a separate stage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Final spin list {(A∥, A⊥)} × k* — count automatic · 95% CI provided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6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Measured 50-spin validation (F1)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Cryo 0.38 · room temp 0.37 · error-injected 0.35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Cryo 0.84 · room temp 0.57 · error-injected 0.61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6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False alarms (precision)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0.55–1.00 (collapses at room temp)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0.87–1.00 (0.87 even with error injection)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87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Real data NV1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high-probability regions + 3 peaks (individual spins not resolvable)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 spins confirmed (with CI); reproduces 3 measurements simultaneously, RMSE 0.09–0.18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6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Prerequisites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Cryogenic · high SNR · long N=32/256 measurements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Works at room temp · 700 points · N≤20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73952"/>
            <a:ext cx="835677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Fairness — 2021 figures are from a core-pipeline reproduction · both methods use the same forward model and the same scoring rules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2806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59" y="109728"/>
            <a:ext cx="99391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Model Comparison: Block Diagram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B45000"/>
                </a:solidFill>
              </a:defRPr>
            </a:pPr>
            <a:r>
              <a:rPr lang="en-US" alt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Only the window-folding step is shared — our model is designed to also determine how many spins there are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45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130887"/>
            <a:ext cx="1600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3A2F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2021 method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846730" y="938605"/>
            <a:ext cx="1325880" cy="868680"/>
          </a:xfrm>
          <a:prstGeom prst="roundRect">
            <a:avLst/>
          </a:prstGeom>
          <a:solidFill>
            <a:srgbClr val="E8E8E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CPMG signal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 channel (700,)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1010" y="1825573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Assumes cryogenic, long measurements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90898" y="1372945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46930" y="938605"/>
            <a:ext cx="1417320" cy="868680"/>
          </a:xfrm>
          <a:prstGeom prst="roundRect">
            <a:avLst/>
          </a:prstGeom>
          <a:solidFill>
            <a:srgbClr val="DBE9F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Period folding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13×53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8642" y="1825573"/>
            <a:ext cx="1508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One candidate period at a time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82537" y="1372945"/>
            <a:ext cx="237745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38570" y="938605"/>
            <a:ext cx="169164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MLP ×61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independent per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2850" y="1825573"/>
            <a:ext cx="1783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 cross-talk → false alarms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48497" y="1372945"/>
            <a:ext cx="237745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04530" y="938605"/>
            <a:ext cx="150876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3-class probability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(3,) per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810" y="1825573"/>
            <a:ext cx="1600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P(0/1/2 spins)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31578" y="1372945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87610" y="938605"/>
            <a:ext cx="1371600" cy="868680"/>
          </a:xfrm>
          <a:prstGeom prst="roundRect">
            <a:avLst/>
          </a:prstGeom>
          <a:solidFill>
            <a:srgbClr val="FDEBD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Peak detection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regions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1889" y="1825573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Count &amp; B unresolved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" y="2934100"/>
            <a:ext cx="1600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0000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WD method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919882" y="2744544"/>
            <a:ext cx="1188720" cy="868680"/>
          </a:xfrm>
          <a:prstGeom prst="roundRect">
            <a:avLst/>
          </a:prstGeom>
          <a:solidFill>
            <a:srgbClr val="E8E8E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3-channel signal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(3, 700)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162" y="3631512"/>
            <a:ext cx="1280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N=8/16/20 together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26890" y="3178884"/>
            <a:ext cx="237743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82922" y="2744544"/>
            <a:ext cx="1463040" cy="868680"/>
          </a:xfrm>
          <a:prstGeom prst="roundRect">
            <a:avLst/>
          </a:prstGeom>
          <a:solidFill>
            <a:srgbClr val="DBE9F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61-window folding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tokens (61,3,13,53)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202" y="3631512"/>
            <a:ext cx="1554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All periods at once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4864250" y="3178884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20282" y="2744544"/>
            <a:ext cx="137160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Attention ×4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windows 'confer'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562" y="3631512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Only real spins pass · 0 false alarms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10170" y="3178884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766202" y="2744544"/>
            <a:ext cx="1371600" cy="868680"/>
          </a:xfrm>
          <a:prstGeom prst="roundRect">
            <a:avLst/>
          </a:prstGeom>
          <a:solidFill>
            <a:srgbClr val="FDEBD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P(spin) → regions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candidate intervals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482" y="3631512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Decides where to dig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56090" y="3178884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122" y="2744544"/>
            <a:ext cx="160020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Region-constrained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RJMCMC + BIC</a:t>
            </a:r>
            <a:r>
              <a:rPr lang="en-US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endParaRPr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physics-formula fitting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66401" y="3631512"/>
            <a:ext cx="1691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Count decided statistically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0030610" y="3178884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286641" y="2744544"/>
            <a:ext cx="1417320" cy="868680"/>
          </a:xfrm>
          <a:prstGeom prst="roundRect">
            <a:avLst/>
          </a:prstGeom>
          <a:solidFill>
            <a:srgbClr val="FDEBD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Spin list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{(A∥,A⊥)}×k*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0921" y="3631512"/>
            <a:ext cx="15087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NV1: 14 spins · with 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2177542"/>
            <a:ext cx="11455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55CC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↕ Both start from the same 'period folding' — 2021 stops there (isolated decisions); we bundle the 61 folded windows into tokens that "confer", then focus on the resulting regions and enumerate spins by fitting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4152" y="406762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*Reversible-Jump Markov Chain Monte Carlo :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2"/>
              </a:rPr>
              <a:t>https://en.wikipedia.org/wiki/Reversible-jump_Markov_chain_Monte_Carlo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Bayesian information criterion :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3"/>
              </a:rPr>
              <a:t>https://en.wikipedia.org/wiki/Bayesian_information_criterion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graphicFrame>
        <p:nvGraphicFramePr>
          <p:cNvPr id="38" name="Table 36">
            <a:extLst>
              <a:ext uri="{FF2B5EF4-FFF2-40B4-BE49-F238E27FC236}">
                <a16:creationId xmlns:a16="http://schemas.microsoft.com/office/drawing/2014/main" id="{2D5BC8C3-ECD2-CDBC-02DA-259CCD606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145643"/>
              </p:ext>
            </p:extLst>
          </p:nvPr>
        </p:nvGraphicFramePr>
        <p:xfrm>
          <a:off x="431292" y="4676385"/>
          <a:ext cx="1147572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7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Feature</a:t>
                      </a:r>
                      <a:endParaRPr sz="16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2021 method</a:t>
                      </a:r>
                      <a:endParaRPr sz="16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 method</a:t>
                      </a:r>
                      <a:endParaRPr sz="16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Window decisions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 windows decide individually (isolated) — no cross-reference → false alarms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Attention lets windows reinforce each other ('confer') → filters out fake signals · 0 false alarms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Spin search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Peak finding without regions — only A∥ position clues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Region-constrained enumeration — physics fitting only within candidate intervals + count decided by BIC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Output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Up to A∥ position candidates (regions/peaks)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Complete spin list: count k* · A∥ · coupling strength A⊥ · 95% CI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Validation (measured 50-spin F1)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0.35 ~ 0.38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0.57 ~ 0.84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195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2332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Overview of the Public 50-Spin Dataset (van de Stolpe et al. 2024)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network of 50 ¹³C nuclear spins around a single NV center in diamond — a measured dataset with all per-spin parameters published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Picture 2" descr="delft50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0" y="817614"/>
            <a:ext cx="10789920" cy="2911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219862-531A-D2FA-BF3C-B466FC9D9C85}"/>
              </a:ext>
            </a:extLst>
          </p:cNvPr>
          <p:cNvSpPr txBox="1"/>
          <p:nvPr/>
        </p:nvSpPr>
        <p:spPr>
          <a:xfrm>
            <a:off x="490208" y="6040386"/>
            <a:ext cx="10714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"Mapping a 50-spin-qubit network through correlated sensing" — Nature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Communications 15, 2006 (2024) · Delft(</a:t>
            </a:r>
            <a:r>
              <a:rPr lang="en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Taminiau</a:t>
            </a: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group)</a:t>
            </a:r>
          </a:p>
          <a:p>
            <a:pPr>
              <a:defRPr sz="1200"/>
            </a:pPr>
            <a:r>
              <a:rPr lang="en-US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Paper: doi.org/10.1038/s41467-024-46075-4      Data (4TU.ResearchData): doi.org/10.4121/aba1cc84-0aea-4cdc-93ca-68b0db38bd81.v1</a:t>
            </a: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A448553D-2A88-7CA2-BF20-2F1B818A1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937058"/>
              </p:ext>
            </p:extLst>
          </p:nvPr>
        </p:nvGraphicFramePr>
        <p:xfrm>
          <a:off x="362420" y="3729180"/>
          <a:ext cx="11475720" cy="2072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System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One single NV center in diamond + 50 surrounding ¹³C nuclear spins (+1 nitrogen) — entire network mapped with correlated-sensing (concatenated double-resonance) sequences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Measurement conditions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Cryogenic 3.7 K · B = 403.553 G (along NV axis) · presumably the same NV sample as Jung 2021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Published spin information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Per-spin hyperfine (A∥: −48.5 to +213.2 kHz, A⊥: 0.2 to 59.2 kHz) · spin frequencies · 3D lattice positions · 474 measured nuclear–nuclear couplings (mostly a few Hz)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File contents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spin_table / spin_frequencies / spin_positions / spin_measured(predicted)_couplings (xlsx·pkl) + notebooks reproducing the paper's figures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08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11874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Noise Modeling — Basis for the Synthetic σ</a:t>
            </a:r>
            <a:endParaRPr lang="en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σ extracted by statistical estimation from measured NV1/NV2 data; scheme for mixing cryogenic data into room-temperature data</a:t>
            </a:r>
            <a:endParaRPr lang="ko-KR" altLang="en-US" sz="1400" b="1" dirty="0">
              <a:solidFill>
                <a:srgbClr val="B45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" name="Picture 3" descr="nois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3429000"/>
            <a:ext cx="11567160" cy="2313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3860" y="5828092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Figure: zoom of raw NV1 (N=8/16/20) and NV2 (N=16) data (τ 4–7 µs) — scatter around the moving median (red) matches the ±2σ̂ band</a:t>
            </a:r>
          </a:p>
          <a:p>
            <a:pPr>
              <a:defRPr sz="1100"/>
            </a:pPr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Rightmost figure: per-channel σ̂ vs adopted value (0.06) and training range (0.03–0.12)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8CD7985B-9329-7366-8570-9962E36D0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759596"/>
              </p:ext>
            </p:extLst>
          </p:nvPr>
        </p:nvGraphicFramePr>
        <p:xfrm>
          <a:off x="358140" y="939668"/>
          <a:ext cx="11475720" cy="233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464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Step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4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Method / 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Meaning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32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 σ estimator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Adjacent-point differences dᵢ = yᵢ₊₁ − yᵢ  →  σ̂ = std(d)/√2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Slow signal components cancel out, leaving only noise (standard estimator under an independent-Gaussian assumption)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46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 Measured results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NV1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σ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̂ = 0.030 / 0.047 / 0.065 (N=8/16/20) · NV2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σ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̂ = 0.077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Biased toward overestimation where dip signal mixes in = conservative upper bound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32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③ Noise mixing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Room-temp twin σ = 0.06 · cryo twin σ = 0.02 (white Gaussian)</a:t>
                      </a:r>
                    </a:p>
                    <a:p>
                      <a:pPr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T2 decay curves and contrast also randomized within measured ranges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Room temp matches the NV1 channel level; cryo follows literature conditions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46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 Training randomization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Training data uses σ ∈ [0.03, 0.12], uniformly random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Prevents the detector from specializing to one noise level (avoids overfitting)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23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97311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/>
              <a:t>Validation on the 50-Spin Data</a:t>
            </a:r>
            <a:endParaRPr dirty="0"/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lang="en-US" dirty="0"/>
              <a:t>Cryo data: 21/27 confirmed (RMSE 0.074) · room-temp mixed data: 11/27 · 0 false alarms — TEST spin values not used in training</a:t>
            </a:r>
            <a:endParaRPr dirty="0"/>
          </a:p>
        </p:txBody>
      </p:sp>
      <p:pic>
        <p:nvPicPr>
          <p:cNvPr id="3" name="Picture 2" descr="26_twin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38" y="1098599"/>
            <a:ext cx="9692640" cy="4984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24600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Benchmark summary (F1): the proposed hybrid v2 ranks 1st in every condition — cryo 0.84 / room temp 0.57 / error-injected 0.61 (2021 reproduction 0.38/0.37/0.35, classical DE 0.71/0.50/0.48, RJMCMC 0.84/0.56/0.52)</a:t>
            </a:r>
          </a:p>
        </p:txBody>
      </p:sp>
    </p:spTree>
    <p:extLst>
      <p:ext uri="{BB962C8B-B14F-4D97-AF65-F5344CB8AC3E}">
        <p14:creationId xmlns:p14="http://schemas.microsoft.com/office/powerpoint/2010/main" val="41810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78450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Final Confirmed NV1 / NV2 ¹³C Nuclear Spin Lists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lang="en-US" sz="1400" b="1" dirty="0">
                <a:solidFill>
                  <a:srgbClr val="B45000"/>
                </a:solidFill>
              </a:rPr>
              <a:t>NV1: 14 + NV2: 9 (+1 withheld) — spin lists confirmed by physics, statistics, and cross-validation</a:t>
            </a:r>
            <a:endParaRPr sz="1400" b="1" dirty="0">
              <a:solidFill>
                <a:srgbClr val="B45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059927"/>
            <a:ext cx="129554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NV1 — 14 spins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212112"/>
              </p:ext>
            </p:extLst>
          </p:nvPr>
        </p:nvGraphicFramePr>
        <p:xfrm>
          <a:off x="365760" y="1379967"/>
          <a:ext cx="28346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(−87.9 ±0.9, 18.3)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(−18.8 ±1.2, 15.5)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(−11.5 ±1.7, 13.9)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(−5.1 ±0.6, 22.5)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(+0.6 ±1.5, 17.1)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(+4.0 ±0.7, 26.2)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(+8.4 ±0.6, 27.8)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002973"/>
              </p:ext>
            </p:extLst>
          </p:nvPr>
        </p:nvGraphicFramePr>
        <p:xfrm>
          <a:off x="3337560" y="1379967"/>
          <a:ext cx="28346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(+14.2 ±1.0, 21.7)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(+24.3 ±1.5, 20.1)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(+39.0 ±2.0, 28.2)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(+48.0 ±2.6, 25.1)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(+65.6 ±1.0, 27.6)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(+91.9 ±0.7, 32.6)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(+114.4 ±1.7, 23.9)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059927"/>
            <a:ext cx="21563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NV2 — 9 spins + 1 withheld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364379"/>
              </p:ext>
            </p:extLst>
          </p:nvPr>
        </p:nvGraphicFramePr>
        <p:xfrm>
          <a:off x="6766560" y="1379967"/>
          <a:ext cx="2834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(+346.9, 261)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(−151.2, 95)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(−58.9, 182)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(−45.9, 50)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(−38.9, 67)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764037"/>
              </p:ext>
            </p:extLst>
          </p:nvPr>
        </p:nvGraphicFramePr>
        <p:xfrm>
          <a:off x="9738360" y="1379967"/>
          <a:ext cx="22860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(−12.6, 42)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(−2.7, 37)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(+51.7, 91)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(+55.9, 55)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(+430.7, 58)  withheld: unclear whether strongly coupled or degenerate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1E9AD15B-A677-BD6D-2334-42F17F190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989919"/>
              </p:ext>
            </p:extLst>
          </p:nvPr>
        </p:nvGraphicFramePr>
        <p:xfrm>
          <a:off x="358140" y="4310616"/>
          <a:ext cx="11475720" cy="2331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Count basis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BIC minimum k*=14 · consistent with RJMCMC posterior mode 15 (the most probable value in the count distribution) · only spins passing the addition penalty are accepted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Statistical reality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All 14 have mutually non-overlapping 95% CIs (60 bootstrap runs)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Physical reproduction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 single list explains all three N=8/16/20 measurements at once, RMSE 0.088/0.116/0.176 (reaching the noise floor)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External consistency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Confirmed consistent with manual-analysis anchors: NV1 4/4 · NV2 3/3</a:t>
                      </a:r>
                      <a:endParaRPr sz="12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NV2 caveat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Single channel (CPMG-16), so A⊥ is a representative value · (+430.7) may be a degeneracy artifact → to be settled with additional CPMG-8/20 measurements</a:t>
                      </a:r>
                      <a:endParaRPr sz="12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Off-list candidate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NV1 A ≈ −32±3 (supported by 3 series, not included in the final fit)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25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26700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Fitting-Curve Synthesis — Product of Per-Spin Dips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 predicted values are computed from the spin list; the fitting-curve method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Picture 2" descr="fit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955177"/>
            <a:ext cx="11612880" cy="27846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257800"/>
            <a:ext cx="11430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Divide the experimental Pₓ by the envelope to normalize to the model's M scale → ② each spin (Aᵢ, Bᵢ) generates a dip train Mᵢ at its own period → ③ the total product ∏Mᵢ is the fitting curve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200"/>
            </a:pP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20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Each added spin adds a factor to the product, reproducing finer structure</a:t>
            </a:r>
          </a:p>
          <a:p>
            <a:pPr>
              <a:defRPr sz="120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On NV2, going from 6 to 10 spins lowers RMSE 0.308→0.286 (passes BIC; residual decrease = not overfitting)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53FC8-C6A7-B8E5-3C7D-8B59E2B4C25B}"/>
              </a:ext>
            </a:extLst>
          </p:cNvPr>
          <p:cNvSpPr txBox="1"/>
          <p:nvPr/>
        </p:nvSpPr>
        <p:spPr>
          <a:xfrm>
            <a:off x="381000" y="3744097"/>
            <a:ext cx="1143000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Implemented per Jung 2021 Eq.1–3 · cpmg/physics.py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200" b="0">
                <a:solidFill>
                  <a:srgbClr val="1A1A6E"/>
                </a:solidFill>
              </a:defRPr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Eq.1  Single-spin dip:   Mₖ(τ) = 1 − K·sin²(Nφ/2),    K = mₓ²·(1−cos α)(1−cos β)/(1+cos φ)</a:t>
            </a:r>
          </a:p>
          <a:p>
            <a:pPr>
              <a:defRPr sz="1200" b="0">
                <a:solidFill>
                  <a:srgbClr val="1A1A6E"/>
                </a:solidFill>
              </a:defRPr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Eq.2  Phase:   cos φ = cos α·cos β − m_z·sin α·sin β,    α = ω̃τ (spin precession) · β = ω_L τ (Larmor precession)</a:t>
            </a:r>
          </a:p>
          <a:p>
            <a:pPr>
              <a:defRPr sz="1200" b="0">
                <a:solidFill>
                  <a:srgbClr val="1A1A6E"/>
                </a:solidFill>
              </a:defRPr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Eq.3  Spin axis:   ω̃ = √[(A∥+ω_L)² + A⊥²],  m_z = (A∥+ω_L)/ω̃,  mₓ = A⊥/ω̃</a:t>
            </a:r>
          </a:p>
          <a:p>
            <a:pPr>
              <a:defRPr sz="1200" b="0">
                <a:solidFill>
                  <a:srgbClr val="1A1A6E"/>
                </a:solidFill>
              </a:defRPr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  Total product M(τ) = ∏ₖ Mₖ(τ),  Pₓ = ½(1 + a₀·M·e^−(τ/T₂)ⁿ)</a:t>
            </a:r>
          </a:p>
        </p:txBody>
      </p:sp>
    </p:spTree>
    <p:extLst>
      <p:ext uri="{BB962C8B-B14F-4D97-AF65-F5344CB8AC3E}">
        <p14:creationId xmlns:p14="http://schemas.microsoft.com/office/powerpoint/2010/main" val="44755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2812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Final Fit: Real CPMG Data (NV1: N=8/16/20 · NV2: N=16)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NV1: 14 spins reproduce all three measurements (N=8/16/20) simultaneously (RMSE 0.088/0.116/0.176) · NV2: 10 spins, RMSE 0.286</a:t>
            </a:r>
          </a:p>
        </p:txBody>
      </p:sp>
      <p:pic>
        <p:nvPicPr>
          <p:cNvPr id="3" name="Picture 2" descr="21_ensemble_overlay_N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489037"/>
            <a:ext cx="6035040" cy="3664131"/>
          </a:xfrm>
          <a:prstGeom prst="rect">
            <a:avLst/>
          </a:prstGeom>
        </p:spPr>
      </p:pic>
      <p:pic>
        <p:nvPicPr>
          <p:cNvPr id="4" name="Picture 3" descr="22_ensemble_overlay_N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261" y="1489037"/>
            <a:ext cx="5577840" cy="2589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5358205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Left, NV1: top→bottom N=8/16/20 — one and the same 14-spin list explains all three datasets    </a:t>
            </a:r>
          </a:p>
          <a:p>
            <a:pPr>
              <a:defRPr sz="1200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Right, NV2: tracks even the strong-coupling fringe structure (1 spin withheld due to the single-channel limit)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3C893-C390-1048-7C4B-13C72FB16213}"/>
              </a:ext>
            </a:extLst>
          </p:cNvPr>
          <p:cNvSpPr txBox="1"/>
          <p:nvPr/>
        </p:nvSpPr>
        <p:spPr>
          <a:xfrm>
            <a:off x="6278880" y="4840188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Gray = experiment · red = forward model from the detected spins</a:t>
            </a:r>
          </a:p>
        </p:txBody>
      </p:sp>
    </p:spTree>
    <p:extLst>
      <p:ext uri="{BB962C8B-B14F-4D97-AF65-F5344CB8AC3E}">
        <p14:creationId xmlns:p14="http://schemas.microsoft.com/office/powerpoint/2010/main" val="186180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8825F1-2FD4-454B-BCB6-8FAB5BC8681E}">
  <we:reference id="wa200010725" version="1.0.0.1" store="ko-KR" storeType="OMEX"/>
  <we:alternateReferences>
    <we:reference id="WA200010725" version="1.0.0.1" store="" storeType="OMEX"/>
  </we:alternateReferences>
  <we:properties>
    <we:property name="claude.fileId" value="&quot;f1d87ffb-81c2-4523-aae1-db48f63a0fd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2275</Words>
  <Application>Microsoft Macintosh PowerPoint</Application>
  <PresentationFormat>와이드스크린</PresentationFormat>
  <Paragraphs>219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woodo lee</cp:lastModifiedBy>
  <cp:revision>44</cp:revision>
  <dcterms:created xsi:type="dcterms:W3CDTF">2013-01-27T09:14:16Z</dcterms:created>
  <dcterms:modified xsi:type="dcterms:W3CDTF">2026-08-09T11:57:34Z</dcterms:modified>
  <cp:category/>
</cp:coreProperties>
</file>