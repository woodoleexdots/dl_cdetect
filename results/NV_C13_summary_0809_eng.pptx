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6" r:id="rId2"/>
    <p:sldId id="267" r:id="rId3"/>
    <p:sldId id="268" r:id="rId4"/>
    <p:sldId id="277" r:id="rId15"/>
    <p:sldId id="278" r:id="rId16"/>
    <p:sldId id="279" r:id="rId17"/>
    <p:sldId id="269" r:id="rId5"/>
    <p:sldId id="270" r:id="rId6"/>
    <p:sldId id="271" r:id="rId7"/>
    <p:sldId id="276" r:id="rId8"/>
    <p:sldId id="274" r:id="rId9"/>
    <p:sldId id="275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386"/>
    <p:restoredTop sz="94645"/>
  </p:normalViewPr>
  <p:slideViewPr>
    <p:cSldViewPr snapToGrid="0" snapToObjects="1">
      <p:cViewPr>
        <p:scale>
          <a:sx n="103" d="100"/>
          <a:sy n="103" d="100"/>
        </p:scale>
        <p:origin x="616" y="103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8/9/26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8/9/26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en.wikipedia.org/wiki/Reversible-jump_Markov_chain_Monte_Carlo" TargetMode="External"/><Relationship Id="rId3" Type="http://schemas.openxmlformats.org/officeDocument/2006/relationships/hyperlink" Target="https://en.wikipedia.org/wiki/Bayesian_information_criterion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109728"/>
            <a:ext cx="9478877" cy="70788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rPr lang="en-US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¹³C Nuclear Spins — Comparison of Three Methods' Results</a:t>
            </a:r>
            <a:endParaRPr lang="en-US" altLang="ko-KR"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400" b="1">
                <a:solidFill>
                  <a:srgbClr val="B45000"/>
                </a:solidFill>
              </a:defRPr>
            </a:pPr>
            <a:r>
              <a:rPr kumimoji="0" lang="en-US" altLang="ko-KR" sz="1400" b="1" i="0" u="none" strike="noStrike" kern="1200" cap="none" spc="0" normalizeH="0" baseline="0" noProof="0" dirty="0">
                <a:ln>
                  <a:noFill/>
                </a:ln>
                <a:solidFill>
                  <a:srgbClr val="B45000"/>
                </a:solidFill>
                <a:effectLst/>
                <a:uLnTx/>
                <a:uFillTx/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2021 paper – limitations of Dr. Jung's method, with comparison table</a:t>
            </a:r>
            <a:endParaRPr kumimoji="0" lang="ko-KR" altLang="en-US" sz="1400" b="1" i="0" u="none" strike="noStrike" kern="1200" cap="none" spc="0" normalizeH="0" baseline="0" noProof="0" dirty="0">
              <a:ln>
                <a:noFill/>
              </a:ln>
              <a:solidFill>
                <a:srgbClr val="B45000"/>
              </a:solidFill>
              <a:effectLst/>
              <a:uLnTx/>
              <a:uFillTx/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80258654"/>
              </p:ext>
            </p:extLst>
          </p:nvPr>
        </p:nvGraphicFramePr>
        <p:xfrm>
          <a:off x="479539" y="1163346"/>
          <a:ext cx="11567160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53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987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9431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120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endParaRPr sz="1400" dirty="0">
                        <a:solidFill>
                          <a:sysClr val="windowText" lastClr="00000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/>
                      </a:pPr>
                      <a:r>
                        <a:rPr lang="en-US" sz="14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Manual analysis</a:t>
                      </a:r>
                      <a:endParaRPr sz="1400" dirty="0">
                        <a:solidFill>
                          <a:sysClr val="windowText" lastClr="00000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/>
                      </a:pPr>
                      <a:r>
                        <a:rPr lang="en-US" sz="14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2021 method (Dr. Jung's method)</a:t>
                      </a:r>
                      <a:endParaRPr sz="1400" dirty="0">
                        <a:solidFill>
                          <a:sysClr val="windowText" lastClr="00000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/>
                      </a:pPr>
                      <a:r>
                        <a:rPr lang="en-US" sz="14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WD method</a:t>
                      </a:r>
                      <a:endParaRPr sz="1400" dirty="0">
                        <a:solidFill>
                          <a:sysClr val="windowText" lastClr="00000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0931">
                <a:tc>
                  <a:txBody>
                    <a:bodyPr/>
                    <a:lstStyle/>
                    <a:p>
                      <a:pPr algn="ctr">
                        <a:defRPr sz="1000" b="1"/>
                      </a:pPr>
                      <a:r>
                        <a:rPr sz="105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NV1</a:t>
                      </a:r>
                      <a:endParaRPr lang="en-US" sz="1050" dirty="0">
                        <a:solidFill>
                          <a:sysClr val="windowText" lastClr="00000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  <a:p>
                      <a:pPr algn="ctr">
                        <a:defRPr sz="1000" b="1"/>
                      </a:pPr>
                      <a:r>
                        <a:rPr lang="en-US" sz="1050" b="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Dataset</a:t>
                      </a:r>
                      <a:endParaRPr sz="1050" b="0" dirty="0">
                        <a:solidFill>
                          <a:sysClr val="windowText" lastClr="00000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1"/>
                      </a:pPr>
                      <a:r>
                        <a:rPr lang="en-US"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4 spins</a:t>
                      </a:r>
                    </a:p>
                    <a:p>
                      <a:pPr algn="l">
                        <a:defRPr sz="1000"/>
                      </a:pP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(−88, 47)</a:t>
                      </a:r>
                    </a:p>
                    <a:p>
                      <a:pPr algn="l">
                        <a:defRPr sz="1000"/>
                      </a:pP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(−5, 35)</a:t>
                      </a:r>
                    </a:p>
                    <a:p>
                      <a:pPr algn="l">
                        <a:defRPr sz="1000"/>
                      </a:pP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(+8, 31)</a:t>
                      </a:r>
                    </a:p>
                    <a:p>
                      <a:pPr algn="l">
                        <a:defRPr sz="1000"/>
                      </a:pP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(−38, 37)*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1"/>
                      </a:pPr>
                      <a:r>
                        <a:rPr lang="en-US"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Output = 5 high-probability positions on the A∥ probability curve</a:t>
                      </a:r>
                    </a:p>
                    <a:p>
                      <a:pPr algn="l">
                        <a:defRPr sz="1000"/>
                      </a:pPr>
                      <a:r>
                        <a:rPr lang="en-US"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(only says 'a spin is near this A∥' —</a:t>
                      </a:r>
                    </a:p>
                    <a:p>
                      <a:pPr algn="l">
                        <a:defRPr sz="1000"/>
                      </a:pPr>
                      <a:r>
                        <a:rPr lang="en-US"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A⊥, count, and exact values are not output)</a:t>
                      </a:r>
                    </a:p>
                    <a:p>
                      <a:pPr algn="l">
                        <a:defRPr sz="1000"/>
                      </a:pPr>
                      <a:r>
                        <a:rPr lang="en-US"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① Region A∈[−6, +12] (site of 5 WD spins)</a:t>
                      </a:r>
                    </a:p>
                    <a:p>
                      <a:pPr algn="l">
                        <a:defRPr sz="1000"/>
                      </a:pPr>
                      <a:r>
                        <a:rPr lang="en-US"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② Region A∈[+40, +46] (near WD +39/+48)</a:t>
                      </a:r>
                    </a:p>
                    <a:p>
                      <a:pPr algn="l">
                        <a:defRPr sz="1000"/>
                      </a:pPr>
                      <a:r>
                        <a:rPr lang="en-US"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③ Peak −20 = WD (−18.8) site</a:t>
                      </a:r>
                      <a:endParaRPr sz="1200" dirty="0">
                        <a:solidFill>
                          <a:sysClr val="windowText" lastClr="00000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  <a:p>
                      <a:pPr algn="l">
                        <a:defRPr sz="1000"/>
                      </a:pPr>
                      <a:r>
                        <a:rPr lang="en-US"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④ Peak +22 = WD (+24.3) site</a:t>
                      </a:r>
                      <a:endParaRPr sz="1200" dirty="0">
                        <a:solidFill>
                          <a:sysClr val="windowText" lastClr="00000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  <a:p>
                      <a:pPr algn="l">
                        <a:defRPr sz="1000"/>
                      </a:pPr>
                      <a:r>
                        <a:rPr lang="en-US"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⑤ Peak −34 = none; matches off-list candidate −32</a:t>
                      </a:r>
                      <a:endParaRPr sz="1200" dirty="0">
                        <a:solidFill>
                          <a:sysClr val="windowText" lastClr="00000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950" b="1"/>
                      </a:pPr>
                      <a:r>
                        <a:rPr lang="en-US" sz="11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14 spins — (A∥, A⊥)</a:t>
                      </a:r>
                    </a:p>
                    <a:p>
                      <a:pPr algn="l">
                        <a:defRPr sz="950"/>
                      </a:pPr>
                      <a:r>
                        <a:rPr sz="11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(−87.9,18) (−18.8,16) (−11.5,14) (−5.1,22)</a:t>
                      </a:r>
                    </a:p>
                    <a:p>
                      <a:pPr algn="l">
                        <a:defRPr sz="950"/>
                      </a:pPr>
                      <a:r>
                        <a:rPr sz="11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(+0.6,17) (+4.0,26) (+8.4,28) (+14.2,22)</a:t>
                      </a:r>
                    </a:p>
                    <a:p>
                      <a:pPr algn="l">
                        <a:defRPr sz="950"/>
                      </a:pPr>
                      <a:r>
                        <a:rPr sz="11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(+24.3,20) (+39.0,28) (+48.0,25) (+65.6,28)</a:t>
                      </a:r>
                    </a:p>
                    <a:p>
                      <a:pPr algn="l">
                        <a:defRPr sz="950"/>
                      </a:pPr>
                      <a:r>
                        <a:rPr sz="11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(+91.9,33) (+114.4,24)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0202">
                <a:tc>
                  <a:txBody>
                    <a:bodyPr/>
                    <a:lstStyle/>
                    <a:p>
                      <a:pPr algn="ctr">
                        <a:defRPr sz="1000" b="1"/>
                      </a:pPr>
                      <a:r>
                        <a:rPr sz="105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NV2</a:t>
                      </a:r>
                    </a:p>
                    <a:p>
                      <a:pPr algn="ctr">
                        <a:defRPr sz="1000"/>
                      </a:pPr>
                      <a:r>
                        <a:rPr lang="en-US" altLang="ko-KR" sz="105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Dataset</a:t>
                      </a:r>
                      <a:endParaRPr sz="1050" dirty="0">
                        <a:solidFill>
                          <a:sysClr val="windowText" lastClr="00000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1"/>
                      </a:pPr>
                      <a:r>
                        <a:rPr lang="en-US"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3 spins</a:t>
                      </a:r>
                    </a:p>
                    <a:p>
                      <a:pPr algn="l">
                        <a:defRPr sz="1000"/>
                      </a:pP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(−340, 290)</a:t>
                      </a:r>
                    </a:p>
                    <a:p>
                      <a:pPr algn="l">
                        <a:defRPr sz="1000"/>
                      </a:pP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(+150, 110)</a:t>
                      </a:r>
                    </a:p>
                    <a:p>
                      <a:pPr algn="l">
                        <a:defRPr sz="1000"/>
                      </a:pP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(−42, 150)*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1"/>
                      </a:pPr>
                      <a:r>
                        <a:rPr lang="en-US"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— Not evaluable: single-channel, strongly-coupled data is out of scope</a:t>
                      </a:r>
                      <a:endParaRPr sz="1200" dirty="0">
                        <a:solidFill>
                          <a:sysClr val="windowText" lastClr="00000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950" b="1"/>
                      </a:pPr>
                      <a:r>
                        <a:rPr lang="en-US" sz="11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10 spins — (A∥, A⊥)</a:t>
                      </a:r>
                      <a:endParaRPr sz="1100" dirty="0">
                        <a:solidFill>
                          <a:sysClr val="windowText" lastClr="00000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  <a:p>
                      <a:pPr algn="l">
                        <a:defRPr sz="950"/>
                      </a:pPr>
                      <a:r>
                        <a:rPr sz="11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(−151.2,95) (−58.9,182) (−45.9,50)</a:t>
                      </a:r>
                    </a:p>
                    <a:p>
                      <a:pPr algn="l">
                        <a:defRPr sz="950"/>
                      </a:pPr>
                      <a:r>
                        <a:rPr sz="11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(−38.9,67) (−12.6,42) (−2.7,37)</a:t>
                      </a:r>
                    </a:p>
                    <a:p>
                      <a:pPr algn="l">
                        <a:defRPr sz="950"/>
                      </a:pPr>
                      <a:r>
                        <a:rPr sz="11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(+51.7,91) (+55.9,55) (+346.9,261)</a:t>
                      </a:r>
                    </a:p>
                    <a:p>
                      <a:pPr algn="l">
                        <a:defRPr sz="950"/>
                      </a:pPr>
                      <a:r>
                        <a:rPr sz="11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(+430.7,58)</a:t>
                      </a:r>
                      <a:r>
                        <a:rPr lang="en-US" sz="11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*</a:t>
                      </a:r>
                      <a:endParaRPr sz="1100" dirty="0">
                        <a:solidFill>
                          <a:sysClr val="windowText" lastClr="00000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0202">
                <a:tc>
                  <a:txBody>
                    <a:bodyPr/>
                    <a:lstStyle/>
                    <a:p>
                      <a:pPr algn="ctr">
                        <a:defRPr sz="1000" b="1"/>
                      </a:pPr>
                      <a:r>
                        <a:rPr lang="en-US" sz="105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Notes</a:t>
                      </a:r>
                      <a:endParaRPr sz="1050" dirty="0">
                        <a:solidFill>
                          <a:sysClr val="windowText" lastClr="00000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1"/>
                      </a:pPr>
                      <a:r>
                        <a:rPr lang="en-US"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Rough position anchors from visual reading —</a:t>
                      </a:r>
                    </a:p>
                    <a:p>
                      <a:pPr algn="l">
                        <a:defRPr sz="1000"/>
                      </a:pPr>
                      <a:r>
                        <a:rPr lang="en-US"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all 7 rediscovered in the WD list. A⊥ tends to be overestimated</a:t>
                      </a:r>
                      <a:endParaRPr sz="1200" dirty="0">
                        <a:solidFill>
                          <a:sysClr val="windowText" lastClr="00000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1"/>
                      </a:pPr>
                      <a:r>
                        <a:rPr lang="en-US"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Gets positions right, but the list is incomplete</a:t>
                      </a:r>
                      <a:endParaRPr sz="1200" dirty="0">
                        <a:solidFill>
                          <a:sysClr val="windowText" lastClr="00000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  <a:p>
                      <a:pPr algn="l">
                        <a:defRPr sz="1000"/>
                      </a:pPr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- Outputs only down to region/peak level</a:t>
                      </a:r>
                      <a:endParaRPr lang="en-US" sz="1200" dirty="0">
                        <a:solidFill>
                          <a:sysClr val="windowText" lastClr="00000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  <a:p>
                      <a:pPr algn="l">
                        <a:defRPr sz="1000"/>
                      </a:pPr>
                      <a:r>
                        <a:rPr lang="en-US"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Later regression stage fixing count and exact A∥, A⊥ is out of scope</a:t>
                      </a:r>
                      <a:endParaRPr sz="1200" dirty="0">
                        <a:solidFill>
                          <a:sysClr val="windowText" lastClr="00000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950" b="1"/>
                      </a:pPr>
                      <a:r>
                        <a:rPr lang="en-US" sz="11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Count (BIC, consistent with RJMCMC posterior)</a:t>
                      </a:r>
                    </a:p>
                    <a:p>
                      <a:pPr algn="l">
                        <a:defRPr sz="950"/>
                      </a:pPr>
                      <a:r>
                        <a:rPr lang="en-US" sz="11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· complete with A⊥ values · 95% CI</a:t>
                      </a:r>
                      <a:endParaRPr sz="1100" dirty="0">
                        <a:solidFill>
                          <a:sysClr val="windowText" lastClr="00000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  <a:p>
                      <a:pPr algn="l">
                        <a:defRPr sz="950"/>
                      </a:pPr>
                      <a:r>
                        <a:rPr lang="en-US" sz="11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Reproduces 3 measurements simultaneously, RMSE 0.088–0.176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365760" y="6146800"/>
            <a:ext cx="11430000" cy="538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rPr lang="en-US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*A∥ signs from manual analysis differ by m_s branch convention · *withheld due to possible strong coupling or degeneracy</a:t>
            </a:r>
          </a:p>
          <a:p>
            <a:pPr>
              <a:defRPr sz="1000"/>
            </a:pPr>
            <a:r>
              <a:rPr lang="en-US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† BIC (Bayesian Information Criterion) = statistical rule that increases the count only when the fit improvement from adding a spin outweighs the complexity penalty</a:t>
            </a:r>
          </a:p>
          <a:p>
            <a:pPr>
              <a:defRPr sz="900"/>
            </a:pPr>
            <a:r>
              <a:rPr lang="en-US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 95% CI (confidence interval) = 'interval containing the true value with 95% probability' (error bars), measured from the value spread across 60 residual-bootstrap refits</a:t>
            </a:r>
          </a:p>
        </p:txBody>
      </p:sp>
    </p:spTree>
    <p:extLst>
      <p:ext uri="{BB962C8B-B14F-4D97-AF65-F5344CB8AC3E}">
        <p14:creationId xmlns:p14="http://schemas.microsoft.com/office/powerpoint/2010/main" val="25130068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109728"/>
            <a:ext cx="11001730" cy="70788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rPr lang="en-US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2021 Method vs Our Method</a:t>
            </a:r>
            <a:endParaRPr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>
              <a:defRPr sz="1400" b="1">
                <a:solidFill>
                  <a:srgbClr val="B45000"/>
                </a:solidFill>
              </a:defRPr>
            </a:pPr>
            <a:r>
              <a:rPr lang="en-US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Compared in the same measured spin environment (NV1) — WD method ahead by ×2.2 cryo, ×1.5 room temp, ×1.7 error-injected</a:t>
            </a:r>
            <a:endParaRPr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59972123"/>
              </p:ext>
            </p:extLst>
          </p:nvPr>
        </p:nvGraphicFramePr>
        <p:xfrm>
          <a:off x="358140" y="1866451"/>
          <a:ext cx="11475720" cy="32725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80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983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54815"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endParaRPr sz="1600" dirty="0">
                        <a:solidFill>
                          <a:sysClr val="windowText" lastClr="00000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rPr lang="en-US" sz="160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2021 method (core-pipeline reproduction)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rPr lang="en-US" altLang="ko-KR" sz="16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WD method (PF→RJMCMC hybrid v2)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2886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rPr lang="en-US" sz="14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Architecture</a:t>
                      </a:r>
                      <a:endParaRPr sz="1400" dirty="0">
                        <a:solidFill>
                          <a:sysClr val="windowText" lastClr="00000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lang="en-US" sz="14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61 independent per-window MLPs + separate denoiser</a:t>
                      </a:r>
                      <a:endParaRPr sz="1400" dirty="0">
                        <a:solidFill>
                          <a:sysClr val="windowText" lastClr="00000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lang="en-US" sz="14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Neural detection (cross-window attention) + region-constrained physics fitting + BIC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2886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rPr lang="en-US" sz="140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Output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lang="en-US" sz="14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High-probability regions (A∥ position candidates); A⊥ and count require a separate stage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lang="en-US" sz="14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Final spin list {(A∥, A⊥)} × k* — count automatic · 95% CI provided</a:t>
                      </a:r>
                      <a:endParaRPr sz="1400" dirty="0">
                        <a:solidFill>
                          <a:sysClr val="windowText" lastClr="00000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7466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rPr lang="en-US" sz="14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Measured 50-spin validation (F1)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lang="en-US" sz="14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Cryo 0.38 · room temp 0.37 · error-injected 0.35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lang="en-US" sz="14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Cryo 0.84 · room temp 0.57 · error-injected 0.61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7466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rPr lang="en-US" sz="14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False alarms (precision)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lang="en-US" sz="14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0.55–1.00 (collapses at room temp)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lang="en-US" sz="14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0.87–1.00 (0.87 even with error injection)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4870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rPr lang="en-US" sz="14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Real data NV1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lang="en-US" sz="14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2 high-probability regions + 3 peaks (individual spins not resolvable)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lang="en-US" sz="14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14 spins confirmed (with CI); reproduces 3 measurements simultaneously, RMSE 0.09–0.18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7466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rPr lang="en-US" sz="14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Prerequisites</a:t>
                      </a:r>
                      <a:endParaRPr sz="1400" dirty="0">
                        <a:solidFill>
                          <a:sysClr val="windowText" lastClr="00000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lang="en-US" sz="14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Cryogenic · high SNR · long N=32/256 measurements</a:t>
                      </a:r>
                      <a:endParaRPr sz="1400" dirty="0">
                        <a:solidFill>
                          <a:sysClr val="windowText" lastClr="00000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lang="en-US" sz="14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Works at room temp · 700 points · N≤20</a:t>
                      </a:r>
                      <a:endParaRPr sz="1400" dirty="0">
                        <a:solidFill>
                          <a:sysClr val="windowText" lastClr="00000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365760" y="6473952"/>
            <a:ext cx="8356775" cy="2539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/>
            </a:pPr>
            <a:r>
              <a:rPr lang="en-US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• Fairness — 2021 figures are from a core-pipeline reproduction · both methods use the same forward model and the same scoring rules</a:t>
            </a:r>
            <a:endParaRPr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128061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59" y="109728"/>
            <a:ext cx="9939169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/>
            </a:pPr>
            <a:r>
              <a:rPr lang="en-US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Model Comparison: Block Diagram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400" b="1">
                <a:solidFill>
                  <a:srgbClr val="B45000"/>
                </a:solidFill>
              </a:defRPr>
            </a:pPr>
            <a:r>
              <a:rPr lang="en-US" altLang="en-US" sz="1400" b="1" dirty="0">
                <a:solidFill>
                  <a:srgbClr val="B45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Only the window-folding step is shared — our model is designed to also determine how many spins there are</a:t>
            </a:r>
            <a:endParaRPr kumimoji="0" lang="ko-KR" altLang="en-US" sz="1400" b="1" i="0" u="none" strike="noStrike" kern="1200" cap="none" spc="0" normalizeH="0" baseline="0" noProof="0" dirty="0">
              <a:ln>
                <a:noFill/>
              </a:ln>
              <a:solidFill>
                <a:srgbClr val="B45000"/>
              </a:solidFill>
              <a:effectLst/>
              <a:uLnTx/>
              <a:uFillTx/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81000" y="1130887"/>
            <a:ext cx="16002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8B3A2F"/>
                </a:solidFill>
              </a:defRPr>
            </a:pPr>
            <a:r>
              <a:rPr lang="en-US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2021 method</a:t>
            </a:r>
            <a:endParaRPr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1846730" y="938605"/>
            <a:ext cx="1325880" cy="868680"/>
          </a:xfrm>
          <a:prstGeom prst="roundRect">
            <a:avLst/>
          </a:prstGeom>
          <a:solidFill>
            <a:srgbClr val="E8E8E8"/>
          </a:solidFill>
          <a:ln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1A1A1A"/>
                </a:solidFill>
              </a:defRPr>
            </a:pPr>
            <a:r>
              <a:rPr lang="en-US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CPMG signal</a:t>
            </a:r>
            <a:endParaRPr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algn="ctr">
              <a:defRPr sz="850">
                <a:solidFill>
                  <a:srgbClr val="7A0000"/>
                </a:solidFill>
              </a:defRPr>
            </a:pPr>
            <a:r>
              <a:rPr lang="en-US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 channel (700,)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01010" y="1825573"/>
            <a:ext cx="14173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>
                <a:solidFill>
                  <a:srgbClr val="444444"/>
                </a:solidFill>
              </a:defRPr>
            </a:pPr>
            <a:r>
              <a:rPr lang="en-US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Assumes cryogenic, long measurements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190898" y="1372945"/>
            <a:ext cx="237744" cy="0"/>
          </a:xfrm>
          <a:prstGeom prst="line">
            <a:avLst/>
          </a:prstGeom>
          <a:ln w="28575">
            <a:solidFill>
              <a:srgbClr val="40404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3446930" y="938605"/>
            <a:ext cx="1417320" cy="868680"/>
          </a:xfrm>
          <a:prstGeom prst="roundRect">
            <a:avLst/>
          </a:prstGeom>
          <a:solidFill>
            <a:srgbClr val="DBE9F8"/>
          </a:solidFill>
          <a:ln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1A1A1A"/>
                </a:solidFill>
              </a:defRPr>
            </a:pPr>
            <a:r>
              <a:rPr lang="en-US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Period folding</a:t>
            </a:r>
          </a:p>
          <a:p>
            <a:pPr algn="ctr">
              <a:defRPr sz="850">
                <a:solidFill>
                  <a:srgbClr val="7A0000"/>
                </a:solidFill>
              </a:defRPr>
            </a:pPr>
            <a:r>
              <a:rPr lang="en-US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13×53 image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28642" y="1825573"/>
            <a:ext cx="150876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>
                <a:solidFill>
                  <a:srgbClr val="444444"/>
                </a:solidFill>
              </a:defRPr>
            </a:pPr>
            <a:r>
              <a:rPr lang="en-US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One candidate period at a time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882537" y="1372945"/>
            <a:ext cx="237745" cy="0"/>
          </a:xfrm>
          <a:prstGeom prst="line">
            <a:avLst/>
          </a:prstGeom>
          <a:ln w="28575">
            <a:solidFill>
              <a:srgbClr val="40404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138570" y="938605"/>
            <a:ext cx="1691640" cy="868680"/>
          </a:xfrm>
          <a:prstGeom prst="roundRect">
            <a:avLst/>
          </a:prstGeom>
          <a:solidFill>
            <a:srgbClr val="DFF2DF"/>
          </a:solidFill>
          <a:ln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1A1A1A"/>
                </a:solidFill>
              </a:defRPr>
            </a:pPr>
            <a:r>
              <a:rPr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MLP ×61</a:t>
            </a:r>
          </a:p>
          <a:p>
            <a:pPr algn="ctr">
              <a:defRPr sz="850">
                <a:solidFill>
                  <a:srgbClr val="7A0000"/>
                </a:solidFill>
              </a:defRPr>
            </a:pPr>
            <a:r>
              <a:rPr lang="en-US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independent per window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92850" y="1825573"/>
            <a:ext cx="1783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>
                <a:solidFill>
                  <a:srgbClr val="444444"/>
                </a:solidFill>
              </a:defRPr>
            </a:pPr>
            <a:r>
              <a:rPr lang="en-US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 cross-talk → false alarms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48497" y="1372945"/>
            <a:ext cx="237745" cy="0"/>
          </a:xfrm>
          <a:prstGeom prst="line">
            <a:avLst/>
          </a:prstGeom>
          <a:ln w="28575">
            <a:solidFill>
              <a:srgbClr val="40404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104530" y="938605"/>
            <a:ext cx="1508760" cy="868680"/>
          </a:xfrm>
          <a:prstGeom prst="roundRect">
            <a:avLst/>
          </a:prstGeom>
          <a:solidFill>
            <a:srgbClr val="DFF2DF"/>
          </a:solidFill>
          <a:ln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1A1A1A"/>
                </a:solidFill>
              </a:defRPr>
            </a:pPr>
            <a:r>
              <a:rPr lang="en-US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3-class probability</a:t>
            </a:r>
          </a:p>
          <a:p>
            <a:pPr algn="ctr">
              <a:defRPr sz="850">
                <a:solidFill>
                  <a:srgbClr val="7A0000"/>
                </a:solidFill>
              </a:defRPr>
            </a:pPr>
            <a:r>
              <a:rPr lang="en-US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(3,) per window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58810" y="1825573"/>
            <a:ext cx="16002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>
                <a:solidFill>
                  <a:srgbClr val="444444"/>
                </a:solidFill>
              </a:defRPr>
            </a:pPr>
            <a:r>
              <a:rPr lang="en-US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P(0/1/2 spins)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631578" y="1372945"/>
            <a:ext cx="237744" cy="0"/>
          </a:xfrm>
          <a:prstGeom prst="line">
            <a:avLst/>
          </a:prstGeom>
          <a:ln w="28575">
            <a:solidFill>
              <a:srgbClr val="40404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8887610" y="938605"/>
            <a:ext cx="1371600" cy="868680"/>
          </a:xfrm>
          <a:prstGeom prst="roundRect">
            <a:avLst/>
          </a:prstGeom>
          <a:solidFill>
            <a:srgbClr val="FDEBD0"/>
          </a:solidFill>
          <a:ln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1A1A1A"/>
                </a:solidFill>
              </a:defRPr>
            </a:pPr>
            <a:r>
              <a:rPr lang="en-US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Peak detection</a:t>
            </a:r>
          </a:p>
          <a:p>
            <a:pPr algn="ctr">
              <a:defRPr sz="850">
                <a:solidFill>
                  <a:srgbClr val="7A0000"/>
                </a:solidFill>
              </a:defRPr>
            </a:pPr>
            <a:r>
              <a:rPr lang="en-US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 regions only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41889" y="1825573"/>
            <a:ext cx="14630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>
                <a:solidFill>
                  <a:srgbClr val="444444"/>
                </a:solidFill>
              </a:defRPr>
            </a:pPr>
            <a:r>
              <a:rPr lang="en-US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Count &amp; B unresolved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59" y="2934100"/>
            <a:ext cx="16002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CC0000"/>
                </a:solidFill>
              </a:defRPr>
            </a:pPr>
            <a:r>
              <a:rPr lang="en-US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WD method</a:t>
            </a:r>
            <a:endParaRPr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1919882" y="2744544"/>
            <a:ext cx="1188720" cy="868680"/>
          </a:xfrm>
          <a:prstGeom prst="roundRect">
            <a:avLst/>
          </a:prstGeom>
          <a:solidFill>
            <a:srgbClr val="E8E8E8"/>
          </a:solidFill>
          <a:ln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1A1A1A"/>
                </a:solidFill>
              </a:defRPr>
            </a:pPr>
            <a:r>
              <a:rPr lang="en-US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3-channel signal</a:t>
            </a:r>
          </a:p>
          <a:p>
            <a:pPr algn="ctr">
              <a:defRPr sz="850">
                <a:solidFill>
                  <a:srgbClr val="7A0000"/>
                </a:solidFill>
              </a:defRPr>
            </a:pPr>
            <a:r>
              <a:rPr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(3, 700)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162" y="3631512"/>
            <a:ext cx="128016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>
                <a:solidFill>
                  <a:srgbClr val="444444"/>
                </a:solidFill>
              </a:defRPr>
            </a:pPr>
            <a:r>
              <a:rPr lang="en-US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N=8/16/20 together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126890" y="3178884"/>
            <a:ext cx="237743" cy="0"/>
          </a:xfrm>
          <a:prstGeom prst="line">
            <a:avLst/>
          </a:prstGeom>
          <a:ln w="28575">
            <a:solidFill>
              <a:srgbClr val="40404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3382922" y="2744544"/>
            <a:ext cx="1463040" cy="868680"/>
          </a:xfrm>
          <a:prstGeom prst="roundRect">
            <a:avLst/>
          </a:prstGeom>
          <a:solidFill>
            <a:srgbClr val="DBE9F8"/>
          </a:solidFill>
          <a:ln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1A1A1A"/>
                </a:solidFill>
              </a:defRPr>
            </a:pPr>
            <a:r>
              <a:rPr lang="en-US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61-window folding</a:t>
            </a:r>
          </a:p>
          <a:p>
            <a:pPr algn="ctr">
              <a:defRPr sz="850">
                <a:solidFill>
                  <a:srgbClr val="7A0000"/>
                </a:solidFill>
              </a:defRPr>
            </a:pPr>
            <a:r>
              <a:rPr lang="en-US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tokens (61,3,13,53)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37202" y="3631512"/>
            <a:ext cx="15544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>
                <a:solidFill>
                  <a:srgbClr val="444444"/>
                </a:solidFill>
              </a:defRPr>
            </a:pPr>
            <a:r>
              <a:rPr lang="en-US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All periods at once</a:t>
            </a:r>
            <a:endParaRPr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cxnSp>
        <p:nvCxnSpPr>
          <p:cNvPr id="24" name="Connector 23"/>
          <p:cNvCxnSpPr/>
          <p:nvPr/>
        </p:nvCxnSpPr>
        <p:spPr>
          <a:xfrm>
            <a:off x="4864250" y="3178884"/>
            <a:ext cx="237744" cy="0"/>
          </a:xfrm>
          <a:prstGeom prst="line">
            <a:avLst/>
          </a:prstGeom>
          <a:ln w="28575">
            <a:solidFill>
              <a:srgbClr val="40404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5120282" y="2744544"/>
            <a:ext cx="1371600" cy="868680"/>
          </a:xfrm>
          <a:prstGeom prst="roundRect">
            <a:avLst/>
          </a:prstGeom>
          <a:solidFill>
            <a:srgbClr val="DFF2DF"/>
          </a:solidFill>
          <a:ln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1A1A1A"/>
                </a:solidFill>
              </a:defRPr>
            </a:pPr>
            <a:r>
              <a:rPr lang="en-US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Attention ×4</a:t>
            </a:r>
          </a:p>
          <a:p>
            <a:pPr algn="ctr">
              <a:defRPr sz="850">
                <a:solidFill>
                  <a:srgbClr val="7A0000"/>
                </a:solidFill>
              </a:defRPr>
            </a:pPr>
            <a:r>
              <a:rPr lang="en-US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windows 'confer'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74562" y="3631512"/>
            <a:ext cx="14630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>
                <a:solidFill>
                  <a:srgbClr val="444444"/>
                </a:solidFill>
              </a:defRPr>
            </a:pPr>
            <a:r>
              <a:rPr lang="en-US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Only real spins pass · 0 false alarms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510170" y="3178884"/>
            <a:ext cx="237744" cy="0"/>
          </a:xfrm>
          <a:prstGeom prst="line">
            <a:avLst/>
          </a:prstGeom>
          <a:ln w="28575">
            <a:solidFill>
              <a:srgbClr val="40404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6766202" y="2744544"/>
            <a:ext cx="1371600" cy="868680"/>
          </a:xfrm>
          <a:prstGeom prst="roundRect">
            <a:avLst/>
          </a:prstGeom>
          <a:solidFill>
            <a:srgbClr val="FDEBD0"/>
          </a:solidFill>
          <a:ln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1A1A1A"/>
                </a:solidFill>
              </a:defRPr>
            </a:pPr>
            <a:r>
              <a:rPr lang="en-US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P(spin) → regions</a:t>
            </a:r>
            <a:endParaRPr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algn="ctr">
              <a:defRPr sz="850">
                <a:solidFill>
                  <a:srgbClr val="7A0000"/>
                </a:solidFill>
              </a:defRPr>
            </a:pPr>
            <a:r>
              <a:rPr lang="en-US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candidate intervals</a:t>
            </a:r>
            <a:endParaRPr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6720482" y="3631512"/>
            <a:ext cx="14630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>
                <a:solidFill>
                  <a:srgbClr val="444444"/>
                </a:solidFill>
              </a:defRPr>
            </a:pPr>
            <a:r>
              <a:rPr lang="en-US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Decides where to dig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156090" y="3178884"/>
            <a:ext cx="237744" cy="0"/>
          </a:xfrm>
          <a:prstGeom prst="line">
            <a:avLst/>
          </a:prstGeom>
          <a:ln w="28575">
            <a:solidFill>
              <a:srgbClr val="40404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8412122" y="2744544"/>
            <a:ext cx="1600200" cy="868680"/>
          </a:xfrm>
          <a:prstGeom prst="roundRect">
            <a:avLst/>
          </a:prstGeom>
          <a:solidFill>
            <a:srgbClr val="DFF2DF"/>
          </a:solidFill>
          <a:ln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1A1A1A"/>
                </a:solidFill>
              </a:defRPr>
            </a:pPr>
            <a:r>
              <a:rPr lang="en-US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Region-constrained</a:t>
            </a:r>
            <a:endParaRPr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r>
              <a:rPr sz="1100" dirty="0">
                <a:solidFill>
                  <a:schemeClr val="tx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RJMCMC + BIC</a:t>
            </a:r>
            <a:r>
              <a:rPr lang="en-US" sz="1100" dirty="0">
                <a:solidFill>
                  <a:schemeClr val="tx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*</a:t>
            </a:r>
            <a:endParaRPr sz="1100" dirty="0">
              <a:solidFill>
                <a:schemeClr val="tx1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algn="ctr">
              <a:defRPr sz="850">
                <a:solidFill>
                  <a:srgbClr val="7A0000"/>
                </a:solidFill>
              </a:defRPr>
            </a:pPr>
            <a:r>
              <a:rPr lang="en-US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physics-formula fitting</a:t>
            </a:r>
            <a:endParaRPr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8366401" y="3631512"/>
            <a:ext cx="1691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>
                <a:solidFill>
                  <a:srgbClr val="444444"/>
                </a:solidFill>
              </a:defRPr>
            </a:pPr>
            <a:r>
              <a:rPr lang="en-US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Count decided statistically</a:t>
            </a:r>
            <a:endParaRPr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cxnSp>
        <p:nvCxnSpPr>
          <p:cNvPr id="33" name="Connector 32"/>
          <p:cNvCxnSpPr/>
          <p:nvPr/>
        </p:nvCxnSpPr>
        <p:spPr>
          <a:xfrm>
            <a:off x="10030610" y="3178884"/>
            <a:ext cx="237744" cy="0"/>
          </a:xfrm>
          <a:prstGeom prst="line">
            <a:avLst/>
          </a:prstGeom>
          <a:ln w="28575">
            <a:solidFill>
              <a:srgbClr val="40404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10286641" y="2744544"/>
            <a:ext cx="1417320" cy="868680"/>
          </a:xfrm>
          <a:prstGeom prst="roundRect">
            <a:avLst/>
          </a:prstGeom>
          <a:solidFill>
            <a:srgbClr val="FDEBD0"/>
          </a:solidFill>
          <a:ln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1A1A1A"/>
                </a:solidFill>
              </a:defRPr>
            </a:pPr>
            <a:r>
              <a:rPr lang="en-US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Spin list</a:t>
            </a:r>
          </a:p>
          <a:p>
            <a:pPr algn="ctr">
              <a:defRPr sz="850">
                <a:solidFill>
                  <a:srgbClr val="7A0000"/>
                </a:solidFill>
              </a:defRPr>
            </a:pPr>
            <a:r>
              <a:rPr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{(A∥,A⊥)}×k*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40921" y="3631512"/>
            <a:ext cx="150876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>
                <a:solidFill>
                  <a:srgbClr val="444444"/>
                </a:solidFill>
              </a:defRPr>
            </a:pPr>
            <a:r>
              <a:rPr lang="en-US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NV1: 14 spins · with CI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81000" y="2177542"/>
            <a:ext cx="11455400" cy="269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1155CC"/>
                </a:solidFill>
              </a:defRPr>
            </a:pPr>
            <a:r>
              <a:rPr lang="en-US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↕ Both start from the same 'period folding' — 2021 stops there (isolated decisions); we bundle the 61 folded windows into tokens that "confer", then focus on the resulting regions and enumerate spins by fitting</a:t>
            </a:r>
            <a:endParaRPr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454152" y="4067620"/>
            <a:ext cx="11430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/>
            </a:pPr>
            <a:r>
              <a:rPr lang="en-US" altLang="ko-KR" sz="12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*Reversible-Jump Markov Chain Monte Carlo : </a:t>
            </a:r>
            <a:r>
              <a:rPr lang="en-US" altLang="ko-KR" sz="12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hlinkClick r:id="rId2"/>
              </a:rPr>
              <a:t>https://en.wikipedia.org/wiki/Reversible-jump_Markov_chain_Monte_Carlo</a:t>
            </a:r>
            <a:endParaRPr lang="en-US" altLang="ko-KR" sz="1200"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r>
              <a:rPr lang="en-US" altLang="ko-KR" sz="12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 Bayesian information criterion : </a:t>
            </a:r>
            <a:r>
              <a:rPr lang="en-US" altLang="ko-KR" sz="12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hlinkClick r:id="rId3"/>
              </a:rPr>
              <a:t>https://en.wikipedia.org/wiki/Bayesian_information_criterion</a:t>
            </a:r>
            <a:r>
              <a:rPr lang="en-US" altLang="ko-KR" sz="12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</a:p>
        </p:txBody>
      </p:sp>
      <p:graphicFrame>
        <p:nvGraphicFramePr>
          <p:cNvPr id="38" name="Table 36">
            <a:extLst>
              <a:ext uri="{FF2B5EF4-FFF2-40B4-BE49-F238E27FC236}">
                <a16:creationId xmlns:a16="http://schemas.microsoft.com/office/drawing/2014/main" id="{2D5BC8C3-ECD2-CDBC-02DA-259CCD6062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27145643"/>
              </p:ext>
            </p:extLst>
          </p:nvPr>
        </p:nvGraphicFramePr>
        <p:xfrm>
          <a:off x="431292" y="4676385"/>
          <a:ext cx="11475720" cy="198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362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3717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74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defRPr sz="1050" b="1"/>
                      </a:pPr>
                      <a:r>
                        <a:rPr lang="en-US" sz="16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Feature</a:t>
                      </a:r>
                      <a:endParaRPr sz="1600" dirty="0">
                        <a:solidFill>
                          <a:sysClr val="windowText" lastClr="00000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050" b="1"/>
                      </a:pPr>
                      <a:r>
                        <a:rPr lang="en-US" sz="16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2021 method</a:t>
                      </a:r>
                      <a:endParaRPr sz="1600" dirty="0">
                        <a:solidFill>
                          <a:sysClr val="windowText" lastClr="00000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050" b="1"/>
                      </a:pPr>
                      <a:r>
                        <a:rPr lang="en-US" altLang="ko-KR" sz="16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WD method</a:t>
                      </a:r>
                      <a:endParaRPr sz="1600" dirty="0">
                        <a:solidFill>
                          <a:sysClr val="windowText" lastClr="00000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defRPr sz="950" b="1"/>
                      </a:pPr>
                      <a:r>
                        <a:rPr lang="en-US"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Window decisions</a:t>
                      </a:r>
                      <a:endParaRPr sz="1200" dirty="0">
                        <a:solidFill>
                          <a:sysClr val="windowText" lastClr="00000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rPr lang="en-US"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61 windows decide individually (isolated) — no cross-reference → false alarms</a:t>
                      </a:r>
                      <a:endParaRPr sz="1200" dirty="0">
                        <a:solidFill>
                          <a:sysClr val="windowText" lastClr="00000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rPr lang="en-US" sz="120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Attention lets windows reinforce each other ('confer') → filters out fake signals · 0 false alarms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defRPr sz="950" b="1"/>
                      </a:pPr>
                      <a:r>
                        <a:rPr lang="en-US"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Spin search</a:t>
                      </a:r>
                      <a:endParaRPr sz="1200" dirty="0">
                        <a:solidFill>
                          <a:sysClr val="windowText" lastClr="00000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rPr lang="en-US" sz="120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Peak finding without regions — only A∥ position clues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rPr lang="en-US"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Region-constrained enumeration — physics fitting only within candidate intervals + count decided by BIC</a:t>
                      </a:r>
                      <a:endParaRPr sz="1200" dirty="0">
                        <a:solidFill>
                          <a:sysClr val="windowText" lastClr="00000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defRPr sz="950" b="1"/>
                      </a:pPr>
                      <a:r>
                        <a:rPr lang="en-US"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Output</a:t>
                      </a:r>
                      <a:endParaRPr sz="1200" dirty="0">
                        <a:solidFill>
                          <a:sysClr val="windowText" lastClr="00000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rPr lang="en-US"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Up to A∥ position candidates (regions/peaks)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rPr lang="en-US"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Complete spin list: count k* · A∥ · coupling strength A⊥ · 95% CI</a:t>
                      </a:r>
                      <a:endParaRPr sz="1200" dirty="0">
                        <a:solidFill>
                          <a:sysClr val="windowText" lastClr="00000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defRPr sz="950" b="1"/>
                      </a:pPr>
                      <a:r>
                        <a:rPr lang="en-US"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Validation (measured 50-spin F1)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0.35 ~ 0.38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0.57 ~ 0.84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171954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109728"/>
            <a:ext cx="11423320" cy="70788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rPr lang="en-US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Overview of the Public 50-Spin Dataset (van de Stolpe et al. 2024)</a:t>
            </a:r>
          </a:p>
          <a:p>
            <a:pPr>
              <a:defRPr sz="1400" b="1">
                <a:solidFill>
                  <a:srgbClr val="B45000"/>
                </a:solidFill>
              </a:defRPr>
            </a:pPr>
            <a:r>
              <a:rPr lang="en-US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 network of 50 ¹³C nuclear spins around a single NV center in diamond — a measured dataset with all per-spin parameters published</a:t>
            </a:r>
            <a:endParaRPr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pic>
        <p:nvPicPr>
          <p:cNvPr id="3" name="Picture 2" descr="delft50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2460" y="817614"/>
            <a:ext cx="10789920" cy="291156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C219862-531A-D2FA-BF3C-B466FC9D9C85}"/>
              </a:ext>
            </a:extLst>
          </p:cNvPr>
          <p:cNvSpPr txBox="1"/>
          <p:nvPr/>
        </p:nvSpPr>
        <p:spPr>
          <a:xfrm>
            <a:off x="490208" y="6040386"/>
            <a:ext cx="1071478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/>
            </a:pPr>
            <a:r>
              <a:rPr lang="en" altLang="ko-KR" sz="12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"Mapping a 50-spin-qubit network through correlated sensing" — Nature</a:t>
            </a:r>
            <a:r>
              <a:rPr lang="ko-KR" altLang="en-US" sz="12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" altLang="ko-KR" sz="12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Communications 15, 2006 (2024) · Delft(</a:t>
            </a:r>
            <a:r>
              <a:rPr lang="en" altLang="ko-KR" sz="1200"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Taminiau</a:t>
            </a:r>
            <a:r>
              <a:rPr lang="en" altLang="ko-KR" sz="12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group)</a:t>
            </a:r>
          </a:p>
          <a:p>
            <a:pPr>
              <a:defRPr sz="1200"/>
            </a:pPr>
            <a:r>
              <a:rPr lang="en-US" altLang="en-US" sz="12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Paper: doi.org/10.1038/s41467-024-46075-4      Data (4TU.ResearchData): doi.org/10.4121/aba1cc84-0aea-4cdc-93ca-68b0db38bd81.v1</a:t>
            </a:r>
          </a:p>
        </p:txBody>
      </p:sp>
      <p:graphicFrame>
        <p:nvGraphicFramePr>
          <p:cNvPr id="8" name="Table 3">
            <a:extLst>
              <a:ext uri="{FF2B5EF4-FFF2-40B4-BE49-F238E27FC236}">
                <a16:creationId xmlns:a16="http://schemas.microsoft.com/office/drawing/2014/main" id="{A448553D-2A88-7CA2-BF20-2F1B818A129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70937058"/>
              </p:ext>
            </p:extLst>
          </p:nvPr>
        </p:nvGraphicFramePr>
        <p:xfrm>
          <a:off x="362420" y="3729180"/>
          <a:ext cx="11475720" cy="207264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738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8620">
                <a:tc>
                  <a:txBody>
                    <a:bodyPr/>
                    <a:lstStyle/>
                    <a:p>
                      <a:pPr>
                        <a:defRPr sz="1050" b="1"/>
                      </a:pPr>
                      <a:r>
                        <a:rPr lang="en-US" sz="14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System</a:t>
                      </a:r>
                      <a:endParaRPr sz="1400" dirty="0">
                        <a:solidFill>
                          <a:sysClr val="windowText" lastClr="00000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rPr lang="en-US" sz="14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One single NV center in diamond + 50 surrounding ¹³C nuclear spins (+1 nitrogen) — entire network mapped with correlated-sensing (concatenated double-resonance) sequences</a:t>
                      </a:r>
                      <a:endParaRPr sz="1400" dirty="0">
                        <a:solidFill>
                          <a:sysClr val="windowText" lastClr="00000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8620">
                <a:tc>
                  <a:txBody>
                    <a:bodyPr/>
                    <a:lstStyle/>
                    <a:p>
                      <a:pPr>
                        <a:defRPr sz="1050" b="1"/>
                      </a:pPr>
                      <a:r>
                        <a:rPr lang="en-US" sz="14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Measurement conditions</a:t>
                      </a:r>
                      <a:endParaRPr sz="1400" dirty="0">
                        <a:solidFill>
                          <a:sysClr val="windowText" lastClr="00000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rPr lang="en-US" sz="14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Cryogenic 3.7 K · B = 403.553 G (along NV axis) · presumably the same NV sample as Jung 2021</a:t>
                      </a:r>
                      <a:endParaRPr sz="1400" dirty="0">
                        <a:solidFill>
                          <a:sysClr val="windowText" lastClr="00000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8620">
                <a:tc>
                  <a:txBody>
                    <a:bodyPr/>
                    <a:lstStyle/>
                    <a:p>
                      <a:pPr>
                        <a:defRPr sz="1050" b="1"/>
                      </a:pPr>
                      <a:r>
                        <a:rPr lang="en-US" sz="14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Published spin information</a:t>
                      </a:r>
                      <a:endParaRPr sz="1400" dirty="0">
                        <a:solidFill>
                          <a:sysClr val="windowText" lastClr="00000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rPr lang="en-US" sz="14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Per-spin hyperfine (A∥: −48.5 to +213.2 kHz, A⊥: 0.2 to 59.2 kHz) · spin frequencies · 3D lattice positions · 474 measured nuclear–nuclear couplings (mostly a few Hz)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8620">
                <a:tc>
                  <a:txBody>
                    <a:bodyPr/>
                    <a:lstStyle/>
                    <a:p>
                      <a:pPr>
                        <a:defRPr sz="1050" b="1"/>
                      </a:pPr>
                      <a:r>
                        <a:rPr lang="en-US" sz="14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File contents</a:t>
                      </a:r>
                      <a:endParaRPr sz="1400" dirty="0">
                        <a:solidFill>
                          <a:sysClr val="windowText" lastClr="00000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rPr lang="en-US" sz="14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spin_table / spin_frequencies / spin_positions / spin_measured(predicted)_couplings (xlsx·pkl) + notebooks reproducing the paper's figures</a:t>
                      </a:r>
                      <a:endParaRPr sz="1400" dirty="0">
                        <a:solidFill>
                          <a:sysClr val="windowText" lastClr="00000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040844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109728"/>
            <a:ext cx="11118749" cy="70788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rPr lang="en-US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Noise Modeling — Basis for the Synthetic σ</a:t>
            </a:r>
            <a:endParaRPr lang="en"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>
              <a:defRPr sz="1400" b="1">
                <a:solidFill>
                  <a:srgbClr val="B45000"/>
                </a:solidFill>
              </a:defRPr>
            </a:pPr>
            <a:r>
              <a:rPr lang="en-US" sz="1400" b="1" dirty="0">
                <a:solidFill>
                  <a:srgbClr val="B45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σ extracted by statistical estimation from measured NV1/NV2 data; scheme for mixing cryogenic data into room-temperature data</a:t>
            </a:r>
            <a:endParaRPr lang="ko-KR" altLang="en-US" sz="1400" b="1" dirty="0">
              <a:solidFill>
                <a:srgbClr val="B4500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pic>
        <p:nvPicPr>
          <p:cNvPr id="4" name="Picture 3" descr="noise_mod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460" y="3429000"/>
            <a:ext cx="11567160" cy="23134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03860" y="5828092"/>
            <a:ext cx="11430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/>
            </a:pPr>
            <a:r>
              <a:rPr lang="en-US" sz="12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• Figure: zoom of raw NV1 (N=8/16/20) and NV2 (N=16) data (τ 4–7 µs) — scatter around the moving median (red) matches the ±2σ̂ band</a:t>
            </a:r>
          </a:p>
          <a:p>
            <a:pPr>
              <a:defRPr sz="1100"/>
            </a:pPr>
            <a:r>
              <a:rPr lang="en-US" sz="12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• Rightmost figure: per-channel σ̂ vs adopted value (0.06) and training range (0.03–0.12)</a:t>
            </a:r>
          </a:p>
        </p:txBody>
      </p:sp>
      <p:graphicFrame>
        <p:nvGraphicFramePr>
          <p:cNvPr id="6" name="Table 2">
            <a:extLst>
              <a:ext uri="{FF2B5EF4-FFF2-40B4-BE49-F238E27FC236}">
                <a16:creationId xmlns:a16="http://schemas.microsoft.com/office/drawing/2014/main" id="{8CD7985B-9329-7366-8570-9962E36D07C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99759596"/>
              </p:ext>
            </p:extLst>
          </p:nvPr>
        </p:nvGraphicFramePr>
        <p:xfrm>
          <a:off x="358140" y="939668"/>
          <a:ext cx="11475720" cy="233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760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994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0464">
                <a:tc>
                  <a:txBody>
                    <a:bodyPr/>
                    <a:lstStyle/>
                    <a:p>
                      <a:pPr>
                        <a:defRPr sz="1050" b="1"/>
                      </a:pPr>
                      <a:r>
                        <a:rPr lang="en-US" sz="14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Step</a:t>
                      </a:r>
                      <a:endParaRPr sz="1400" dirty="0">
                        <a:solidFill>
                          <a:sysClr val="windowText" lastClr="00000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050" b="1"/>
                      </a:pPr>
                      <a:r>
                        <a:rPr lang="en-US" sz="140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Method / Value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050" b="1"/>
                      </a:pPr>
                      <a:r>
                        <a:rPr lang="en-US" sz="14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Meaning</a:t>
                      </a:r>
                      <a:endParaRPr sz="1400" dirty="0">
                        <a:solidFill>
                          <a:sysClr val="windowText" lastClr="00000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2632"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rPr lang="en-US" sz="120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① σ estimator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rPr lang="en-US"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Adjacent-point differences dᵢ = yᵢ₊₁ − yᵢ  →  σ̂ = std(d)/√2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rPr lang="en-US"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Slow signal components cancel out, leaving only noise (standard estimator under an independent-Gaussian assumption)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464"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rPr lang="en-US" sz="120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② Measured results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NV1 </a:t>
                      </a:r>
                      <a:r>
                        <a:rPr sz="12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σ</a:t>
                      </a: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̂ = 0.030 / 0.047 / 0.065 (N=8/16/20) · NV2 </a:t>
                      </a:r>
                      <a:r>
                        <a:rPr sz="12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σ</a:t>
                      </a: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̂ = 0.077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rPr lang="en-US"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Biased toward overestimation where dip signal mixes in = conservative upper bound</a:t>
                      </a:r>
                      <a:endParaRPr sz="1200" dirty="0">
                        <a:solidFill>
                          <a:sysClr val="windowText" lastClr="00000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2632"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rPr lang="en-US"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③ Noise mixing</a:t>
                      </a:r>
                      <a:endParaRPr sz="1200" dirty="0">
                        <a:solidFill>
                          <a:sysClr val="windowText" lastClr="00000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rPr lang="en-US"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Room-temp twin σ = 0.06 · cryo twin σ = 0.02 (white Gaussian)</a:t>
                      </a:r>
                    </a:p>
                    <a:p>
                      <a:pPr>
                        <a:defRPr sz="1000"/>
                      </a:pPr>
                      <a:r>
                        <a:rPr lang="en-US"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+ T2 decay curves and contrast also randomized within measured ranges</a:t>
                      </a:r>
                      <a:endParaRPr sz="1200" dirty="0">
                        <a:solidFill>
                          <a:sysClr val="windowText" lastClr="00000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rPr lang="en-US"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Room temp matches the NV1 channel level; cryo follows literature conditions</a:t>
                      </a:r>
                      <a:endParaRPr sz="1200" dirty="0">
                        <a:solidFill>
                          <a:sysClr val="windowText" lastClr="00000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464"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rPr lang="en-US"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④ Training randomization</a:t>
                      </a:r>
                      <a:endParaRPr sz="1200" dirty="0">
                        <a:solidFill>
                          <a:sysClr val="windowText" lastClr="00000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rPr lang="en-US"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Training data uses σ ∈ [0.03, 0.12], uniformly random</a:t>
                      </a:r>
                      <a:endParaRPr sz="1200" dirty="0">
                        <a:solidFill>
                          <a:sysClr val="windowText" lastClr="00000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rPr lang="en-US"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Prevents the detector from specializing to one noise level (avoids overfitting)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872378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109728"/>
            <a:ext cx="9731190" cy="70788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rPr lang="en-US" dirty="0"/>
              <a:t>Validation on the 50-Spin Data</a:t>
            </a:r>
            <a:endParaRPr dirty="0"/>
          </a:p>
          <a:p>
            <a:pPr>
              <a:defRPr sz="1400" b="1">
                <a:solidFill>
                  <a:srgbClr val="B45000"/>
                </a:solidFill>
              </a:defRPr>
            </a:pPr>
            <a:r>
              <a:rPr lang="en-US" dirty="0"/>
              <a:t>Cryo data: 21/27 confirmed (RMSE 0.074) · room-temp mixed data: 11/27 · 0 false alarms — TEST spin values not used in training</a:t>
            </a:r>
            <a:endParaRPr dirty="0"/>
          </a:p>
        </p:txBody>
      </p:sp>
      <p:pic>
        <p:nvPicPr>
          <p:cNvPr id="3" name="Picture 2" descr="26_twin_vali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738" y="1098599"/>
            <a:ext cx="9692640" cy="498478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324600"/>
            <a:ext cx="11430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/>
            </a:pPr>
            <a:r>
              <a:rPr lang="en-US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• Benchmark summary (F1): the proposed hybrid v2 ranks 1st in every condition — cryo 0.84 / room temp 0.57 / error-injected 0.61 (2021 reproduction 0.38/0.37/0.35, classical DE 0.71/0.50/0.48, RJMCMC 0.84/0.56/0.52)</a:t>
            </a:r>
          </a:p>
        </p:txBody>
      </p:sp>
    </p:spTree>
    <p:extLst>
      <p:ext uri="{BB962C8B-B14F-4D97-AF65-F5344CB8AC3E}">
        <p14:creationId xmlns:p14="http://schemas.microsoft.com/office/powerpoint/2010/main" val="4181009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109728"/>
            <a:ext cx="7784503" cy="70788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rPr lang="en-US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Final Confirmed NV1 / NV2 ¹³C Nuclear Spin Lists</a:t>
            </a:r>
            <a:endParaRPr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>
              <a:defRPr sz="1400" b="1">
                <a:solidFill>
                  <a:srgbClr val="B45000"/>
                </a:solidFill>
              </a:defRPr>
            </a:pPr>
            <a:r>
              <a:rPr lang="en-US" sz="1400" b="1" dirty="0">
                <a:solidFill>
                  <a:srgbClr val="B45000"/>
                </a:solidFill>
              </a:rPr>
              <a:t>NV1: 14 + NV2: 9 (+1 withheld) — spin lists confirmed by physics, statistics, and cross-validation</a:t>
            </a:r>
            <a:endParaRPr sz="1400" b="1" dirty="0">
              <a:solidFill>
                <a:srgbClr val="B45000"/>
              </a:solidFill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65760" y="1059927"/>
            <a:ext cx="1295547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/>
            </a:pPr>
            <a:r>
              <a:rPr lang="en-US" sz="12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NV1 — 14 spins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53212112"/>
              </p:ext>
            </p:extLst>
          </p:nvPr>
        </p:nvGraphicFramePr>
        <p:xfrm>
          <a:off x="365760" y="1379967"/>
          <a:ext cx="283464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(−87.9 ±0.9, 18.3) 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(−18.8 ±1.2, 15.5) 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(−11.5 ±1.7, 13.9) 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(−5.1 ±0.6, 22.5) 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(+0.6 ±1.5, 17.1) 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(+4.0 ±0.7, 26.2) 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(+8.4 ±0.6, 27.8) 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09002973"/>
              </p:ext>
            </p:extLst>
          </p:nvPr>
        </p:nvGraphicFramePr>
        <p:xfrm>
          <a:off x="3337560" y="1379967"/>
          <a:ext cx="283464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(+14.2 ±1.0, 21.7) 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(+24.3 ±1.5, 20.1) 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(+39.0 ±2.0, 28.2) 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(+48.0 ±2.6, 25.1) 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(+65.6 ±1.0, 27.6) 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(+91.9 ±0.7, 32.6) 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(+114.4 ±1.7, 23.9) 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766560" y="1059927"/>
            <a:ext cx="2156360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/>
            </a:pPr>
            <a:r>
              <a:rPr lang="en-US" sz="120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NV2 — 9 spins + 1 withheld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52364379"/>
              </p:ext>
            </p:extLst>
          </p:nvPr>
        </p:nvGraphicFramePr>
        <p:xfrm>
          <a:off x="6766560" y="1379967"/>
          <a:ext cx="283464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(+346.9, 261) 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(−151.2, 95) 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(−58.9, 182) 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(−45.9, 50) 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(−38.9, 67) 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13764037"/>
              </p:ext>
            </p:extLst>
          </p:nvPr>
        </p:nvGraphicFramePr>
        <p:xfrm>
          <a:off x="9738360" y="1379967"/>
          <a:ext cx="2286000" cy="21762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(−12.6, 42) 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(−2.7, 37) 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(+51.7, 91) 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(+55.9, 55) 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rPr lang="en-US"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(+430.7, 58)  withheld: unclear whether strongly coupled or degenerate</a:t>
                      </a:r>
                      <a:endParaRPr sz="1200" dirty="0">
                        <a:solidFill>
                          <a:sysClr val="windowText" lastClr="00000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5" name="Table 10">
            <a:extLst>
              <a:ext uri="{FF2B5EF4-FFF2-40B4-BE49-F238E27FC236}">
                <a16:creationId xmlns:a16="http://schemas.microsoft.com/office/drawing/2014/main" id="{1E9AD15B-A677-BD6D-2334-42F17F19045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68989919"/>
              </p:ext>
            </p:extLst>
          </p:nvPr>
        </p:nvGraphicFramePr>
        <p:xfrm>
          <a:off x="358140" y="4310616"/>
          <a:ext cx="11475720" cy="233172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738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20040">
                <a:tc>
                  <a:txBody>
                    <a:bodyPr/>
                    <a:lstStyle/>
                    <a:p>
                      <a:pPr>
                        <a:defRPr sz="1050" b="1"/>
                      </a:pPr>
                      <a:r>
                        <a:rPr lang="en-US" sz="1200"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Count basis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rPr lang="en-US" sz="1200" dirty="0"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BIC minimum k*=14 · consistent with RJMCMC posterior mode 15 (the most probable value in the count distribution) · only spins passing the addition penalty are accepted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>
                        <a:defRPr sz="1050" b="1"/>
                      </a:pPr>
                      <a:r>
                        <a:rPr lang="en-US" sz="1200"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Statistical reality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rPr lang="en-US" sz="1200" dirty="0"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All 14 have mutually non-overlapping 95% CIs (60 bootstrap runs)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>
                        <a:defRPr sz="1050" b="1"/>
                      </a:pPr>
                      <a:r>
                        <a:rPr lang="en-US" sz="1200"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Physical reproduction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rPr lang="en-US" sz="1200" dirty="0"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A single list explains all three N=8/16/20 measurements at once, RMSE 0.088/0.116/0.176 (reaching the noise floor)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>
                        <a:defRPr sz="1050" b="1"/>
                      </a:pPr>
                      <a:r>
                        <a:rPr lang="en-US" sz="1200"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External consistency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rPr lang="en-US" sz="1200" dirty="0"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Confirmed consistent with manual-analysis anchors: NV1 4/4 · NV2 3/3</a:t>
                      </a:r>
                      <a:endParaRPr sz="1200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>
                        <a:defRPr sz="1050" b="1"/>
                      </a:pPr>
                      <a:r>
                        <a:rPr lang="en-US" sz="1200"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NV2 caveat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rPr lang="en-US" sz="1200" dirty="0"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Single channel (CPMG-16), so A⊥ is a representative value · (+430.7) may be a degeneracy artifact → to be settled with additional CPMG-8/20 measurements</a:t>
                      </a:r>
                      <a:endParaRPr sz="1200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>
                        <a:defRPr sz="1050" b="1"/>
                      </a:pPr>
                      <a:r>
                        <a:rPr lang="en-US" sz="1200"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Off-list candidate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rPr lang="en-US" sz="1200" dirty="0"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NV1 A ≈ −32±3 (supported by 3 series, not included in the final fit)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502563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109728"/>
            <a:ext cx="8267007" cy="70788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rPr lang="en-US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Fitting-Curve Synthesis — Product of Per-Spin Dips</a:t>
            </a:r>
            <a:endParaRPr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>
              <a:defRPr sz="1400" b="1">
                <a:solidFill>
                  <a:srgbClr val="B45000"/>
                </a:solidFill>
              </a:defRPr>
            </a:pPr>
            <a:r>
              <a:rPr lang="en-US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How predicted values are computed from the spin list; the fitting-curve method</a:t>
            </a:r>
            <a:endParaRPr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pic>
        <p:nvPicPr>
          <p:cNvPr id="3" name="Picture 2" descr="fitren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560" y="955177"/>
            <a:ext cx="11612880" cy="27846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5257800"/>
            <a:ext cx="1143000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/>
            </a:pPr>
            <a:r>
              <a:rPr lang="en-US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① Divide the experimental Pₓ by the envelope to normalize to the model's M scale → ② each spin (Aᵢ, Bᵢ) generates a dip train Mᵢ at its own period → ③ the total product ∏Mᵢ is the fitting curve</a:t>
            </a:r>
            <a:endParaRPr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>
              <a:defRPr sz="1200"/>
            </a:pPr>
            <a:endParaRPr lang="en-US"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>
              <a:defRPr sz="1200"/>
            </a:pPr>
            <a:r>
              <a:rPr lang="en-US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Each added spin adds a factor to the product, reproducing finer structure</a:t>
            </a:r>
          </a:p>
          <a:p>
            <a:pPr>
              <a:defRPr sz="1200"/>
            </a:pPr>
            <a:r>
              <a:rPr lang="en-US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— On NV2, going from 6 to 10 spins lowers RMSE 0.308→0.286 (passes BIC; residual decrease = not overfitting)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5D53FC8-C6A7-B8E5-3C7D-8B59E2B4C25B}"/>
              </a:ext>
            </a:extLst>
          </p:cNvPr>
          <p:cNvSpPr txBox="1"/>
          <p:nvPr/>
        </p:nvSpPr>
        <p:spPr>
          <a:xfrm>
            <a:off x="381000" y="3744097"/>
            <a:ext cx="11430000" cy="9925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/>
            </a:pPr>
            <a:r>
              <a:rPr lang="en-US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Implemented per Jung 2021 Eq.1–3 · cpmg/physics.py</a:t>
            </a:r>
            <a:endParaRPr lang="en-US" altLang="ko-KR"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>
              <a:defRPr sz="1200" b="0">
                <a:solidFill>
                  <a:srgbClr val="1A1A6E"/>
                </a:solidFill>
              </a:defRPr>
            </a:pPr>
            <a:r>
              <a:rPr lang="en-US" altLang="ko-KR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Eq.1  Single-spin dip:   Mₖ(τ) = 1 − K·sin²(Nφ/2),    K = mₓ²·(1−cos α)(1−cos β)/(1+cos φ)</a:t>
            </a:r>
          </a:p>
          <a:p>
            <a:pPr>
              <a:defRPr sz="1200" b="0">
                <a:solidFill>
                  <a:srgbClr val="1A1A6E"/>
                </a:solidFill>
              </a:defRPr>
            </a:pPr>
            <a:r>
              <a:rPr lang="en-US" altLang="ko-KR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Eq.2  Phase:   cos φ = cos α·cos β − m_z·sin α·sin β,    α = ω̃τ (spin precession) · β = ω_L τ (Larmor precession)</a:t>
            </a:r>
          </a:p>
          <a:p>
            <a:pPr>
              <a:defRPr sz="1200" b="0">
                <a:solidFill>
                  <a:srgbClr val="1A1A6E"/>
                </a:solidFill>
              </a:defRPr>
            </a:pPr>
            <a:r>
              <a:rPr lang="en-US" altLang="ko-KR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Eq.3  Spin axis:   ω̃ = √[(A∥+ω_L)² + A⊥²],  m_z = (A∥+ω_L)/ω̃,  mₓ = A⊥/ω̃</a:t>
            </a:r>
          </a:p>
          <a:p>
            <a:pPr>
              <a:defRPr sz="1200" b="0">
                <a:solidFill>
                  <a:srgbClr val="1A1A6E"/>
                </a:solidFill>
              </a:defRPr>
            </a:pPr>
            <a:r>
              <a:rPr lang="en-US" altLang="ko-KR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→   Total product M(τ) = ∏ₖ Mₖ(τ),  Pₓ = ½(1 + a₀·M·e^−(τ/T₂)ⁿ)</a:t>
            </a:r>
          </a:p>
        </p:txBody>
      </p:sp>
    </p:spTree>
    <p:extLst>
      <p:ext uri="{BB962C8B-B14F-4D97-AF65-F5344CB8AC3E}">
        <p14:creationId xmlns:p14="http://schemas.microsoft.com/office/powerpoint/2010/main" val="4475522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109728"/>
            <a:ext cx="11428128" cy="70788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rPr lang="en-US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Final Fit: Real CPMG Data (NV1: N=8/16/20 · NV2: N=16)</a:t>
            </a:r>
          </a:p>
          <a:p>
            <a:pPr>
              <a:defRPr sz="1400" b="1">
                <a:solidFill>
                  <a:srgbClr val="B45000"/>
                </a:solidFill>
              </a:defRPr>
            </a:pPr>
            <a:r>
              <a:rPr lang="en-US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NV1: 14 spins reproduce all three measurements (N=8/16/20) simultaneously (RMSE 0.088/0.116/0.176) · NV2: 10 spins, RMSE 0.286</a:t>
            </a:r>
          </a:p>
        </p:txBody>
      </p:sp>
      <p:pic>
        <p:nvPicPr>
          <p:cNvPr id="3" name="Picture 2" descr="21_ensemble_overlay_NV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360" y="1489037"/>
            <a:ext cx="6035040" cy="3664131"/>
          </a:xfrm>
          <a:prstGeom prst="rect">
            <a:avLst/>
          </a:prstGeom>
        </p:spPr>
      </p:pic>
      <p:pic>
        <p:nvPicPr>
          <p:cNvPr id="4" name="Picture 3" descr="22_ensemble_overlay_NV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8261" y="1489037"/>
            <a:ext cx="5577840" cy="258971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81000" y="5358205"/>
            <a:ext cx="11430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/>
            </a:pPr>
            <a:r>
              <a:rPr lang="en-US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• Left, NV1: top→bottom N=8/16/20 — one and the same 14-spin list explains all three datasets    </a:t>
            </a:r>
          </a:p>
          <a:p>
            <a:pPr>
              <a:defRPr sz="1200"/>
            </a:pPr>
            <a:r>
              <a:rPr lang="en-US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• Right, NV2: tracks even the strong-coupling fringe structure (1 spin withheld due to the single-channel limit)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1F3C893-C390-1048-7C4B-13C72FB16213}"/>
              </a:ext>
            </a:extLst>
          </p:cNvPr>
          <p:cNvSpPr txBox="1"/>
          <p:nvPr/>
        </p:nvSpPr>
        <p:spPr>
          <a:xfrm>
            <a:off x="6278880" y="4840188"/>
            <a:ext cx="557784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/>
            </a:pPr>
            <a:r>
              <a:rPr lang="en-US" altLang="en-US" sz="12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Gray = experiment · red = forward model from the detected spins</a:t>
            </a:r>
          </a:p>
        </p:txBody>
      </p:sp>
    </p:spTree>
    <p:extLst>
      <p:ext uri="{BB962C8B-B14F-4D97-AF65-F5344CB8AC3E}">
        <p14:creationId xmlns:p14="http://schemas.microsoft.com/office/powerpoint/2010/main" val="1861808958"/>
      </p:ext>
    </p:extLst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64592"/>
            <a:ext cx="115214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WD Method in Detail ① — Detection Stage (Neural): Blocks 1–4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13232"/>
            <a:ext cx="11521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B45000"/>
                </a:solidFill>
              </a:defRPr>
            </a:pPr>
            <a:r>
              <a:t>▶ Key idea: 'stand up 61 period hypotheses at once, let them confer, keep only the real ones'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" y="1188720"/>
            <a:ext cx="2816352" cy="5029200"/>
          </a:xfrm>
          <a:prstGeom prst="roundRect">
            <a:avLst/>
          </a:prstGeom>
          <a:solidFill>
            <a:srgbClr val="DBE9F8"/>
          </a:solidFill>
          <a:ln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defRPr sz="1200" b="1">
                <a:solidFill>
                  <a:srgbClr val="1A1A1A"/>
                </a:solidFill>
              </a:defRPr>
            </a:pPr>
            <a:r>
              <a:t>① Input: 3-channel CPMG signal  (3×700)</a:t>
            </a:r>
          </a:p>
          <a:p>
            <a:pPr>
              <a:defRPr sz="950">
                <a:solidFill>
                  <a:srgbClr val="262626"/>
                </a:solidFill>
              </a:defRPr>
            </a:pPr>
            <a:r>
              <a:t>M(τ) from the N=8/16/20 measurements enters together</a:t>
            </a:r>
          </a:p>
          <a:p>
            <a:pPr>
              <a:defRPr sz="950">
                <a:solidFill>
                  <a:srgbClr val="262626"/>
                </a:solidFill>
              </a:defRPr>
            </a:pPr>
            <a:r>
              <a:t>Divided by the envelope (Eq.5 stretched-exp) to remove decay</a:t>
            </a:r>
          </a:p>
          <a:p>
            <a:pPr>
              <a:defRPr sz="950">
                <a:solidFill>
                  <a:srgbClr val="262626"/>
                </a:solidFill>
              </a:defRPr>
            </a:pPr>
            <a:r>
              <a:t>Why 3 channels: a real spin shifts its dips with N following physics</a:t>
            </a:r>
          </a:p>
          <a:p>
            <a:pPr>
              <a:defRPr sz="950">
                <a:solidFill>
                  <a:srgbClr val="262626"/>
                </a:solidFill>
              </a:defRPr>
            </a:pPr>
            <a:r>
              <a:t>→ the decisive cue separating real spins from noise dips</a:t>
            </a:r>
          </a:p>
        </p:txBody>
      </p:sp>
      <p:sp>
        <p:nvSpPr>
          <p:cNvPr id="5" name="Right Arrow 4"/>
          <p:cNvSpPr/>
          <p:nvPr/>
        </p:nvSpPr>
        <p:spPr>
          <a:xfrm>
            <a:off x="3127248" y="3611879"/>
            <a:ext cx="128015" cy="182880"/>
          </a:xfrm>
          <a:prstGeom prst="rightArrow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246120" y="1188720"/>
            <a:ext cx="2816352" cy="5029200"/>
          </a:xfrm>
          <a:prstGeom prst="roundRect">
            <a:avLst/>
          </a:prstGeom>
          <a:solidFill>
            <a:srgbClr val="DBE9F8"/>
          </a:solidFill>
          <a:ln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defRPr sz="1200" b="1">
                <a:solidFill>
                  <a:srgbClr val="1A1A1A"/>
                </a:solidFill>
              </a:defRPr>
            </a:pPr>
            <a:r>
              <a:t>② 61-window folding → tokens  (61,3,13,53)</a:t>
            </a:r>
          </a:p>
          <a:p>
            <a:pPr>
              <a:defRPr sz="950">
                <a:solidFill>
                  <a:srgbClr val="262626"/>
                </a:solidFill>
              </a:defRPr>
            </a:pPr>
            <a:r>
              <a:t>For each of 61 candidate A∥ (−60…+60 kHz, 2 kHz steps),</a:t>
            </a:r>
          </a:p>
          <a:p>
            <a:pPr>
              <a:defRPr sz="950">
                <a:solidFill>
                  <a:srgbClr val="262626"/>
                </a:solidFill>
              </a:defRPr>
            </a:pPr>
            <a:r>
              <a:t>fold the signal at that A's target period T_P(A) into a 13×53 image</a:t>
            </a:r>
          </a:p>
          <a:p>
            <a:pPr>
              <a:defRPr sz="950">
                <a:solidFill>
                  <a:srgbClr val="262626"/>
                </a:solidFill>
              </a:defRPr>
            </a:pPr>
            <a:r>
              <a:t>Right period → dips align as vertical stripes; wrong → scattered</a:t>
            </a:r>
          </a:p>
          <a:p>
            <a:pPr>
              <a:defRPr sz="950">
                <a:solidFill>
                  <a:srgbClr val="262626"/>
                </a:solidFill>
              </a:defRPr>
            </a:pPr>
            <a:r>
              <a:t>(same folding as 2021) → 61 hypotheses stood up in parallel</a:t>
            </a:r>
          </a:p>
        </p:txBody>
      </p:sp>
      <p:sp>
        <p:nvSpPr>
          <p:cNvPr id="7" name="Right Arrow 6"/>
          <p:cNvSpPr/>
          <p:nvPr/>
        </p:nvSpPr>
        <p:spPr>
          <a:xfrm>
            <a:off x="6053328" y="3611879"/>
            <a:ext cx="128015" cy="182880"/>
          </a:xfrm>
          <a:prstGeom prst="rightArrow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2816352" cy="5029200"/>
          </a:xfrm>
          <a:prstGeom prst="roundRect">
            <a:avLst/>
          </a:prstGeom>
          <a:solidFill>
            <a:srgbClr val="D9EAD3"/>
          </a:solidFill>
          <a:ln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defRPr sz="1200" b="1">
                <a:solidFill>
                  <a:srgbClr val="1A1A1A"/>
                </a:solidFill>
              </a:defRPr>
            </a:pPr>
            <a:r>
              <a:t>③ Shared CNN embedding + attention ×4</a:t>
            </a:r>
          </a:p>
          <a:p>
            <a:pPr>
              <a:defRPr sz="950">
                <a:solidFill>
                  <a:srgbClr val="262626"/>
                </a:solidFill>
              </a:defRPr>
            </a:pPr>
            <a:r>
              <a:t>Shared CNN: each token (3×13×53) compressed to one vector</a:t>
            </a:r>
          </a:p>
          <a:p>
            <a:pPr>
              <a:defRPr sz="950">
                <a:solidFill>
                  <a:srgbClr val="262626"/>
                </a:solidFill>
              </a:defRPr>
            </a:pPr>
            <a:r>
              <a:t>— all 61 windows share one CNN, so 'aligned' is judged uniformly</a:t>
            </a:r>
          </a:p>
          <a:p>
            <a:pPr>
              <a:defRPr sz="950">
                <a:solidFill>
                  <a:srgbClr val="262626"/>
                </a:solidFill>
              </a:defRPr>
            </a:pPr>
            <a:r>
              <a:t>4 attention layers: windows cross-reference each other ('confer')</a:t>
            </a:r>
          </a:p>
          <a:p>
            <a:pPr>
              <a:defRPr sz="950">
                <a:solidFill>
                  <a:srgbClr val="262626"/>
                </a:solidFill>
              </a:defRPr>
            </a:pPr>
            <a:r>
              <a:t>— joint excitement (continuous high-prob interval / harmonics)</a:t>
            </a:r>
          </a:p>
          <a:p>
            <a:pPr>
              <a:defRPr sz="950">
                <a:solidFill>
                  <a:srgbClr val="262626"/>
                </a:solidFill>
              </a:defRPr>
            </a:pPr>
            <a:r>
              <a:t>  is resolved by context → removes 2021's isolated-MLP false alarms</a:t>
            </a:r>
          </a:p>
        </p:txBody>
      </p:sp>
      <p:sp>
        <p:nvSpPr>
          <p:cNvPr id="9" name="Right Arrow 8"/>
          <p:cNvSpPr/>
          <p:nvPr/>
        </p:nvSpPr>
        <p:spPr>
          <a:xfrm>
            <a:off x="8979408" y="3611879"/>
            <a:ext cx="128015" cy="182880"/>
          </a:xfrm>
          <a:prstGeom prst="rightArrow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098280" y="1188720"/>
            <a:ext cx="2816352" cy="5029200"/>
          </a:xfrm>
          <a:prstGeom prst="roundRect">
            <a:avLst/>
          </a:prstGeom>
          <a:solidFill>
            <a:srgbClr val="F9E3B3"/>
          </a:solidFill>
          <a:ln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defRPr sz="1200" b="1">
                <a:solidFill>
                  <a:srgbClr val="1A1A1A"/>
                </a:solidFill>
              </a:defRPr>
            </a:pPr>
            <a:r>
              <a:t>④ Output: P(spin) curve → candidate regions</a:t>
            </a:r>
          </a:p>
          <a:p>
            <a:pPr>
              <a:defRPr sz="950">
                <a:solidFill>
                  <a:srgbClr val="262626"/>
                </a:solidFill>
              </a:defRPr>
            </a:pPr>
            <a:r>
              <a:t>61 per-window probabilities → contiguous p&gt;0.35 runs merged</a:t>
            </a:r>
          </a:p>
          <a:p>
            <a:pPr>
              <a:defRPr sz="950">
                <a:solidFill>
                  <a:srgbClr val="262626"/>
                </a:solidFill>
              </a:defRPr>
            </a:pPr>
            <a:r>
              <a:t>Output = candidate regions [lo, hi] (e.g. [−6,+12], [+40,+46] on NV1)</a:t>
            </a:r>
          </a:p>
          <a:p>
            <a:pPr>
              <a:defRPr sz="950">
                <a:solidFill>
                  <a:srgbClr val="262626"/>
                </a:solidFill>
              </a:defRPr>
            </a:pPr>
            <a:r>
              <a:t>This stage only decides where to dig —</a:t>
            </a:r>
          </a:p>
          <a:p>
            <a:pPr>
              <a:defRPr sz="950">
                <a:solidFill>
                  <a:srgbClr val="262626"/>
                </a:solidFill>
              </a:defRPr>
            </a:pPr>
            <a:r>
              <a:t>count and exact (A∥,A⊥) are left to the physics-fitting stage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6419088"/>
            <a:ext cx="11521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404040"/>
                </a:solidFill>
              </a:defRPr>
            </a:pPr>
            <a:r>
              <a:t>Block ② uses the same folding as 2021; the decisive difference is ③, where one model sees all 61 windows together — the root of 0 false alarms at room temperature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64592"/>
            <a:ext cx="115214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WD Method in Detail ② — Confirmation Stage (Physics Fitting): Blocks 5–6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13232"/>
            <a:ext cx="11521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B45000"/>
                </a:solidFill>
              </a:defRPr>
            </a:pPr>
            <a:r>
              <a:t>▶ Key idea: 'only inside the network-proposed regions, physics formulas and statistics finalize even the count'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" y="1188720"/>
            <a:ext cx="2816352" cy="5029200"/>
          </a:xfrm>
          <a:prstGeom prst="roundRect">
            <a:avLst/>
          </a:prstGeom>
          <a:solidFill>
            <a:srgbClr val="EADCF8"/>
          </a:solidFill>
          <a:ln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defRPr sz="1200" b="1">
                <a:solidFill>
                  <a:srgbClr val="1A1A1A"/>
                </a:solidFill>
              </a:defRPr>
            </a:pPr>
            <a:r>
              <a:t>⑤-1  Region-constrained RJMCMC — 3 moves</a:t>
            </a:r>
          </a:p>
          <a:p>
            <a:pPr>
              <a:defRPr sz="950">
                <a:solidFill>
                  <a:srgbClr val="262626"/>
                </a:solidFill>
              </a:defRPr>
            </a:pPr>
            <a:r>
              <a:t>birth: propose a new spin (A,B) only inside PF regions (20%)</a:t>
            </a:r>
          </a:p>
          <a:p>
            <a:pPr>
              <a:defRPr sz="950">
                <a:solidFill>
                  <a:srgbClr val="262626"/>
                </a:solidFill>
              </a:defRPr>
            </a:pPr>
            <a:r>
              <a:t>death: try removing an existing spin (20%)</a:t>
            </a:r>
          </a:p>
          <a:p>
            <a:pPr>
              <a:defRPr sz="950">
                <a:solidFill>
                  <a:srgbClr val="262626"/>
                </a:solidFill>
              </a:defRPr>
            </a:pPr>
            <a:r>
              <a:t>perturb: keep count, nudge A±2 kHz · B±5 kHz (60%)</a:t>
            </a:r>
          </a:p>
          <a:p>
            <a:pPr>
              <a:defRPr sz="950">
                <a:solidFill>
                  <a:srgbClr val="262626"/>
                </a:solidFill>
              </a:defRPr>
            </a:pPr>
            <a:r>
              <a:t>Out-of-region proposals rejected → search volume shrinks</a:t>
            </a:r>
          </a:p>
          <a:p>
            <a:pPr>
              <a:defRPr sz="950">
                <a:solidFill>
                  <a:srgbClr val="262626"/>
                </a:solidFill>
              </a:defRPr>
            </a:pPr>
            <a:r>
              <a:t>tens-fold = speed and accuracy at once</a:t>
            </a:r>
          </a:p>
        </p:txBody>
      </p:sp>
      <p:sp>
        <p:nvSpPr>
          <p:cNvPr id="5" name="Right Arrow 4"/>
          <p:cNvSpPr/>
          <p:nvPr/>
        </p:nvSpPr>
        <p:spPr>
          <a:xfrm>
            <a:off x="3127248" y="3611879"/>
            <a:ext cx="128015" cy="182880"/>
          </a:xfrm>
          <a:prstGeom prst="rightArrow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246120" y="1188720"/>
            <a:ext cx="2816352" cy="5029200"/>
          </a:xfrm>
          <a:prstGeom prst="roundRect">
            <a:avLst/>
          </a:prstGeom>
          <a:solidFill>
            <a:srgbClr val="EADCF8"/>
          </a:solidFill>
          <a:ln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defRPr sz="1200" b="1">
                <a:solidFill>
                  <a:srgbClr val="1A1A1A"/>
                </a:solidFill>
              </a:defRPr>
            </a:pPr>
            <a:r>
              <a:t>⑤-2  Acceptance rule — the 'rent' test</a:t>
            </a:r>
          </a:p>
          <a:p>
            <a:pPr>
              <a:defRPr sz="950">
                <a:solidFill>
                  <a:srgbClr val="262626"/>
                </a:solidFill>
              </a:defRPr>
            </a:pPr>
            <a:r>
              <a:t>Objective: −2lnπ = SSE/σ² + 2k·ln(n)   (n = 3 channels × 700 pts)</a:t>
            </a:r>
          </a:p>
          <a:p>
            <a:pPr>
              <a:defRPr sz="950">
                <a:solidFill>
                  <a:srgbClr val="262626"/>
                </a:solidFill>
              </a:defRPr>
            </a:pPr>
            <a:r>
              <a:t>Accept prob = min(1, exp(−Δ/2T)) — always if better, else stochastic</a:t>
            </a:r>
          </a:p>
          <a:p>
            <a:pPr>
              <a:defRPr sz="950">
                <a:solidFill>
                  <a:srgbClr val="262626"/>
                </a:solidFill>
              </a:defRPr>
            </a:pPr>
            <a:r>
              <a:t>A new spin must pay rent 2ln(n)≈15.3 in residual reduction to survive</a:t>
            </a:r>
          </a:p>
          <a:p>
            <a:pPr>
              <a:defRPr sz="950">
                <a:solidFill>
                  <a:srgbClr val="262626"/>
                </a:solidFill>
              </a:defRPr>
            </a:pPr>
            <a:r>
              <a:t>Annealing T: 20→1 (broad early exploration → strict settling)</a:t>
            </a:r>
          </a:p>
          <a:p>
            <a:pPr>
              <a:defRPr sz="950">
                <a:solidFill>
                  <a:srgbClr val="262626"/>
                </a:solidFill>
              </a:defRPr>
            </a:pPr>
            <a:r>
              <a:t>Joint 3-channel residual → single-channel-only fits die out</a:t>
            </a:r>
          </a:p>
        </p:txBody>
      </p:sp>
      <p:sp>
        <p:nvSpPr>
          <p:cNvPr id="7" name="Right Arrow 6"/>
          <p:cNvSpPr/>
          <p:nvPr/>
        </p:nvSpPr>
        <p:spPr>
          <a:xfrm>
            <a:off x="6053328" y="3611879"/>
            <a:ext cx="128015" cy="182880"/>
          </a:xfrm>
          <a:prstGeom prst="rightArrow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2816352" cy="5029200"/>
          </a:xfrm>
          <a:prstGeom prst="roundRect">
            <a:avLst/>
          </a:prstGeom>
          <a:solidFill>
            <a:srgbClr val="F2D5CC"/>
          </a:solidFill>
          <a:ln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defRPr sz="1200" b="1">
                <a:solidFill>
                  <a:srgbClr val="1A1A1A"/>
                </a:solidFill>
              </a:defRPr>
            </a:pPr>
            <a:r>
              <a:t>⑤-3  Deciding the count — double check</a:t>
            </a:r>
          </a:p>
          <a:p>
            <a:pPr>
              <a:defRPr sz="950">
                <a:solidFill>
                  <a:srgbClr val="262626"/>
                </a:solidFill>
              </a:defRPr>
            </a:pPr>
            <a:r>
              <a:t>BIC trace over k=1,2,…: minimum at k*=14 (NV1)</a:t>
            </a:r>
          </a:p>
          <a:p>
            <a:pPr>
              <a:defRPr sz="950">
                <a:solidFill>
                  <a:srgbClr val="262626"/>
                </a:solidFill>
              </a:defRPr>
            </a:pPr>
            <a:r>
              <a:t>RJMCMC posterior P(k|data): mode 15</a:t>
            </a:r>
          </a:p>
          <a:p>
            <a:pPr>
              <a:defRPr sz="950">
                <a:solidFill>
                  <a:srgbClr val="262626"/>
                </a:solidFill>
              </a:defRPr>
            </a:pPr>
            <a:r>
              <a:t>Two independent procedures, same answer (14±1)</a:t>
            </a:r>
          </a:p>
          <a:p>
            <a:pPr>
              <a:defRPr sz="950">
                <a:solidFill>
                  <a:srgbClr val="262626"/>
                </a:solidFill>
              </a:defRPr>
            </a:pPr>
            <a:r>
              <a:t>Output: MAP spin list {(A∥,A⊥)}×k*</a:t>
            </a:r>
          </a:p>
        </p:txBody>
      </p:sp>
      <p:sp>
        <p:nvSpPr>
          <p:cNvPr id="9" name="Right Arrow 8"/>
          <p:cNvSpPr/>
          <p:nvPr/>
        </p:nvSpPr>
        <p:spPr>
          <a:xfrm>
            <a:off x="8979408" y="3611879"/>
            <a:ext cx="128015" cy="182880"/>
          </a:xfrm>
          <a:prstGeom prst="rightArrow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098280" y="1188720"/>
            <a:ext cx="2816352" cy="5029200"/>
          </a:xfrm>
          <a:prstGeom prst="roundRect">
            <a:avLst/>
          </a:prstGeom>
          <a:solidFill>
            <a:srgbClr val="D9EAD3"/>
          </a:solidFill>
          <a:ln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defRPr sz="1200" b="1">
                <a:solidFill>
                  <a:srgbClr val="1A1A1A"/>
                </a:solidFill>
              </a:defRPr>
            </a:pPr>
            <a:r>
              <a:t>⑥  Final list + 95% CI</a:t>
            </a:r>
          </a:p>
          <a:p>
            <a:pPr>
              <a:defRPr sz="950">
                <a:solidFill>
                  <a:srgbClr val="262626"/>
                </a:solidFill>
              </a:defRPr>
            </a:pPr>
            <a:r>
              <a:t>Residual bootstrap, 60 refits → error bars (95% CI) per (A∥,A⊥)</a:t>
            </a:r>
          </a:p>
          <a:p>
            <a:pPr>
              <a:defRPr sz="950">
                <a:solidFill>
                  <a:srgbClr val="262626"/>
                </a:solidFill>
              </a:defRPr>
            </a:pPr>
            <a:r>
              <a:t>Non-overlapping CIs = statistically distinct entities</a:t>
            </a:r>
          </a:p>
          <a:p>
            <a:pPr>
              <a:defRPr sz="950">
                <a:solidFill>
                  <a:srgbClr val="262626"/>
                </a:solidFill>
              </a:defRPr>
            </a:pPr>
            <a:r>
              <a:t>Checks: anchors 7/7 recovered · NV1 three measurements</a:t>
            </a:r>
          </a:p>
          <a:p>
            <a:pPr>
              <a:defRPr sz="950">
                <a:solidFill>
                  <a:srgbClr val="262626"/>
                </a:solidFill>
              </a:defRPr>
            </a:pPr>
            <a:r>
              <a:t>reproduced simultaneously, RMSE 0.088–0.176</a:t>
            </a:r>
          </a:p>
          <a:p>
            <a:pPr>
              <a:defRPr sz="950">
                <a:solidFill>
                  <a:srgbClr val="262626"/>
                </a:solidFill>
              </a:defRPr>
            </a:pPr>
            <a:r>
              <a:t>Final: NV1 14 · NV2 9 + 1 withheld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6419088"/>
            <a:ext cx="11521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404040"/>
                </a:solidFill>
              </a:defRPr>
            </a:pPr>
            <a:r>
              <a:t>Block ⑤ in one line: the network's intuition (regions) is finalized by the referee of physics (forward-model residual + statistical penalty)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64592"/>
            <a:ext cx="115214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Related Work — Poteshman et al. (with Taminiau group, Quantum 2026)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13232"/>
            <a:ext cx="11521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B45000"/>
                </a:solidFill>
              </a:defRPr>
            </a:pPr>
            <a:r>
              <a:t>▶ An independent contemporary study reaches the same conclusion (trans-dimensional Bayesian is the right tool) — the difference is what narrows the search: DFT lattice vs learned attention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188720"/>
          <a:ext cx="1147572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5120640"/>
                <a:gridCol w="5120640"/>
              </a:tblGrid>
              <a:tr h="822960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Aspect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Poteshman 2026 (hybrid MCMC)</a:t>
                      </a:r>
                    </a:p>
                    <a:p>
                      <a:pPr>
                        <a:defRPr sz="1100" b="1"/>
                      </a:pPr>
                      <a:r>
                        <a:t>arXiv 2506.18802 · published in Quantum</a:t>
                      </a:r>
                    </a:p>
                  </a:txBody>
                  <a:tcPr>
                    <a:solidFill>
                      <a:srgbClr val="F2D5C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WD method (PF→RJMCMC hybrid v2)</a:t>
                      </a:r>
                    </a:p>
                  </a:txBody>
                  <a:tcPr>
                    <a:solidFill>
                      <a:srgbClr val="D9EAD3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>
                        <a:defRPr sz="950" b="1"/>
                      </a:pPr>
                      <a:r>
                        <a:t>Search proposal</a:t>
                      </a:r>
                    </a:p>
                    <a:p>
                      <a:pPr>
                        <a:defRPr sz="950" b="1"/>
                      </a:pPr>
                      <a:r>
                        <a:t>(prior)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 b="0"/>
                      </a:pPr>
                      <a:r>
                        <a:t>DFT lattice discretization — search only over computed</a:t>
                      </a:r>
                    </a:p>
                    <a:p>
                      <a:pPr>
                        <a:defRPr sz="950" b="0"/>
                      </a:pPr>
                      <a:r>
                        <a:t>hyperfine values at 3,518 diamond lattice sites (|A|&gt;5 kHz)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 b="0"/>
                      </a:pPr>
                      <a:r>
                        <a:t>Candidate regions from a learned attention detector (PF) —</a:t>
                      </a:r>
                    </a:p>
                    <a:p>
                      <a:pPr>
                        <a:defRPr sz="950" b="0"/>
                      </a:pPr>
                      <a:r>
                        <a:t>no DFT/lattice info needed, proposed from data</a:t>
                      </a:r>
                    </a:p>
                  </a:txBody>
                  <a:tcPr/>
                </a:tc>
              </a:tr>
              <a:tr h="822960">
                <a:tc>
                  <a:txBody>
                    <a:bodyPr/>
                    <a:lstStyle/>
                    <a:p>
                      <a:pPr>
                        <a:defRPr sz="950" b="1"/>
                      </a:pPr>
                      <a:r>
                        <a:t>Engine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 b="0"/>
                      </a:pPr>
                      <a:r>
                        <a:t>RJMCMC + parallel tempering (10 replicas) + RWMH cycle</a:t>
                      </a:r>
                    </a:p>
                    <a:p>
                      <a:pPr>
                        <a:defRPr sz="950" b="0"/>
                      </a:pPr>
                      <a:r>
                        <a:t>(50/100/25-step cycles, 5 ensembles × 25,000 steps)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 b="0"/>
                      </a:pPr>
                      <a:r>
                        <a:t>Region-constrained RJMCMC (birth/death/perturb) + annealing</a:t>
                      </a:r>
                    </a:p>
                    <a:p>
                      <a:pPr>
                        <a:defRPr sz="950" b="0"/>
                      </a:pPr>
                      <a:r>
                        <a:t>+ independent BIC cross-check</a:t>
                      </a:r>
                    </a:p>
                  </a:txBody>
                  <a:tcPr/>
                </a:tc>
              </a:tr>
              <a:tr h="822960">
                <a:tc>
                  <a:txBody>
                    <a:bodyPr/>
                    <a:lstStyle/>
                    <a:p>
                      <a:pPr>
                        <a:defRPr sz="950" b="1"/>
                      </a:pPr>
                      <a:r>
                        <a:t>Decay ·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 b="0"/>
                      </a:pPr>
                      <a:r>
                        <a:t>decay λ co-estimated inside the likelihood</a:t>
                      </a:r>
                    </a:p>
                    <a:p>
                      <a:pPr>
                        <a:defRPr sz="950" b="0"/>
                      </a:pPr>
                      <a:r>
                        <a:t>cryo 3.7 K · N=32 single channel · τ 6–8 µs, 250 pts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 b="0"/>
                      </a:pPr>
                      <a:r>
                        <a:t>stretched-exp envelope pre-normalization (Eq.5)</a:t>
                      </a:r>
                    </a:p>
                    <a:p>
                      <a:pPr>
                        <a:defRPr sz="950" b="0"/>
                      </a:pPr>
                      <a:r>
                        <a:t>room temp · N=8/16/20 three channels jointly · 700 pts</a:t>
                      </a:r>
                    </a:p>
                  </a:txBody>
                  <a:tcPr/>
                </a:tc>
              </a:tr>
              <a:tr h="822960">
                <a:tc>
                  <a:txBody>
                    <a:bodyPr/>
                    <a:lstStyle/>
                    <a:p>
                      <a:pPr>
                        <a:defRPr sz="950" b="1"/>
                      </a:pPr>
                      <a:r>
                        <a:t>Results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 b="0"/>
                      </a:pPr>
                      <a:r>
                        <a:t>modal k=46 (ref. 50) · 45 of 48 spins in posterior</a:t>
                      </a:r>
                    </a:p>
                    <a:p>
                      <a:pPr>
                        <a:defRPr sz="950" b="0"/>
                      </a:pPr>
                      <a:r>
                        <a:t>1 strong spin (C36) missed — depends on DFT accuracy</a:t>
                      </a:r>
                    </a:p>
                    <a:p>
                      <a:pPr>
                        <a:defRPr sz="950" b="0"/>
                      </a:pPr>
                      <a:r>
                        <a:t>weak coupling &lt;25 kHz stated unresolved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 b="0"/>
                      </a:pPr>
                      <a:r>
                        <a:t>twin F1: cryo 0.84 / room 0.57 / error-injected 0.61</a:t>
                      </a:r>
                    </a:p>
                    <a:p>
                      <a:pPr>
                        <a:defRPr sz="950" b="0"/>
                      </a:pPr>
                      <a:r>
                        <a:t>NV1 14 confirmed (95% CI) · anchors 7/7 recovered</a:t>
                      </a:r>
                    </a:p>
                    <a:p>
                      <a:pPr>
                        <a:defRPr sz="950" b="0"/>
                      </a:pPr>
                      <a:r>
                        <a:t>weak-coupling kHz band is the design target</a:t>
                      </a:r>
                    </a:p>
                  </a:txBody>
                  <a:tcPr/>
                </a:tc>
              </a:tr>
              <a:tr h="822960">
                <a:tc>
                  <a:txBody>
                    <a:bodyPr/>
                    <a:lstStyle/>
                    <a:p>
                      <a:pPr>
                        <a:defRPr sz="950" b="1"/>
                      </a:pPr>
                      <a:r>
                        <a:t>Compute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 b="0"/>
                      </a:pPr>
                      <a:r>
                        <a:t>~750k forward evaluations · 5 CPU cores, ~8 h · no training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 b="0"/>
                      </a:pPr>
                      <a:r>
                        <a:t>PF trained once (GPU, tens of min; reused per condition)</a:t>
                      </a:r>
                    </a:p>
                    <a:p>
                      <a:pPr>
                        <a:defRPr sz="950" b="0"/>
                      </a:pPr>
                      <a:r>
                        <a:t>+ RJMCMC in minutes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20040" y="6272784"/>
            <a:ext cx="11521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404040"/>
                </a:solidFill>
              </a:defRPr>
            </a:pPr>
            <a:r>
              <a:t>Companion paper arXiv 2506.19259 (Poteshman et al.): a high-throughput spin-defect characterization framework — the arena our automated pipeline targets. Both will be cited: contemporary work independently validating the direction, while room-temperature operation, multi-channel input, learned proposals, and a completed list with CIs remain our contributions.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6D8825F1-2FD4-454B-BCB6-8FAB5BC8681E}">
  <we:reference id="wa200010725" version="1.0.0.1" store="ko-KR" storeType="OMEX"/>
  <we:alternateReferences>
    <we:reference id="WA200010725" version="1.0.0.1" store="" storeType="OMEX"/>
  </we:alternateReferences>
  <we:properties>
    <we:property name="claude.fileId" value="&quot;f1d87ffb-81c2-4523-aae1-db48f63a0fda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313</TotalTime>
  <Words>2275</Words>
  <Application>Microsoft Macintosh PowerPoint</Application>
  <PresentationFormat>와이드스크린</PresentationFormat>
  <Paragraphs>219</Paragraphs>
  <Slides>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</vt:i4>
      </vt:variant>
    </vt:vector>
  </HeadingPairs>
  <TitlesOfParts>
    <vt:vector size="13" baseType="lpstr">
      <vt:lpstr>Pretendard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woodo lee</cp:lastModifiedBy>
  <cp:revision>44</cp:revision>
  <dcterms:created xsi:type="dcterms:W3CDTF">2013-01-27T09:14:16Z</dcterms:created>
  <dcterms:modified xsi:type="dcterms:W3CDTF">2026-08-09T11:57:34Z</dcterms:modified>
  <cp:category/>
</cp:coreProperties>
</file>