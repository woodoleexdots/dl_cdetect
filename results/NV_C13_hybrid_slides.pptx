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무엇을 했는가: 7단계 요약</a:t>
            </a:r>
          </a:p>
          <a:p>
            <a:pPr>
              <a:defRPr sz="1200"/>
            </a:pPr>
            <a:r>
              <a:t>물리 검증 → 2021 재구성 → ablation → 신규 모델 → 하이브리드 → 실측 GT 검증 → 실데이터 확정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모든 주장 뒤에 검증 단계를 붙였다 — 마지막엔 정답을 아는 실측 스핀 환경으로 확인</a:t>
            </a:r>
          </a:p>
        </p:txBody>
      </p:sp>
      <p:pic>
        <p:nvPicPr>
          <p:cNvPr id="3" name="Picture 2" descr="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30000" cy="48935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/>
            </a:pPr>
            <a:r>
              <a:t>• 모든 학습은 forward model 합성 데이터만 사용 — 실험 데이터와 실측 배스는 테스트 전용 (누수 없음)</a:t>
            </a:r>
          </a:p>
          <a:p>
            <a:pPr>
              <a:defRPr sz="1250"/>
            </a:pPr>
            <a:r>
              <a:t>• 각 단계의 산출물이 다음 단계의 근거가 되는 구조: 예) ablation의 발견(AE 유해, joint-N 유효)이 신규 모델 설계로 이어짐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제안 모델: PF→DE 하이브리드</a:t>
            </a:r>
          </a:p>
          <a:p>
            <a:pPr>
              <a:defRPr sz="1200"/>
            </a:pPr>
            <a:r>
              <a:t>상온 NV CPMG에서 ¹³C 핵스핀 (A∥, A⊥) 자동 추출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어디에 있나(신경망 검출)와 몇 개·얼마나 강한가(물리 피팅)를 분리하니 둘 다 잘하게 됐다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43043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949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1단 PeriodFormer: 후보 주기마다 접은 slice-stack을 토큰으로 임베딩 — 물리 사전지식 유지, 윈도우 간 어텐션으로 실제 스핀만 통과 (오탐 0)</a:t>
            </a:r>
          </a:p>
          <a:p>
            <a:pPr>
              <a:defRPr sz="1300"/>
            </a:pPr>
            <a:r>
              <a:t>• 2단 영역 제약 DE: PF가 좁힌 영역 안에서만 스핀을 순차 추가(BIC) — 한 클러스터의 다중 스핀까지 열거</a:t>
            </a:r>
          </a:p>
          <a:p>
            <a:pPr>
              <a:defRPr sz="1300"/>
            </a:pPr>
            <a:r>
              <a:t>• 학습은 forward model(Eq.1–3) 합성 데이터만 사용 · 실험 데이터와 실측 배스는 테스트 전용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모델 내부: 데이터가 어떻게 흘러 무엇이 되는가</a:t>
            </a:r>
          </a:p>
          <a:p>
            <a:pPr>
              <a:defRPr sz="1200"/>
            </a:pPr>
            <a:r>
              <a:t>블록 위 = 연산, 붉은 글씨 = 텐서 shape · 입력(파랑) → 연산(초록) → 출력(보라)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모델 간 본질적 차이는 정보가 어디서 합쳐지는가 — 2021은 끝까지 안 합치고, 우리는 어텐션에서 합친다</a:t>
            </a:r>
          </a:p>
        </p:txBody>
      </p:sp>
      <p:pic>
        <p:nvPicPr>
          <p:cNvPr id="3" name="Picture 2" descr="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11750040" cy="59781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722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• 2021 재구성: 윈도우마다 flatten→MLP 61회 반복, A 위치만 출력 · 우리(PF): 61 윈도우를 한 텐서(61×3×13×53)로 접어 어텐션이 한 번에 종합</a:t>
            </a:r>
          </a:p>
          <a:p>
            <a:pPr>
              <a:defRPr sz="1200"/>
            </a:pPr>
            <a:r>
              <a:t>• 최종 출력 형태의 차이: 뱅크=확률 곡선(후처리 필요) / SpinDETR=(A,B) 직접 / 하이브리드=BIC로 개수까지 자동 결정된 {(A∥,A⊥)}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아키텍처 비교: 2021 → 하이브리드</a:t>
            </a:r>
          </a:p>
          <a:p>
            <a:pPr>
              <a:defRPr sz="1200"/>
            </a:pPr>
            <a:r>
              <a:t>같은 조건·같은 합성 GT에서 재학습해 공정 비교 (ablation)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상온 조건에서 2021 F1 0.57 → 제안 0.94 — 향상분이 어느 설계에서 왔는지 숫자로 분리했다</a:t>
            </a:r>
          </a:p>
        </p:txBody>
      </p:sp>
      <p:pic>
        <p:nvPicPr>
          <p:cNvPr id="3" name="Picture 2" descr="compare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11521440" cy="3488142"/>
          </a:xfrm>
          <a:prstGeom prst="rect">
            <a:avLst/>
          </a:prstGeom>
        </p:spPr>
      </p:pic>
      <p:pic>
        <p:nvPicPr>
          <p:cNvPr id="4" name="Picture 3" descr="f1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794760"/>
            <a:ext cx="11521440" cy="32804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• 상온 노이즈에서 2021 F1 0.57 → 하이브리드 계열 0.94 · 기여 분해: CNN(+0.14), joint-N(+0.07), 토큰-어텐션(+0.10)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비유로 이해하는 다섯 설계</a:t>
            </a:r>
          </a:p>
          <a:p>
            <a:pPr>
              <a:defRPr sz="1200"/>
            </a:pPr>
            <a:r>
              <a:t>딥러닝을 몰라도 되는 설명 — 각 방법이 무엇을 하고, 왜 그렇게 바꿨는가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설계 변경은 취향이 아니라 진단이다 — 앞 방법이 실패하는 지점을 하나씩 고쳤다</a:t>
            </a:r>
          </a:p>
        </p:txBody>
      </p:sp>
      <p:pic>
        <p:nvPicPr>
          <p:cNvPr id="3" name="Picture 2" descr="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11521440" cy="45900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/>
            </a:pPr>
            <a:r>
              <a:t>• 왜 회의(어텐션)가 결정적인가: 상온 노이즈는 한 창문에서는 스핀처럼 보일 수 있지만, 이웃 창문들과 대조하면 들통난다 — 그래서 PeriodFormer의 오탐이 0이 된다</a:t>
            </a:r>
          </a:p>
          <a:p>
            <a:pPr>
              <a:defRPr sz="1250"/>
            </a:pPr>
            <a:r>
              <a:t>• 왜 측량사(물리 피팅)가 필요한가: 회의는 이 근처에 있다까지만 안다 — 한 구역에 몇 개가 겹쳐 있는지는 물리 공식을 데이터에 맞춰봐야(BIC) 알 수 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검증: 3중 근거</a:t>
            </a:r>
          </a:p>
          <a:p>
            <a:pPr>
              <a:defRPr sz="1200"/>
            </a:pPr>
            <a:r>
              <a:t>① 합성 GT ② 실측 50-스핀 디지털 트윈(공개 데이터·테스트 전용) ③ 실데이터 교차 수렴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정답을 아는 실제 스핀 환경(Delft 공개 데이터)에서 저온·상온·오차주입 전 조건 1위</a:t>
            </a:r>
          </a:p>
        </p:txBody>
      </p:sp>
      <p:pic>
        <p:nvPicPr>
          <p:cNvPr id="3" name="Picture 2" descr="23_method_comparison_N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6492240" cy="3246120"/>
          </a:xfrm>
          <a:prstGeom prst="rect">
            <a:avLst/>
          </a:prstGeom>
        </p:spPr>
      </p:pic>
      <p:pic>
        <p:nvPicPr>
          <p:cNvPr id="4" name="Picture 3" descr="21_ensemble_overlay_N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051560"/>
            <a:ext cx="4892040" cy="29701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235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/>
            </a:pPr>
            <a:r>
              <a:t>• 실측 50-스핀 배스(같은 NV 계보, 4TU 공개)에서 하이브리드가 전 조건 1위 — 저온 F1 0.78 / 상온 0.51 / 모델 불일치 0.55 (2021: 0.38/0.37/0.35)</a:t>
            </a:r>
          </a:p>
          <a:p>
            <a:pPr>
              <a:defRPr sz="1250"/>
            </a:pPr>
            <a:r>
              <a:t>• 왼쪽: 9개 알고리즘의 NV1 검출이 최종 14스핀(빨간선)에 계단식 수렴 · ppt 앵커 7/7 회수</a:t>
            </a:r>
          </a:p>
          <a:p>
            <a:pPr>
              <a:defRPr sz="1250"/>
            </a:pPr>
            <a:r>
              <a:t>• 오른쪽: 최종 14스핀 forward-model이 3개 채널 실데이터를 동시 재현 (RMSE 0.088/0.116/0.176)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피팅 곡선은 이렇게 그린다</a:t>
            </a:r>
          </a:p>
          <a:p>
            <a:pPr>
              <a:defRPr sz="1200"/>
            </a:pPr>
            <a:r>
              <a:t>스핀 목록 → 곱 공식 → 곡선 1개 (스핀 수 6~10은 각 방법의 BIC 자동 선택 결과)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곡선은 그린 것이 아니라 스핀 목록에서 물리 공식으로 계산된 예측 — 데이터와 맞으면 목록이 맞다는 뜻</a:t>
            </a:r>
          </a:p>
        </p:txBody>
      </p:sp>
      <p:pic>
        <p:nvPicPr>
          <p:cNvPr id="3" name="Picture 2" descr="fit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27846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1206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• ① 실험 Pₓ를 엔벨로프로 나눠 모델과 같은 M 스케일로 정규화 → ② 각 스핀 (Aᵢ,Bᵢ)가 자기 주기의 딥 트레인 Mᵢ 생성 → ③ 전체 곱 ∏Mᵢ가 피팅 곡선</a:t>
            </a:r>
          </a:p>
          <a:p>
            <a:pPr>
              <a:defRPr sz="1200"/>
            </a:pPr>
            <a:r>
              <a:t>• 스핀이 늘수록 곱에 항이 추가되어 미세 구조를 더 재현 — NV2에서 6→10스핀에 RMSE 0.308→0.286 (BIC 페널티에도 잔차 감소 = 과적합 아님)</a:t>
            </a:r>
          </a:p>
          <a:p>
            <a:pPr>
              <a:defRPr sz="1200"/>
            </a:pPr>
            <a:r>
              <a:t>• 그림 25의 스택 배치: 방법별 세로 오프셋 + 회색 데이터 반복 — 각 곡선을 데이터와 1:1 대조하면서 방법 간 비교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NV1: 모델별 피팅 오버레이 + 검출 결합강도</a:t>
            </a:r>
          </a:p>
          <a:p>
            <a:pPr>
              <a:defRPr sz="1200"/>
            </a:pPr>
            <a:r>
              <a:t>회색 = 실험 데이터(행마다 반복) · 곡선 색 = 알고리즘 · (A∥, A⊥) kHz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스핀을 더 많이 찾은 최종 목록(14개)이 잔차도 가장 작다 — 과적합이 아니라 실제 스핀이라는 증거</a:t>
            </a:r>
          </a:p>
        </p:txBody>
      </p:sp>
      <p:pic>
        <p:nvPicPr>
          <p:cNvPr id="3" name="Picture 2" descr="24_method_overlays_N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6100762" cy="5577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18872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77B4"/>
                </a:solidFill>
              </a:defRPr>
            </a:pPr>
            <a:r>
              <a:t>cdetect-DE (8 spins, RMSE 0.123)</a:t>
            </a:r>
          </a:p>
          <a:p>
            <a:pPr>
              <a:defRPr sz="950">
                <a:solidFill>
                  <a:srgbClr val="1F77B4"/>
                </a:solidFill>
              </a:defRPr>
            </a:pPr>
            <a:r>
              <a:t>(+9.2,31) (−5.6,26) (+3.3,30) (+23.7,24) (+40.7,33) (+65.2,30) (+91.2,36) (−87.6,19)</a:t>
            </a:r>
          </a:p>
          <a:p>
            <a:pPr>
              <a:defRPr sz="1200" b="1">
                <a:solidFill>
                  <a:srgbClr val="2CA02C"/>
                </a:solidFill>
              </a:defRPr>
            </a:pPr>
            <a:r>
              <a:t>SpinDETR (9 spins, RMSE 0.147)</a:t>
            </a:r>
          </a:p>
          <a:p>
            <a:pPr>
              <a:defRPr sz="950">
                <a:solidFill>
                  <a:srgbClr val="2CA02C"/>
                </a:solidFill>
              </a:defRPr>
            </a:pPr>
            <a:r>
              <a:t>(−6.2,29) (+7.4,29) (+13.1,25) (−15.5,21) (−2.2,23) (+37.6,27) (+42.5,31) (+55.9,24) (−34.4,17)</a:t>
            </a:r>
          </a:p>
          <a:p>
            <a:pPr>
              <a:defRPr sz="1200" b="1">
                <a:solidFill>
                  <a:srgbClr val="9467BD"/>
                </a:solidFill>
              </a:defRPr>
            </a:pPr>
            <a:r>
              <a:t>하이브리드 narrow (10 spins, RMSE 0.133)</a:t>
            </a:r>
          </a:p>
          <a:p>
            <a:pPr>
              <a:defRPr sz="950">
                <a:solidFill>
                  <a:srgbClr val="9467BD"/>
                </a:solidFill>
              </a:defRPr>
            </a:pPr>
            <a:r>
              <a:t>(−19.0,16) (−13.9,16) (−8.0,16) (−5.1,23) (+1.1,21) (+4.0,27) (+8.5,30) (+14.5,25) (+37.5,28) (+45.0,33)</a:t>
            </a:r>
          </a:p>
          <a:p>
            <a:pPr>
              <a:defRPr sz="1200" b="1">
                <a:solidFill>
                  <a:srgbClr val="D62728"/>
                </a:solidFill>
              </a:defRPr>
            </a:pPr>
            <a:r>
              <a:t>ENSEMBLE 최종 (14 spins, RMSE 0.116)</a:t>
            </a:r>
          </a:p>
          <a:p>
            <a:pPr>
              <a:defRPr sz="950">
                <a:solidFill>
                  <a:srgbClr val="D62728"/>
                </a:solidFill>
              </a:defRPr>
            </a:pPr>
            <a:r>
              <a:t>(−87.9,18) (−18.8,16) (−11.5,14) (−5.1,22) (+0.6,17) (+4.0,26) (+8.4,28) (+14.2,22) (+24.3,20) (+39.0,28) (+48.0,25) (+65.6,28) (+91.9,33) (+114.4,24)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NV2: 모델별 피팅 오버레이 + 검출 결합강도</a:t>
            </a:r>
          </a:p>
          <a:p>
            <a:pPr>
              <a:defRPr sz="1200"/>
            </a:pPr>
            <a:r>
              <a:t>CPMG-16 단일 채널 · 강결합 영역 (A⊥ 최대 ~290 kHz)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채널이 하나뿐인 어려운 조건에서도 10개 스핀으로 격렬한 진동 구조를 재현</a:t>
            </a:r>
          </a:p>
        </p:txBody>
      </p:sp>
      <p:pic>
        <p:nvPicPr>
          <p:cNvPr id="3" name="Picture 2" descr="25_method_overlays_N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6100762" cy="5577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18872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77B4"/>
                </a:solidFill>
              </a:defRPr>
            </a:pPr>
            <a:r>
              <a:t>cdetect-DE (6 spins, RMSE 0.308)</a:t>
            </a:r>
          </a:p>
          <a:p>
            <a:pPr>
              <a:defRPr sz="950">
                <a:solidFill>
                  <a:srgbClr val="1F77B4"/>
                </a:solidFill>
              </a:defRPr>
            </a:pPr>
            <a:r>
              <a:t>(−51.5,199) (+51.1,94) (+346.2,263) (−39.2,67) (−152.3,99) (−14.1,50)</a:t>
            </a:r>
          </a:p>
          <a:p>
            <a:pPr>
              <a:defRPr sz="1200" b="1">
                <a:solidFill>
                  <a:srgbClr val="2CA02C"/>
                </a:solidFill>
              </a:defRPr>
            </a:pPr>
            <a:r>
              <a:t>하이브리드 v1 (8 spins, RMSE 0.308)</a:t>
            </a:r>
          </a:p>
          <a:p>
            <a:pPr>
              <a:defRPr sz="950">
                <a:solidFill>
                  <a:srgbClr val="2CA02C"/>
                </a:solidFill>
              </a:defRPr>
            </a:pPr>
            <a:r>
              <a:t>(−45.7,53) (−39.3,71) (−32.5,151) (−12.8,42) (−3.5,40) (+48.3,109) (+55.7,54) (+345.7,266)</a:t>
            </a:r>
          </a:p>
          <a:p>
            <a:pPr>
              <a:defRPr sz="1200" b="1">
                <a:solidFill>
                  <a:srgbClr val="9467BD"/>
                </a:solidFill>
              </a:defRPr>
            </a:pPr>
            <a:r>
              <a:t>하이브리드 refined (9 spins, RMSE 0.322)</a:t>
            </a:r>
          </a:p>
          <a:p>
            <a:pPr>
              <a:defRPr sz="950">
                <a:solidFill>
                  <a:srgbClr val="9467BD"/>
                </a:solidFill>
              </a:defRPr>
            </a:pPr>
            <a:r>
              <a:t>(−58.8,181) (−45.7,51) (−39.6,70) (−21.6,136) (−12.3,42) (+52.7,85) (+322.0,49) (+341.3,288) (+349.1,257)</a:t>
            </a:r>
          </a:p>
          <a:p>
            <a:pPr>
              <a:defRPr sz="1200" b="1">
                <a:solidFill>
                  <a:srgbClr val="D62728"/>
                </a:solidFill>
              </a:defRPr>
            </a:pPr>
            <a:r>
              <a:t>ENSEMBLE 최종 (10 spins, RMSE 0.286)</a:t>
            </a:r>
          </a:p>
          <a:p>
            <a:pPr>
              <a:defRPr sz="950">
                <a:solidFill>
                  <a:srgbClr val="D62728"/>
                </a:solidFill>
              </a:defRPr>
            </a:pPr>
            <a:r>
              <a:t>(−151.2,95) (−58.9,182) (−45.9,50) (−38.9,67) (−12.6,42) (−2.7,37) (+51.7,91) (+55.9,55) (+346.9,261) (+430.7,58)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NV1: 알고리즘별 A-텐서 값 종합표</a:t>
            </a:r>
          </a:p>
          <a:p>
            <a:pPr>
              <a:defRPr sz="1200"/>
            </a:pPr>
            <a:r>
              <a:t>값 = (A∥, A⊥) kHz · 윈도우뱅크/PF는 A 위치만 출력 · *앵커 부호는 m_s 브랜치 관례 차이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핵심 스핀 4개는 9개 방법 전원 일치 — 방법을 바꿔도 같은 답이 나온다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43000"/>
          <a:ext cx="116586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7325"/>
                <a:gridCol w="1457325"/>
                <a:gridCol w="1457325"/>
                <a:gridCol w="1457325"/>
                <a:gridCol w="1457325"/>
                <a:gridCol w="1457325"/>
                <a:gridCol w="1457325"/>
                <a:gridCol w="1457325"/>
              </a:tblGrid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앙상블 최종</a:t>
                      </a:r>
                    </a:p>
                  </a:txBody>
                  <a:tcP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ppt 앵커</a:t>
                      </a:r>
                    </a:p>
                  </a:txBody>
                  <a:tcP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2021-MLP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CNN뱅크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PF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SpinDETR</a:t>
                      </a:r>
                    </a:p>
                  </a:txBody>
                  <a:tcP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cdetect-DE</a:t>
                      </a:r>
                    </a:p>
                  </a:txBody>
                  <a:tcP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하이브리드</a:t>
                      </a:r>
                    </a:p>
                  </a:txBody>
                  <a:tcPr>
                    <a:solidFill>
                      <a:srgbClr val="EAD1DC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(−87.9, 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(−88, 47)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−86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(−87.6, 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(−18.8,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−20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−16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−16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(−15.5, 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(−19.0, 16)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(−11.5, 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−8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(−13.9, 16)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(−5.1, 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(−5, 35)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−6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−8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−6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(−6.2, 29)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(−5.6, 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(−5.1, 23)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(+0.6, 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(−2.2, 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(+3.3, 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(+1.1, 21)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(+4.0, 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(+3.3, 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(+4.0, 27)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(+8.4, 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(+8, 31)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(+7.4, 29)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(+9.2, 31)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(+8.5, 30)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(+14.2, 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(+13.1, 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(+14.5, 25)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(+24.3, 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(+23.7, 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(+39.0, 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(−38, 37)*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+38/40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(+37.6, 27)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(+40.7, 33)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(+37.5, 28)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(+48.0, 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(+45.0, 33)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(+65.6, 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(+65.2, 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(+91.9, 33)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(+91.2, 36)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(+114.4, 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후보 (−34?)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(−38, 37)?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−34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−30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(−34.4, 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NV2: 알고리즘별 A-텐서 값 종합표</a:t>
            </a:r>
          </a:p>
          <a:p>
            <a:pPr>
              <a:defRPr sz="1200"/>
            </a:pPr>
            <a:r>
              <a:t>값 = (A∥, A⊥) kHz · CPMG-16 단일 채널 · ⚠ = 축퇴 잔재 보류 · 앵커 3/3 회수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수동 분석 3개를 전부 회수하고 신규 7개를 추가 — 사람 눈의 상위집합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07323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앙상블 최종</a:t>
                      </a:r>
                    </a:p>
                  </a:txBody>
                  <a:tcP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ppt 앵커</a:t>
                      </a:r>
                    </a:p>
                  </a:txBody>
                  <a:tcP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PF ±400/±600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cdetect-DE</a:t>
                      </a:r>
                    </a:p>
                  </a:txBody>
                  <a:tcP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하이브리드 v1</a:t>
                      </a:r>
                    </a:p>
                  </a:txBody>
                  <a:tcPr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하이브리드 refined</a:t>
                      </a:r>
                    </a:p>
                  </a:txBody>
                  <a:tcPr>
                    <a:solidFill>
                      <a:srgbClr val="EAD1D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(−151.2, 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(+150, 110)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(−152.3, 99)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(−58.9, 182)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−50 / −60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(−51.5, 199)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(−58.8, 181)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(−45.9, 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(−45.7, 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(−45.7, 51)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(−38.9, 67)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(−42, 150)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(−39.2, 67)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(−39.3, 71)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(−39.6, 70)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(−12.6, 42)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−15 / 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(−14.1, 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(−12.8, 42)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(−12.3, 42)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(−2.7, 37)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(−3.5, 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(+51.7, 91)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+55 / +54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(+51.1, 94)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(+48.3, 109)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(+52.7, 85)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(+55.9, 55)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+55 / +54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(+55.7, 54)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(+346.9, 261)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(−340, 290)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+345 / +348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(+346.2, 263)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(+345.7, 266)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(+341/+349, 288/257)</a:t>
                      </a:r>
                    </a:p>
                  </a:txBody>
                  <a:tcPr/>
                </a:tc>
              </a:tr>
              <a:tr h="40733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(+430.7, 58) 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 / +420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(+322, 49)?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