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 showGuides="1">
      <p:cViewPr varScale="1">
        <p:scale>
          <a:sx n="159" d="100"/>
          <a:sy n="159" d="100"/>
        </p:scale>
        <p:origin x="150" y="1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A4AFCB-5E3D-47F8-922A-BE1299E60740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567FB-3CE9-4C41-856F-542F975E03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5457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8469C6-1372-4B5A-BAEA-D13C128C937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104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8469C6-1372-4B5A-BAEA-D13C128C937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663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BC0D0-803E-4593-A8CE-B4032D561A88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77B0D-B319-41A4-BAF3-FD08B42BE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406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BC0D0-803E-4593-A8CE-B4032D561A88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77B0D-B319-41A4-BAF3-FD08B42BE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2054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BC0D0-803E-4593-A8CE-B4032D561A88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77B0D-B319-41A4-BAF3-FD08B42BE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620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BC0D0-803E-4593-A8CE-B4032D561A88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77B0D-B319-41A4-BAF3-FD08B42BE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1969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BC0D0-803E-4593-A8CE-B4032D561A88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77B0D-B319-41A4-BAF3-FD08B42BE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08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BC0D0-803E-4593-A8CE-B4032D561A88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77B0D-B319-41A4-BAF3-FD08B42BE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22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BC0D0-803E-4593-A8CE-B4032D561A88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77B0D-B319-41A4-BAF3-FD08B42BE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757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BC0D0-803E-4593-A8CE-B4032D561A88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77B0D-B319-41A4-BAF3-FD08B42BE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3623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BC0D0-803E-4593-A8CE-B4032D561A88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77B0D-B319-41A4-BAF3-FD08B42BE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127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BC0D0-803E-4593-A8CE-B4032D561A88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77B0D-B319-41A4-BAF3-FD08B42BE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748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BC0D0-803E-4593-A8CE-B4032D561A88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77B0D-B319-41A4-BAF3-FD08B42BE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164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5BC0D0-803E-4593-A8CE-B4032D561A88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77B0D-B319-41A4-BAF3-FD08B42BE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996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NUL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NV1 CPMG16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0" y="-2070"/>
            <a:ext cx="12192000" cy="334726"/>
            <a:chOff x="0" y="-2070"/>
            <a:chExt cx="12192000" cy="334726"/>
          </a:xfrm>
        </p:grpSpPr>
        <p:sp>
          <p:nvSpPr>
            <p:cNvPr id="28" name="직사각형 27"/>
            <p:cNvSpPr/>
            <p:nvPr/>
          </p:nvSpPr>
          <p:spPr>
            <a:xfrm>
              <a:off x="0" y="-2070"/>
              <a:ext cx="1389440" cy="334726"/>
            </a:xfrm>
            <a:prstGeom prst="rect">
              <a:avLst/>
            </a:prstGeom>
            <a:solidFill>
              <a:srgbClr val="DE1F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9" name="그룹 28"/>
            <p:cNvGrpSpPr/>
            <p:nvPr/>
          </p:nvGrpSpPr>
          <p:grpSpPr>
            <a:xfrm>
              <a:off x="0" y="-2070"/>
              <a:ext cx="12192000" cy="334726"/>
              <a:chOff x="0" y="-2070"/>
              <a:chExt cx="9906000" cy="457256"/>
            </a:xfrm>
          </p:grpSpPr>
          <p:sp>
            <p:nvSpPr>
              <p:cNvPr id="30" name="직사각형 29"/>
              <p:cNvSpPr/>
              <p:nvPr/>
            </p:nvSpPr>
            <p:spPr>
              <a:xfrm>
                <a:off x="0" y="-2070"/>
                <a:ext cx="1389440" cy="457256"/>
              </a:xfrm>
              <a:prstGeom prst="rect">
                <a:avLst/>
              </a:prstGeom>
              <a:solidFill>
                <a:srgbClr val="FF33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1387768" y="-2070"/>
                <a:ext cx="8518232" cy="457256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178"/>
          <a:stretch/>
        </p:blipFill>
        <p:spPr>
          <a:xfrm>
            <a:off x="11405252" y="5930639"/>
            <a:ext cx="786748" cy="9318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1457374" y="4838840"/>
                <a:ext cx="4217629" cy="12239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altLang="ko-KR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Spin 1</a:t>
                </a:r>
                <a:r>
                  <a:rPr lang="en-US" altLang="ko-KR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∥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=−88 </m:t>
                    </m:r>
                    <m:r>
                      <a:rPr lang="en-US" altLang="ko-KR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𝑘𝐻𝑧</m:t>
                    </m:r>
                    <m:r>
                      <a:rPr lang="en-US" altLang="ko-KR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,</m:t>
                    </m:r>
                    <m:sSub>
                      <m:sSubPr>
                        <m:ctrlP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⊥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=47 </m:t>
                    </m:r>
                    <m:r>
                      <a:rPr lang="en-US" altLang="ko-KR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𝑘𝐻𝑧</m:t>
                    </m:r>
                  </m:oMath>
                </a14:m>
                <a:endPara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Spin 2 :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∥</m:t>
                        </m:r>
                      </m:sub>
                    </m:sSub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ko-KR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8 </m:t>
                    </m:r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𝑘𝐻𝑧</m:t>
                    </m:r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,</m:t>
                    </m:r>
                    <m:sSub>
                      <m:sSubPr>
                        <m:ctrlP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⊥</m:t>
                        </m:r>
                      </m:sub>
                    </m:sSub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ko-KR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31</m:t>
                    </m:r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𝑘𝐻𝑧</m:t>
                    </m:r>
                  </m:oMath>
                </a14:m>
                <a:endPara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Spin 3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∥</m:t>
                        </m:r>
                      </m:sub>
                    </m:sSub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ko-KR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−38 </m:t>
                    </m:r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𝑘𝐻𝑧</m:t>
                    </m:r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,</m:t>
                    </m:r>
                    <m:sSub>
                      <m:sSubPr>
                        <m:ctrlP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⊥</m:t>
                        </m:r>
                      </m:sub>
                    </m:sSub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ko-KR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  <m:r>
                      <a:rPr lang="en-US" altLang="ko-KR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7</m:t>
                    </m:r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𝑘𝐻𝑧</m:t>
                    </m:r>
                  </m:oMath>
                </a14:m>
                <a:endPara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Spin </a:t>
                </a:r>
                <a:r>
                  <a:rPr lang="en-US" altLang="ko-KR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 </a:t>
                </a:r>
                <a:r>
                  <a:rPr lang="en-US" altLang="ko-KR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∥</m:t>
                        </m:r>
                      </m:sub>
                    </m:sSub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ko-KR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−5 </m:t>
                    </m:r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𝑘𝐻𝑧</m:t>
                    </m:r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,</m:t>
                    </m:r>
                    <m:sSub>
                      <m:sSubPr>
                        <m:ctrlP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⊥</m:t>
                        </m:r>
                      </m:sub>
                    </m:sSub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ko-KR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35 </m:t>
                    </m:r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𝑘𝐻𝑧</m:t>
                    </m:r>
                  </m:oMath>
                </a14:m>
                <a:endPara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374" y="4838840"/>
                <a:ext cx="4217629" cy="1223925"/>
              </a:xfrm>
              <a:prstGeom prst="rect">
                <a:avLst/>
              </a:prstGeom>
              <a:blipFill>
                <a:blip r:embed="rId4"/>
                <a:stretch>
                  <a:fillRect l="-867" t="-2985" b="-646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직사각형 83"/>
          <p:cNvSpPr/>
          <p:nvPr/>
        </p:nvSpPr>
        <p:spPr>
          <a:xfrm>
            <a:off x="1389440" y="4424862"/>
            <a:ext cx="44871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Spin Candidates (</a:t>
            </a:r>
            <a:r>
              <a:rPr lang="en-US" altLang="ko-KR" sz="2000" b="1" baseline="30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nuclear spin)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249232" y="1630062"/>
            <a:ext cx="19367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CPMG Signals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75769" y="4893704"/>
            <a:ext cx="50000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Frequency :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1.63771 GHz (B-field : 440.1 G)</a:t>
            </a:r>
          </a:p>
          <a:p>
            <a:pPr marL="285750" indent="-285750">
              <a:buFontTx/>
              <a:buChar char="-"/>
            </a:pP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Tau : ~ 14 </a:t>
            </a:r>
            <a:r>
              <a:rPr lang="en-US" altLang="ko-KR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Symbol" panose="05050102010706020507" pitchFamily="18" charset="2"/>
                <a:cs typeface="Arial" panose="020B0604020202020204" pitchFamily="34" charset="0"/>
              </a:rPr>
              <a:t>m</a:t>
            </a:r>
            <a:r>
              <a:rPr lang="en-US" altLang="ko-KR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Iteration # : 22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6575769" y="4424862"/>
            <a:ext cx="30620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Condition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5" t="9125" r="8950" b="40812"/>
          <a:stretch/>
        </p:blipFill>
        <p:spPr>
          <a:xfrm>
            <a:off x="1525893" y="2080527"/>
            <a:ext cx="9684651" cy="2344335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 flipV="1">
            <a:off x="4939908" y="2346158"/>
            <a:ext cx="0" cy="1642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flipV="1">
            <a:off x="5266474" y="2346158"/>
            <a:ext cx="0" cy="1642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 flipV="1">
            <a:off x="4582191" y="2346158"/>
            <a:ext cx="0" cy="1642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flipV="1">
            <a:off x="3955658" y="2346158"/>
            <a:ext cx="0" cy="1642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 flipV="1">
            <a:off x="4282224" y="2346158"/>
            <a:ext cx="0" cy="1642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7789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NV2 CPMG16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0" y="-2070"/>
            <a:ext cx="12192000" cy="334726"/>
            <a:chOff x="0" y="-2070"/>
            <a:chExt cx="12192000" cy="334726"/>
          </a:xfrm>
        </p:grpSpPr>
        <p:sp>
          <p:nvSpPr>
            <p:cNvPr id="28" name="직사각형 27"/>
            <p:cNvSpPr/>
            <p:nvPr/>
          </p:nvSpPr>
          <p:spPr>
            <a:xfrm>
              <a:off x="0" y="-2070"/>
              <a:ext cx="1389440" cy="334726"/>
            </a:xfrm>
            <a:prstGeom prst="rect">
              <a:avLst/>
            </a:prstGeom>
            <a:solidFill>
              <a:srgbClr val="DE1F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9" name="그룹 28"/>
            <p:cNvGrpSpPr/>
            <p:nvPr/>
          </p:nvGrpSpPr>
          <p:grpSpPr>
            <a:xfrm>
              <a:off x="0" y="-2070"/>
              <a:ext cx="12192000" cy="334726"/>
              <a:chOff x="0" y="-2070"/>
              <a:chExt cx="9906000" cy="457256"/>
            </a:xfrm>
          </p:grpSpPr>
          <p:sp>
            <p:nvSpPr>
              <p:cNvPr id="30" name="직사각형 29"/>
              <p:cNvSpPr/>
              <p:nvPr/>
            </p:nvSpPr>
            <p:spPr>
              <a:xfrm>
                <a:off x="0" y="-2070"/>
                <a:ext cx="1389440" cy="457256"/>
              </a:xfrm>
              <a:prstGeom prst="rect">
                <a:avLst/>
              </a:prstGeom>
              <a:solidFill>
                <a:srgbClr val="FF33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1387768" y="-2070"/>
                <a:ext cx="8518232" cy="457256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178"/>
          <a:stretch/>
        </p:blipFill>
        <p:spPr>
          <a:xfrm>
            <a:off x="11405252" y="5930639"/>
            <a:ext cx="786748" cy="9318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1457374" y="4838840"/>
                <a:ext cx="4224041" cy="17720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altLang="ko-KR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Spin 1</a:t>
                </a:r>
              </a:p>
              <a:p>
                <a:r>
                  <a:rPr lang="en-US" altLang="ko-KR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∥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=−340 </m:t>
                    </m:r>
                    <m:r>
                      <a:rPr lang="en-US" altLang="ko-KR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𝑘𝐻𝑧</m:t>
                    </m:r>
                    <m:r>
                      <a:rPr lang="en-US" altLang="ko-KR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,</m:t>
                    </m:r>
                    <m:sSub>
                      <m:sSubPr>
                        <m:ctrlP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⊥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=290 </m:t>
                    </m:r>
                    <m:r>
                      <a:rPr lang="en-US" altLang="ko-KR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𝑘𝐻𝑧</m:t>
                    </m:r>
                  </m:oMath>
                </a14:m>
                <a:endPara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Spin 2</a:t>
                </a:r>
              </a:p>
              <a:p>
                <a:r>
                  <a:rPr lang="en-US" altLang="ko-KR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∥</m:t>
                        </m:r>
                      </m:sub>
                    </m:sSub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ko-KR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150</m:t>
                    </m:r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𝑘𝐻𝑧</m:t>
                    </m:r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,</m:t>
                    </m:r>
                    <m:sSub>
                      <m:sSubPr>
                        <m:ctrlP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⊥</m:t>
                        </m:r>
                      </m:sub>
                    </m:sSub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ko-KR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110</m:t>
                    </m:r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𝑘𝐻𝑧</m:t>
                    </m:r>
                  </m:oMath>
                </a14:m>
                <a:endPara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Spin 3</a:t>
                </a:r>
              </a:p>
              <a:p>
                <a:r>
                  <a:rPr lang="en-US" altLang="ko-KR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∥</m:t>
                        </m:r>
                      </m:sub>
                    </m:sSub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ko-KR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−42 </m:t>
                    </m:r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𝑘𝐻𝑧</m:t>
                    </m:r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,</m:t>
                    </m:r>
                    <m:sSub>
                      <m:sSubPr>
                        <m:ctrlP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⊥</m:t>
                        </m:r>
                      </m:sub>
                    </m:sSub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=1</m:t>
                    </m:r>
                    <m:r>
                      <a:rPr lang="en-US" altLang="ko-KR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5</m:t>
                    </m:r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0 </m:t>
                    </m:r>
                    <m:r>
                      <a:rPr lang="en-US" altLang="ko-KR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𝑘𝐻𝑧</m:t>
                    </m:r>
                  </m:oMath>
                </a14:m>
                <a:endPara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374" y="4838840"/>
                <a:ext cx="4224041" cy="1772024"/>
              </a:xfrm>
              <a:prstGeom prst="rect">
                <a:avLst/>
              </a:prstGeom>
              <a:blipFill>
                <a:blip r:embed="rId4"/>
                <a:stretch>
                  <a:fillRect l="-866" t="-2069" b="-10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직사각형 83"/>
          <p:cNvSpPr/>
          <p:nvPr/>
        </p:nvSpPr>
        <p:spPr>
          <a:xfrm>
            <a:off x="1389440" y="4424862"/>
            <a:ext cx="44871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Spin Candidates (</a:t>
            </a:r>
            <a:r>
              <a:rPr lang="en-US" altLang="ko-KR" sz="2000" b="1" baseline="30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nuclear spin)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5556" y="4838840"/>
            <a:ext cx="3407547" cy="151601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69239" y="6370943"/>
            <a:ext cx="238238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J.Cramer</a:t>
            </a:r>
            <a:r>
              <a:rPr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Quantum error correction with spins in diamond. 2016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99" t="10626" r="8050" b="41439"/>
          <a:stretch/>
        </p:blipFill>
        <p:spPr>
          <a:xfrm>
            <a:off x="855040" y="2097094"/>
            <a:ext cx="10186416" cy="2337746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1249232" y="1630062"/>
            <a:ext cx="19367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CPMG Signals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2" name="직선 연결선 21"/>
          <p:cNvCxnSpPr/>
          <p:nvPr/>
        </p:nvCxnSpPr>
        <p:spPr>
          <a:xfrm flipV="1">
            <a:off x="4683124" y="2402640"/>
            <a:ext cx="0" cy="1642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 flipV="1">
            <a:off x="4352924" y="2358190"/>
            <a:ext cx="0" cy="1642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flipV="1">
            <a:off x="4060824" y="2358190"/>
            <a:ext cx="0" cy="1642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V="1">
            <a:off x="3368674" y="2358190"/>
            <a:ext cx="0" cy="1642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V="1">
            <a:off x="3705224" y="2358190"/>
            <a:ext cx="0" cy="1642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V="1">
            <a:off x="3527424" y="2358190"/>
            <a:ext cx="0" cy="1642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911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와이드스크린</PresentationFormat>
  <Paragraphs>23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Cambria Math</vt:lpstr>
      <vt:lpstr>Symbol</vt:lpstr>
      <vt:lpstr>Office 테마</vt:lpstr>
      <vt:lpstr>NV1 CPMG16</vt:lpstr>
      <vt:lpstr>NV2 CPMG16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NV1 CPMG16</dc:title>
  <dc:creator>KIST</dc:creator>
  <cp:lastModifiedBy>KIST</cp:lastModifiedBy>
  <cp:revision>1</cp:revision>
  <dcterms:created xsi:type="dcterms:W3CDTF">2026-08-06T04:24:11Z</dcterms:created>
  <dcterms:modified xsi:type="dcterms:W3CDTF">2026-08-06T04:24:20Z</dcterms:modified>
</cp:coreProperties>
</file>